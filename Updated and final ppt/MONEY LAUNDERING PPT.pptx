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34"/>
  </p:notesMasterIdLst>
  <p:sldIdLst>
    <p:sldId id="274" r:id="rId2"/>
    <p:sldId id="281" r:id="rId3"/>
    <p:sldId id="282" r:id="rId4"/>
    <p:sldId id="283" r:id="rId5"/>
    <p:sldId id="298" r:id="rId6"/>
    <p:sldId id="288" r:id="rId7"/>
    <p:sldId id="300" r:id="rId8"/>
    <p:sldId id="289" r:id="rId9"/>
    <p:sldId id="301" r:id="rId10"/>
    <p:sldId id="324" r:id="rId11"/>
    <p:sldId id="295" r:id="rId12"/>
    <p:sldId id="309" r:id="rId13"/>
    <p:sldId id="310" r:id="rId14"/>
    <p:sldId id="311" r:id="rId15"/>
    <p:sldId id="312" r:id="rId16"/>
    <p:sldId id="313" r:id="rId17"/>
    <p:sldId id="314" r:id="rId18"/>
    <p:sldId id="302" r:id="rId19"/>
    <p:sldId id="303" r:id="rId20"/>
    <p:sldId id="304" r:id="rId21"/>
    <p:sldId id="305" r:id="rId22"/>
    <p:sldId id="306" r:id="rId23"/>
    <p:sldId id="315" r:id="rId24"/>
    <p:sldId id="316" r:id="rId25"/>
    <p:sldId id="317" r:id="rId26"/>
    <p:sldId id="318" r:id="rId27"/>
    <p:sldId id="319" r:id="rId28"/>
    <p:sldId id="321" r:id="rId29"/>
    <p:sldId id="320" r:id="rId30"/>
    <p:sldId id="322" r:id="rId31"/>
    <p:sldId id="323" r:id="rId32"/>
    <p:sldId id="265" r:id="rId33"/>
  </p:sldIdLst>
  <p:sldSz cx="9144000" cy="5143500" type="screen16x9"/>
  <p:notesSz cx="6858000" cy="9144000"/>
  <p:embeddedFontLst>
    <p:embeddedFont>
      <p:font typeface="Maven Pro" panose="020B0604020202020204" charset="0"/>
      <p:regular r:id="rId35"/>
      <p:bold r:id="rId36"/>
    </p:embeddedFont>
    <p:embeddedFont>
      <p:font typeface="Trispace" panose="020B0604020202020204" charset="0"/>
      <p:regular r:id="rId37"/>
      <p:bold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72E3D25-458B-4FB5-A3A9-D63313A44697}">
          <p14:sldIdLst>
            <p14:sldId id="274"/>
            <p14:sldId id="281"/>
            <p14:sldId id="282"/>
            <p14:sldId id="283"/>
            <p14:sldId id="298"/>
            <p14:sldId id="288"/>
            <p14:sldId id="300"/>
            <p14:sldId id="289"/>
            <p14:sldId id="301"/>
            <p14:sldId id="324"/>
            <p14:sldId id="295"/>
            <p14:sldId id="309"/>
            <p14:sldId id="310"/>
            <p14:sldId id="311"/>
            <p14:sldId id="312"/>
            <p14:sldId id="313"/>
            <p14:sldId id="314"/>
            <p14:sldId id="302"/>
            <p14:sldId id="303"/>
            <p14:sldId id="304"/>
            <p14:sldId id="305"/>
            <p14:sldId id="306"/>
            <p14:sldId id="315"/>
            <p14:sldId id="316"/>
            <p14:sldId id="317"/>
            <p14:sldId id="318"/>
            <p14:sldId id="319"/>
            <p14:sldId id="321"/>
            <p14:sldId id="320"/>
            <p14:sldId id="322"/>
            <p14:sldId id="323"/>
            <p14:sldId id="265"/>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1" clrIdx="0">
    <p:extLst>
      <p:ext uri="{19B8F6BF-5375-455C-9EA6-DF929625EA0E}">
        <p15:presenceInfo xmlns:p15="http://schemas.microsoft.com/office/powerpoint/2012/main" userId="DEL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5A703CF-DEDC-4517-A82F-DFDAFBD0B457}">
  <a:tblStyle styleId="{A5A703CF-DEDC-4517-A82F-DFDAFBD0B45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8662631-18E7-4A90-AABF-F8428A3293A3}"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snapToGrid="0">
      <p:cViewPr varScale="1">
        <p:scale>
          <a:sx n="119" d="100"/>
          <a:sy n="119" d="100"/>
        </p:scale>
        <p:origin x="57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51697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338483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478750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660512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985356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675265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4250050" y="1652126"/>
            <a:ext cx="5728043" cy="3491380"/>
          </a:xfrm>
          <a:custGeom>
            <a:avLst/>
            <a:gdLst/>
            <a:ahLst/>
            <a:cxnLst/>
            <a:rect l="l" t="t" r="r" b="b"/>
            <a:pathLst>
              <a:path w="31849" h="19413" extrusionOk="0">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5129998" y="3268141"/>
            <a:ext cx="4013990" cy="1875356"/>
          </a:xfrm>
          <a:custGeom>
            <a:avLst/>
            <a:gdLst/>
            <a:ahLst/>
            <a:cxnLst/>
            <a:rect l="l" t="t" r="r" b="b"/>
            <a:pathLst>
              <a:path w="22438" h="10483" extrusionOk="0">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8134EC">
                  <a:alpha val="70196"/>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rot="1650101">
            <a:off x="-1796682" y="-2203059"/>
            <a:ext cx="3817087" cy="3985301"/>
          </a:xfrm>
          <a:custGeom>
            <a:avLst/>
            <a:gdLst/>
            <a:ahLst/>
            <a:cxnLst/>
            <a:rect l="l" t="t" r="r" b="b"/>
            <a:pathLst>
              <a:path w="28620" h="29882" extrusionOk="0">
                <a:moveTo>
                  <a:pt x="9332" y="0"/>
                </a:moveTo>
                <a:cubicBezTo>
                  <a:pt x="8101" y="0"/>
                  <a:pt x="6861" y="562"/>
                  <a:pt x="5978" y="1437"/>
                </a:cubicBezTo>
                <a:cubicBezTo>
                  <a:pt x="5210" y="2195"/>
                  <a:pt x="4693" y="3149"/>
                  <a:pt x="4363" y="4166"/>
                </a:cubicBezTo>
                <a:cubicBezTo>
                  <a:pt x="4042" y="5192"/>
                  <a:pt x="3961" y="6272"/>
                  <a:pt x="3560" y="7280"/>
                </a:cubicBezTo>
                <a:cubicBezTo>
                  <a:pt x="2721" y="9341"/>
                  <a:pt x="750" y="10554"/>
                  <a:pt x="295" y="12829"/>
                </a:cubicBezTo>
                <a:cubicBezTo>
                  <a:pt x="0" y="14310"/>
                  <a:pt x="331" y="15933"/>
                  <a:pt x="1312" y="17084"/>
                </a:cubicBezTo>
                <a:cubicBezTo>
                  <a:pt x="1963" y="17842"/>
                  <a:pt x="2846" y="18360"/>
                  <a:pt x="3783" y="18708"/>
                </a:cubicBezTo>
                <a:cubicBezTo>
                  <a:pt x="4247" y="18877"/>
                  <a:pt x="4720" y="18993"/>
                  <a:pt x="5192" y="19100"/>
                </a:cubicBezTo>
                <a:cubicBezTo>
                  <a:pt x="5549" y="19189"/>
                  <a:pt x="5915" y="19261"/>
                  <a:pt x="6272" y="19350"/>
                </a:cubicBezTo>
                <a:cubicBezTo>
                  <a:pt x="6879" y="19511"/>
                  <a:pt x="7423" y="19957"/>
                  <a:pt x="7878" y="20385"/>
                </a:cubicBezTo>
                <a:cubicBezTo>
                  <a:pt x="8913" y="21339"/>
                  <a:pt x="9671" y="22579"/>
                  <a:pt x="10331" y="23811"/>
                </a:cubicBezTo>
                <a:cubicBezTo>
                  <a:pt x="11009" y="25086"/>
                  <a:pt x="11518" y="26398"/>
                  <a:pt x="12508" y="27468"/>
                </a:cubicBezTo>
                <a:cubicBezTo>
                  <a:pt x="13418" y="28458"/>
                  <a:pt x="14577" y="29217"/>
                  <a:pt x="15871" y="29600"/>
                </a:cubicBezTo>
                <a:cubicBezTo>
                  <a:pt x="16506" y="29788"/>
                  <a:pt x="17169" y="29882"/>
                  <a:pt x="17832" y="29882"/>
                </a:cubicBezTo>
                <a:cubicBezTo>
                  <a:pt x="19368" y="29882"/>
                  <a:pt x="20902" y="29380"/>
                  <a:pt x="22080" y="28396"/>
                </a:cubicBezTo>
                <a:cubicBezTo>
                  <a:pt x="22928" y="27700"/>
                  <a:pt x="23614" y="26665"/>
                  <a:pt x="23498" y="25577"/>
                </a:cubicBezTo>
                <a:cubicBezTo>
                  <a:pt x="23427" y="24836"/>
                  <a:pt x="22990" y="24176"/>
                  <a:pt x="22446" y="23677"/>
                </a:cubicBezTo>
                <a:cubicBezTo>
                  <a:pt x="21732" y="23025"/>
                  <a:pt x="20822" y="22695"/>
                  <a:pt x="20153" y="22000"/>
                </a:cubicBezTo>
                <a:cubicBezTo>
                  <a:pt x="19074" y="20867"/>
                  <a:pt x="18797" y="19038"/>
                  <a:pt x="19502" y="17637"/>
                </a:cubicBezTo>
                <a:cubicBezTo>
                  <a:pt x="20233" y="16192"/>
                  <a:pt x="21625" y="15648"/>
                  <a:pt x="23133" y="15541"/>
                </a:cubicBezTo>
                <a:cubicBezTo>
                  <a:pt x="24623" y="15434"/>
                  <a:pt x="26219" y="14443"/>
                  <a:pt x="27156" y="13302"/>
                </a:cubicBezTo>
                <a:cubicBezTo>
                  <a:pt x="28182" y="12053"/>
                  <a:pt x="28619" y="10277"/>
                  <a:pt x="28075" y="8752"/>
                </a:cubicBezTo>
                <a:cubicBezTo>
                  <a:pt x="27754" y="7851"/>
                  <a:pt x="27058" y="7084"/>
                  <a:pt x="26202" y="6647"/>
                </a:cubicBezTo>
                <a:cubicBezTo>
                  <a:pt x="25635" y="6363"/>
                  <a:pt x="25044" y="6284"/>
                  <a:pt x="24441" y="6284"/>
                </a:cubicBezTo>
                <a:cubicBezTo>
                  <a:pt x="24077" y="6284"/>
                  <a:pt x="23708" y="6313"/>
                  <a:pt x="23338" y="6343"/>
                </a:cubicBezTo>
                <a:cubicBezTo>
                  <a:pt x="22809" y="6381"/>
                  <a:pt x="22275" y="6405"/>
                  <a:pt x="21741" y="6405"/>
                </a:cubicBezTo>
                <a:cubicBezTo>
                  <a:pt x="19781" y="6405"/>
                  <a:pt x="17823" y="6089"/>
                  <a:pt x="16112" y="5023"/>
                </a:cubicBezTo>
                <a:cubicBezTo>
                  <a:pt x="14988" y="4327"/>
                  <a:pt x="14158" y="3274"/>
                  <a:pt x="13293" y="2293"/>
                </a:cubicBezTo>
                <a:cubicBezTo>
                  <a:pt x="12508" y="1401"/>
                  <a:pt x="11607" y="536"/>
                  <a:pt x="10474" y="179"/>
                </a:cubicBezTo>
                <a:cubicBezTo>
                  <a:pt x="10099" y="54"/>
                  <a:pt x="9715" y="0"/>
                  <a:pt x="9332" y="0"/>
                </a:cubicBezTo>
                <a:close/>
              </a:path>
            </a:pathLst>
          </a:custGeom>
          <a:gradFill>
            <a:gsLst>
              <a:gs pos="0">
                <a:schemeClr val="lt1"/>
              </a:gs>
              <a:gs pos="100000">
                <a:srgbClr val="8134EC">
                  <a:alpha val="70196"/>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1007425" y="819213"/>
            <a:ext cx="3033000" cy="27606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3" name="Google Shape;13;p2"/>
          <p:cNvSpPr txBox="1">
            <a:spLocks noGrp="1"/>
          </p:cNvSpPr>
          <p:nvPr>
            <p:ph type="subTitle" idx="1"/>
          </p:nvPr>
        </p:nvSpPr>
        <p:spPr>
          <a:xfrm>
            <a:off x="2217100" y="3702075"/>
            <a:ext cx="1823400" cy="6222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ackground 2">
  <p:cSld name="CUSTOM_9_2">
    <p:spTree>
      <p:nvGrpSpPr>
        <p:cNvPr id="1" name="Shape 294"/>
        <p:cNvGrpSpPr/>
        <p:nvPr/>
      </p:nvGrpSpPr>
      <p:grpSpPr>
        <a:xfrm>
          <a:off x="0" y="0"/>
          <a:ext cx="0" cy="0"/>
          <a:chOff x="0" y="0"/>
          <a:chExt cx="0" cy="0"/>
        </a:xfrm>
      </p:grpSpPr>
      <p:sp>
        <p:nvSpPr>
          <p:cNvPr id="295" name="Google Shape;295;p24"/>
          <p:cNvSpPr/>
          <p:nvPr/>
        </p:nvSpPr>
        <p:spPr>
          <a:xfrm rot="1292342" flipH="1">
            <a:off x="-2419456" y="2200421"/>
            <a:ext cx="6095930" cy="3491359"/>
          </a:xfrm>
          <a:custGeom>
            <a:avLst/>
            <a:gdLst/>
            <a:ahLst/>
            <a:cxnLst/>
            <a:rect l="l" t="t" r="r" b="b"/>
            <a:pathLst>
              <a:path w="31849" h="19413" extrusionOk="0">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4"/>
          <p:cNvSpPr/>
          <p:nvPr/>
        </p:nvSpPr>
        <p:spPr>
          <a:xfrm rot="5400000">
            <a:off x="6537482" y="2747717"/>
            <a:ext cx="3524097" cy="2396762"/>
          </a:xfrm>
          <a:custGeom>
            <a:avLst/>
            <a:gdLst/>
            <a:ahLst/>
            <a:cxnLst/>
            <a:rect l="l" t="t" r="r" b="b"/>
            <a:pathLst>
              <a:path w="20635" h="14034" extrusionOk="0">
                <a:moveTo>
                  <a:pt x="20635" y="687"/>
                </a:moveTo>
                <a:cubicBezTo>
                  <a:pt x="18637" y="687"/>
                  <a:pt x="16638" y="768"/>
                  <a:pt x="14649" y="643"/>
                </a:cubicBezTo>
                <a:cubicBezTo>
                  <a:pt x="12552" y="509"/>
                  <a:pt x="10492" y="224"/>
                  <a:pt x="8377" y="224"/>
                </a:cubicBezTo>
                <a:cubicBezTo>
                  <a:pt x="6879" y="224"/>
                  <a:pt x="5380" y="313"/>
                  <a:pt x="3899" y="313"/>
                </a:cubicBezTo>
                <a:cubicBezTo>
                  <a:pt x="3132" y="313"/>
                  <a:pt x="955" y="0"/>
                  <a:pt x="509" y="875"/>
                </a:cubicBezTo>
                <a:cubicBezTo>
                  <a:pt x="1" y="1883"/>
                  <a:pt x="2329" y="3792"/>
                  <a:pt x="2989" y="4300"/>
                </a:cubicBezTo>
                <a:cubicBezTo>
                  <a:pt x="4185" y="5228"/>
                  <a:pt x="5433" y="5335"/>
                  <a:pt x="6879" y="5549"/>
                </a:cubicBezTo>
                <a:cubicBezTo>
                  <a:pt x="8422" y="5781"/>
                  <a:pt x="9832" y="5995"/>
                  <a:pt x="11107" y="6941"/>
                </a:cubicBezTo>
                <a:cubicBezTo>
                  <a:pt x="12196" y="7762"/>
                  <a:pt x="12829" y="8966"/>
                  <a:pt x="13516" y="10099"/>
                </a:cubicBezTo>
                <a:cubicBezTo>
                  <a:pt x="14230" y="11268"/>
                  <a:pt x="15291" y="12151"/>
                  <a:pt x="16496" y="12775"/>
                </a:cubicBezTo>
                <a:cubicBezTo>
                  <a:pt x="17566" y="13320"/>
                  <a:pt x="19074" y="13998"/>
                  <a:pt x="20278" y="14033"/>
                </a:cubicBezTo>
                <a:cubicBezTo>
                  <a:pt x="20421" y="13221"/>
                  <a:pt x="20314" y="12383"/>
                  <a:pt x="20332" y="11562"/>
                </a:cubicBezTo>
                <a:cubicBezTo>
                  <a:pt x="20349" y="10732"/>
                  <a:pt x="20635" y="9930"/>
                  <a:pt x="20635" y="9109"/>
                </a:cubicBezTo>
                <a:cubicBezTo>
                  <a:pt x="20635" y="8252"/>
                  <a:pt x="20635" y="7387"/>
                  <a:pt x="20635" y="6531"/>
                </a:cubicBezTo>
                <a:lnTo>
                  <a:pt x="20635" y="1713"/>
                </a:lnTo>
                <a:close/>
              </a:path>
            </a:pathLst>
          </a:custGeom>
          <a:gradFill>
            <a:gsLst>
              <a:gs pos="0">
                <a:srgbClr val="8134EC">
                  <a:alpha val="70196"/>
                </a:srgbClr>
              </a:gs>
              <a:gs pos="100000">
                <a:schemeClr val="accent1"/>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7" name="Google Shape;297;p24"/>
          <p:cNvGrpSpPr/>
          <p:nvPr/>
        </p:nvGrpSpPr>
        <p:grpSpPr>
          <a:xfrm>
            <a:off x="8209011" y="2860943"/>
            <a:ext cx="934985" cy="2170316"/>
            <a:chOff x="8220061" y="2910118"/>
            <a:chExt cx="934985" cy="2170316"/>
          </a:xfrm>
        </p:grpSpPr>
        <p:sp>
          <p:nvSpPr>
            <p:cNvPr id="298" name="Google Shape;298;p24"/>
            <p:cNvSpPr/>
            <p:nvPr/>
          </p:nvSpPr>
          <p:spPr>
            <a:xfrm>
              <a:off x="8495023" y="4363315"/>
              <a:ext cx="660023" cy="660064"/>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4"/>
            <p:cNvSpPr/>
            <p:nvPr/>
          </p:nvSpPr>
          <p:spPr>
            <a:xfrm>
              <a:off x="8737186" y="3731603"/>
              <a:ext cx="327012" cy="327044"/>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4"/>
            <p:cNvSpPr/>
            <p:nvPr/>
          </p:nvSpPr>
          <p:spPr>
            <a:xfrm>
              <a:off x="8220061" y="4753390"/>
              <a:ext cx="327012" cy="327044"/>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4"/>
            <p:cNvSpPr/>
            <p:nvPr/>
          </p:nvSpPr>
          <p:spPr>
            <a:xfrm>
              <a:off x="8552930" y="2910118"/>
              <a:ext cx="468769" cy="468795"/>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2" name="Google Shape;302;p24"/>
          <p:cNvGrpSpPr/>
          <p:nvPr/>
        </p:nvGrpSpPr>
        <p:grpSpPr>
          <a:xfrm rot="7347507">
            <a:off x="371745" y="3666596"/>
            <a:ext cx="682717" cy="1547317"/>
            <a:chOff x="-33427" y="3476090"/>
            <a:chExt cx="682702" cy="1547282"/>
          </a:xfrm>
        </p:grpSpPr>
        <p:sp>
          <p:nvSpPr>
            <p:cNvPr id="303" name="Google Shape;303;p24"/>
            <p:cNvSpPr/>
            <p:nvPr/>
          </p:nvSpPr>
          <p:spPr>
            <a:xfrm>
              <a:off x="180505" y="4256493"/>
              <a:ext cx="468769" cy="468795"/>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4"/>
            <p:cNvSpPr/>
            <p:nvPr/>
          </p:nvSpPr>
          <p:spPr>
            <a:xfrm>
              <a:off x="-33427" y="3476090"/>
              <a:ext cx="660023" cy="660064"/>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4"/>
            <p:cNvSpPr/>
            <p:nvPr/>
          </p:nvSpPr>
          <p:spPr>
            <a:xfrm>
              <a:off x="133086" y="4696328"/>
              <a:ext cx="327012" cy="327044"/>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lt1"/>
            </a:gs>
            <a:gs pos="100000">
              <a:schemeClr val="accent1"/>
            </a:gs>
          </a:gsLst>
          <a:lin ang="2700006"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100" y="539400"/>
            <a:ext cx="77178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1pPr>
            <a:lvl2pPr lvl="1" rtl="0">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2pPr>
            <a:lvl3pPr lvl="2" rtl="0">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3pPr>
            <a:lvl4pPr lvl="3" rtl="0">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4pPr>
            <a:lvl5pPr lvl="4" rtl="0">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5pPr>
            <a:lvl6pPr lvl="5" rtl="0">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6pPr>
            <a:lvl7pPr lvl="6" rtl="0">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7pPr>
            <a:lvl8pPr lvl="7" rtl="0">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8pPr>
            <a:lvl9pPr lvl="8" rtl="0">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9pPr>
          </a:lstStyle>
          <a:p>
            <a:endParaRPr/>
          </a:p>
        </p:txBody>
      </p:sp>
      <p:sp>
        <p:nvSpPr>
          <p:cNvPr id="7" name="Google Shape;7;p1"/>
          <p:cNvSpPr txBox="1">
            <a:spLocks noGrp="1"/>
          </p:cNvSpPr>
          <p:nvPr>
            <p:ph type="body" idx="1"/>
          </p:nvPr>
        </p:nvSpPr>
        <p:spPr>
          <a:xfrm>
            <a:off x="713100" y="1152475"/>
            <a:ext cx="77178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1pPr>
            <a:lvl2pPr marL="914400" lvl="1" indent="-304800">
              <a:lnSpc>
                <a:spcPct val="115000"/>
              </a:lnSpc>
              <a:spcBef>
                <a:spcPts val="160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2pPr>
            <a:lvl3pPr marL="1371600" lvl="2" indent="-304800">
              <a:lnSpc>
                <a:spcPct val="115000"/>
              </a:lnSpc>
              <a:spcBef>
                <a:spcPts val="160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3pPr>
            <a:lvl4pPr marL="1828800" lvl="3" indent="-304800">
              <a:lnSpc>
                <a:spcPct val="115000"/>
              </a:lnSpc>
              <a:spcBef>
                <a:spcPts val="160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4pPr>
            <a:lvl5pPr marL="2286000" lvl="4" indent="-304800">
              <a:lnSpc>
                <a:spcPct val="115000"/>
              </a:lnSpc>
              <a:spcBef>
                <a:spcPts val="160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5pPr>
            <a:lvl6pPr marL="2743200" lvl="5" indent="-304800">
              <a:lnSpc>
                <a:spcPct val="115000"/>
              </a:lnSpc>
              <a:spcBef>
                <a:spcPts val="160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6pPr>
            <a:lvl7pPr marL="3200400" lvl="6" indent="-304800">
              <a:lnSpc>
                <a:spcPct val="115000"/>
              </a:lnSpc>
              <a:spcBef>
                <a:spcPts val="160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7pPr>
            <a:lvl8pPr marL="3657600" lvl="7" indent="-304800">
              <a:lnSpc>
                <a:spcPct val="115000"/>
              </a:lnSpc>
              <a:spcBef>
                <a:spcPts val="160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8pPr>
            <a:lvl9pPr marL="4114800" lvl="8" indent="-304800">
              <a:lnSpc>
                <a:spcPct val="115000"/>
              </a:lnSpc>
              <a:spcBef>
                <a:spcPts val="1600"/>
              </a:spcBef>
              <a:spcAft>
                <a:spcPts val="1600"/>
              </a:spcAft>
              <a:buClr>
                <a:schemeClr val="dk1"/>
              </a:buClr>
              <a:buSzPts val="1200"/>
              <a:buFont typeface="Maven Pro"/>
              <a:buChar char="■"/>
              <a:defRPr sz="1200">
                <a:solidFill>
                  <a:schemeClr val="dk1"/>
                </a:solidFill>
                <a:latin typeface="Maven Pro"/>
                <a:ea typeface="Maven Pro"/>
                <a:cs typeface="Maven Pro"/>
                <a:sym typeface="Maven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7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pos="449">
          <p15:clr>
            <a:srgbClr val="EA4335"/>
          </p15:clr>
        </p15:guide>
        <p15:guide id="3" orient="horz" pos="2900">
          <p15:clr>
            <a:srgbClr val="EA4335"/>
          </p15:clr>
        </p15:guide>
        <p15:guide id="4" pos="5311">
          <p15:clr>
            <a:srgbClr val="EA4335"/>
          </p15:clr>
        </p15:guide>
        <p15:guide id="5" pos="2880">
          <p15:clr>
            <a:srgbClr val="EA4335"/>
          </p15:clr>
        </p15:guide>
        <p15:guide id="6" orient="horz" pos="1620">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50BA6-00F1-4090-ABFC-7EC26FE3DE40}"/>
              </a:ext>
            </a:extLst>
          </p:cNvPr>
          <p:cNvSpPr>
            <a:spLocks noGrp="1"/>
          </p:cNvSpPr>
          <p:nvPr>
            <p:ph type="ctrTitle"/>
          </p:nvPr>
        </p:nvSpPr>
        <p:spPr>
          <a:xfrm>
            <a:off x="882202" y="0"/>
            <a:ext cx="8487177" cy="2279561"/>
          </a:xfrm>
        </p:spPr>
        <p:txBody>
          <a:bodyPr/>
          <a:lstStyle/>
          <a:p>
            <a:r>
              <a:rPr lang="en-US" sz="2800" dirty="0">
                <a:latin typeface="Times New Roman" panose="02020603050405020304" pitchFamily="18" charset="0"/>
                <a:cs typeface="Times New Roman" panose="02020603050405020304" pitchFamily="18" charset="0"/>
              </a:rPr>
              <a:t>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MACHINE LEARNING IN MONEY LAUNDERING DETECTION  USING CRYPTOCURRENCY DATA</a:t>
            </a:r>
            <a:endParaRPr lang="en-US" sz="2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63E7488-A71B-4A14-B48A-BB10D5DC09F6}"/>
              </a:ext>
            </a:extLst>
          </p:cNvPr>
          <p:cNvSpPr>
            <a:spLocks noGrp="1"/>
          </p:cNvSpPr>
          <p:nvPr>
            <p:ph type="subTitle" idx="1"/>
          </p:nvPr>
        </p:nvSpPr>
        <p:spPr>
          <a:xfrm>
            <a:off x="-1" y="2369713"/>
            <a:ext cx="9143999" cy="2773787"/>
          </a:xfrm>
        </p:spPr>
        <p:txBody>
          <a:bodyPr/>
          <a:lstStyle/>
          <a:p>
            <a:pPr algn="l"/>
            <a:endParaRPr lang="en-US" sz="1600" dirty="0">
              <a:latin typeface="Times New Roman" panose="02020603050405020304" pitchFamily="18" charset="0"/>
              <a:cs typeface="Times New Roman" panose="02020603050405020304" pitchFamily="18" charset="0"/>
            </a:endParaRPr>
          </a:p>
          <a:p>
            <a:pPr algn="l"/>
            <a:r>
              <a:rPr lang="en-US" sz="1600" dirty="0">
                <a:latin typeface="Times New Roman" panose="02020603050405020304" pitchFamily="18" charset="0"/>
                <a:cs typeface="Times New Roman" panose="02020603050405020304" pitchFamily="18" charset="0"/>
              </a:rPr>
              <a:t>PRESENTED BY                                                                  GUIDED BY</a:t>
            </a:r>
          </a:p>
          <a:p>
            <a:pPr algn="l"/>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S.Shoaib</a:t>
            </a:r>
            <a:r>
              <a:rPr lang="en-US" sz="1600" dirty="0">
                <a:latin typeface="Times New Roman" panose="02020603050405020304" pitchFamily="18" charset="0"/>
                <a:cs typeface="Times New Roman" panose="02020603050405020304" pitchFamily="18" charset="0"/>
              </a:rPr>
              <a:t>(22KH1A3340)                                                          </a:t>
            </a:r>
            <a:r>
              <a:rPr lang="en-US" sz="1600" dirty="0" err="1">
                <a:latin typeface="Times New Roman" panose="02020603050405020304" pitchFamily="18" charset="0"/>
                <a:cs typeface="Times New Roman" panose="02020603050405020304" pitchFamily="18" charset="0"/>
              </a:rPr>
              <a:t>D.Masthan</a:t>
            </a:r>
            <a:r>
              <a:rPr lang="en-US" sz="1600" dirty="0">
                <a:latin typeface="Times New Roman" panose="02020603050405020304" pitchFamily="18" charset="0"/>
                <a:cs typeface="Times New Roman" panose="02020603050405020304" pitchFamily="18" charset="0"/>
              </a:rPr>
              <a:t> Pasha ,</a:t>
            </a:r>
            <a:r>
              <a:rPr lang="en-US" sz="1600" dirty="0" err="1">
                <a:latin typeface="Times New Roman" panose="02020603050405020304" pitchFamily="18" charset="0"/>
                <a:cs typeface="Times New Roman" panose="02020603050405020304" pitchFamily="18" charset="0"/>
              </a:rPr>
              <a:t>M.Tech</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ph.D</a:t>
            </a:r>
            <a:r>
              <a:rPr lang="en-US" sz="1600" dirty="0">
                <a:latin typeface="Times New Roman" panose="02020603050405020304" pitchFamily="18" charset="0"/>
                <a:cs typeface="Times New Roman" panose="02020603050405020304" pitchFamily="18" charset="0"/>
              </a:rPr>
              <a:t>)</a:t>
            </a:r>
          </a:p>
          <a:p>
            <a:pPr algn="l"/>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C.Harinath</a:t>
            </a:r>
            <a:r>
              <a:rPr lang="en-US" sz="1600" dirty="0">
                <a:latin typeface="Times New Roman" panose="02020603050405020304" pitchFamily="18" charset="0"/>
                <a:cs typeface="Times New Roman" panose="02020603050405020304" pitchFamily="18" charset="0"/>
              </a:rPr>
              <a:t>(22KH1A3310)                                                       Assistant Professor Dept of CSE(AI&amp;ML)</a:t>
            </a:r>
            <a:endParaRPr lang="en-US" dirty="0">
              <a:latin typeface="Times New Roman" panose="02020603050405020304" pitchFamily="18" charset="0"/>
              <a:cs typeface="Times New Roman" panose="02020603050405020304" pitchFamily="18" charset="0"/>
            </a:endParaRPr>
          </a:p>
          <a:p>
            <a:pPr algn="l"/>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D.Vyshnavi</a:t>
            </a:r>
            <a:r>
              <a:rPr lang="en-US" dirty="0">
                <a:latin typeface="Times New Roman" panose="02020603050405020304" pitchFamily="18" charset="0"/>
                <a:cs typeface="Times New Roman" panose="02020603050405020304" pitchFamily="18" charset="0"/>
              </a:rPr>
              <a:t>(22KH1A3312)</a:t>
            </a:r>
          </a:p>
          <a:p>
            <a:pPr algn="l"/>
            <a:r>
              <a:rPr lang="en-US" dirty="0">
                <a:latin typeface="Times New Roman" panose="02020603050405020304" pitchFamily="18" charset="0"/>
                <a:cs typeface="Times New Roman" panose="02020603050405020304" pitchFamily="18" charset="0"/>
              </a:rPr>
              <a:t>    </a:t>
            </a:r>
          </a:p>
          <a:p>
            <a:pPr algn="l"/>
            <a:r>
              <a:rPr lang="en-US" sz="1600" dirty="0">
                <a:latin typeface="Times New Roman" panose="02020603050405020304" pitchFamily="18" charset="0"/>
                <a:cs typeface="Times New Roman" panose="02020603050405020304" pitchFamily="18" charset="0"/>
              </a:rPr>
              <a:t>                                 </a:t>
            </a:r>
          </a:p>
          <a:p>
            <a:pPr algn="l"/>
            <a:r>
              <a:rPr lang="en-US" sz="1600" dirty="0">
                <a:latin typeface="Times New Roman" panose="02020603050405020304" pitchFamily="18" charset="0"/>
                <a:cs typeface="Times New Roman" panose="02020603050405020304" pitchFamily="18" charset="0"/>
              </a:rPr>
              <a:t>                          </a:t>
            </a:r>
          </a:p>
          <a:p>
            <a:pPr algn="l"/>
            <a:r>
              <a:rPr lang="en-US" sz="1600" dirty="0">
                <a:latin typeface="Times New Roman" panose="02020603050405020304" pitchFamily="18" charset="0"/>
                <a:cs typeface="Times New Roman" panose="02020603050405020304" pitchFamily="18" charset="0"/>
              </a:rPr>
              <a:t>                        </a:t>
            </a:r>
          </a:p>
          <a:p>
            <a:pPr algn="l"/>
            <a:r>
              <a:rPr lang="en-US" sz="1600"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B37863E-D63C-432D-B2DF-DFD8BA98BFEE}"/>
              </a:ext>
            </a:extLst>
          </p:cNvPr>
          <p:cNvPicPr>
            <a:picLocks noChangeAspect="1"/>
          </p:cNvPicPr>
          <p:nvPr/>
        </p:nvPicPr>
        <p:blipFill>
          <a:blip r:embed="rId3"/>
          <a:stretch>
            <a:fillRect/>
          </a:stretch>
        </p:blipFill>
        <p:spPr>
          <a:xfrm>
            <a:off x="4810258" y="1"/>
            <a:ext cx="4333739" cy="895082"/>
          </a:xfrm>
          <a:prstGeom prst="rect">
            <a:avLst/>
          </a:prstGeom>
        </p:spPr>
      </p:pic>
    </p:spTree>
    <p:extLst>
      <p:ext uri="{BB962C8B-B14F-4D97-AF65-F5344CB8AC3E}">
        <p14:creationId xmlns:p14="http://schemas.microsoft.com/office/powerpoint/2010/main" val="4122660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F92EB-7CD4-4837-AF32-8EED807D1D0D}"/>
              </a:ext>
            </a:extLst>
          </p:cNvPr>
          <p:cNvSpPr>
            <a:spLocks noGrp="1"/>
          </p:cNvSpPr>
          <p:nvPr>
            <p:ph type="ctrTitle"/>
          </p:nvPr>
        </p:nvSpPr>
        <p:spPr>
          <a:xfrm>
            <a:off x="0" y="1"/>
            <a:ext cx="9497961" cy="714776"/>
          </a:xfrm>
        </p:spPr>
        <p:txBody>
          <a:bodyPr/>
          <a:lstStyle/>
          <a:p>
            <a:r>
              <a:rPr lang="en-US" sz="2400" b="1" dirty="0">
                <a:solidFill>
                  <a:schemeClr val="tx1"/>
                </a:solidFill>
                <a:latin typeface="Times New Roman" panose="02020603050405020304" pitchFamily="18" charset="0"/>
                <a:cs typeface="Times New Roman" panose="02020603050405020304" pitchFamily="18" charset="0"/>
              </a:rPr>
              <a:t>                                           CONTENTS</a:t>
            </a:r>
            <a:br>
              <a:rPr lang="en-US" sz="1400" dirty="0">
                <a:solidFill>
                  <a:schemeClr val="tx1"/>
                </a:solidFill>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CAB6795-151F-4CB1-952E-AB2A0407B2AC}"/>
              </a:ext>
            </a:extLst>
          </p:cNvPr>
          <p:cNvSpPr>
            <a:spLocks noGrp="1"/>
          </p:cNvSpPr>
          <p:nvPr>
            <p:ph type="subTitle" idx="1"/>
          </p:nvPr>
        </p:nvSpPr>
        <p:spPr>
          <a:xfrm>
            <a:off x="128788" y="431442"/>
            <a:ext cx="9015211" cy="4712058"/>
          </a:xfrm>
        </p:spPr>
        <p:txBody>
          <a:bodyPr/>
          <a:lstStyle/>
          <a:p>
            <a:pPr marL="342900" indent="-342900" algn="l">
              <a:buClr>
                <a:schemeClr val="accent4"/>
              </a:buClr>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Abstract                                       </a:t>
            </a:r>
          </a:p>
          <a:p>
            <a:pPr marL="342900" indent="-342900" algn="l">
              <a:buClr>
                <a:schemeClr val="accent4"/>
              </a:buClr>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Introduction                                </a:t>
            </a:r>
          </a:p>
          <a:p>
            <a:pPr marL="342900" indent="-342900" algn="l">
              <a:buClr>
                <a:schemeClr val="accent4"/>
              </a:buClr>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Objectives                                     </a:t>
            </a:r>
          </a:p>
          <a:p>
            <a:pPr marL="342900" indent="-342900" algn="l">
              <a:buClr>
                <a:schemeClr val="accent4"/>
              </a:buClr>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Existing System                           </a:t>
            </a:r>
          </a:p>
          <a:p>
            <a:pPr marL="342900" indent="-342900" algn="l">
              <a:buClr>
                <a:schemeClr val="accent4"/>
              </a:buClr>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Disadvantages                               </a:t>
            </a:r>
          </a:p>
          <a:p>
            <a:pPr marL="342900" indent="-342900" algn="l">
              <a:buClr>
                <a:schemeClr val="accent4"/>
              </a:buClr>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Proposed System                          </a:t>
            </a:r>
          </a:p>
          <a:p>
            <a:pPr marL="342900" indent="-342900" algn="l">
              <a:buClr>
                <a:schemeClr val="accent4"/>
              </a:buClr>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Advantages                              </a:t>
            </a:r>
          </a:p>
          <a:p>
            <a:pPr marL="342900" indent="-342900" algn="l">
              <a:buClr>
                <a:schemeClr val="accent4"/>
              </a:buClr>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System Requirements</a:t>
            </a:r>
          </a:p>
          <a:p>
            <a:pPr marL="342900" indent="-342900" algn="l">
              <a:buClr>
                <a:schemeClr val="accent4"/>
              </a:buClr>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System Architecture</a:t>
            </a:r>
          </a:p>
          <a:p>
            <a:pPr marL="342900" indent="-342900" algn="l">
              <a:buClr>
                <a:schemeClr val="accent4"/>
              </a:buClr>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Modules</a:t>
            </a:r>
          </a:p>
          <a:p>
            <a:pPr marL="342900" indent="-342900" algn="l">
              <a:buClr>
                <a:schemeClr val="accent4"/>
              </a:buClr>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UML Diagrams</a:t>
            </a:r>
          </a:p>
          <a:p>
            <a:pPr marL="342900" indent="-342900" algn="l">
              <a:buClr>
                <a:schemeClr val="accent4"/>
              </a:buClr>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Test Cases</a:t>
            </a:r>
          </a:p>
          <a:p>
            <a:pPr marL="342900" indent="-342900" algn="l">
              <a:buClr>
                <a:schemeClr val="accent4"/>
              </a:buClr>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Output Screenshots</a:t>
            </a:r>
          </a:p>
          <a:p>
            <a:pPr marL="342900" indent="-342900" algn="l">
              <a:buClr>
                <a:schemeClr val="accent4"/>
              </a:buClr>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Conclusion</a:t>
            </a:r>
          </a:p>
          <a:p>
            <a:pPr marL="342900" indent="-342900" algn="l">
              <a:buClr>
                <a:schemeClr val="accent4"/>
              </a:buClr>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Future Enhancement</a:t>
            </a:r>
          </a:p>
          <a:p>
            <a:pPr marL="0" indent="0" algn="l">
              <a:lnSpc>
                <a:spcPct val="150000"/>
              </a:lnSpc>
              <a:buClr>
                <a:schemeClr val="tx1"/>
              </a:buClr>
            </a:pPr>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82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0F7FF-9BE5-4B4B-95B9-F3932AB42BC7}"/>
              </a:ext>
            </a:extLst>
          </p:cNvPr>
          <p:cNvSpPr txBox="1"/>
          <p:nvPr/>
        </p:nvSpPr>
        <p:spPr>
          <a:xfrm>
            <a:off x="199623" y="103031"/>
            <a:ext cx="8560263" cy="3801041"/>
          </a:xfrm>
          <a:prstGeom prst="rect">
            <a:avLst/>
          </a:prstGeom>
          <a:noFill/>
        </p:spPr>
        <p:txBody>
          <a:bodyPr wrap="square" rtlCol="0">
            <a:spAutoFit/>
          </a:bodyPr>
          <a:lstStyle/>
          <a:p>
            <a:r>
              <a:rPr lang="en-US" sz="2800" b="1" dirty="0">
                <a:solidFill>
                  <a:schemeClr val="tx1"/>
                </a:solidFill>
                <a:latin typeface="Times New Roman" panose="02020603050405020304" pitchFamily="18" charset="0"/>
                <a:cs typeface="Times New Roman" panose="02020603050405020304" pitchFamily="18" charset="0"/>
              </a:rPr>
              <a:t>                               ABSTRACT</a:t>
            </a:r>
            <a:endParaRPr lang="en-US" sz="1800" dirty="0">
              <a:solidFill>
                <a:schemeClr val="accent4"/>
              </a:solidFill>
              <a:latin typeface="Times New Roman" panose="02020603050405020304" pitchFamily="18" charset="0"/>
              <a:cs typeface="Times New Roman" panose="02020603050405020304" pitchFamily="18" charset="0"/>
            </a:endParaRPr>
          </a:p>
          <a:p>
            <a:pPr algn="just">
              <a:lnSpc>
                <a:spcPct val="150000"/>
              </a:lnSpc>
            </a:pPr>
            <a:r>
              <a:rPr lang="en-US" sz="1800" dirty="0">
                <a:solidFill>
                  <a:schemeClr val="accent4"/>
                </a:solidFill>
                <a:latin typeface="Times New Roman" panose="02020603050405020304" pitchFamily="18" charset="0"/>
                <a:cs typeface="Times New Roman" panose="02020603050405020304" pitchFamily="18" charset="0"/>
              </a:rPr>
              <a:t>Money laundering is a major financial crime that hides illegal funds through complex transaction networks. This project uses machine learning techniques to analyze cryptocurrency transaction data and detect suspicious patterns. The system identifies unusual activities that may indicate money laundering using the </a:t>
            </a:r>
            <a:r>
              <a:rPr lang="en-US" sz="1800" dirty="0" err="1">
                <a:solidFill>
                  <a:schemeClr val="accent4"/>
                </a:solidFill>
                <a:latin typeface="Times New Roman" panose="02020603050405020304" pitchFamily="18" charset="0"/>
                <a:cs typeface="Times New Roman" panose="02020603050405020304" pitchFamily="18" charset="0"/>
              </a:rPr>
              <a:t>XGBoost</a:t>
            </a:r>
            <a:r>
              <a:rPr lang="en-US" sz="1800" dirty="0">
                <a:solidFill>
                  <a:schemeClr val="accent4"/>
                </a:solidFill>
                <a:latin typeface="Times New Roman" panose="02020603050405020304" pitchFamily="18" charset="0"/>
                <a:cs typeface="Times New Roman" panose="02020603050405020304" pitchFamily="18" charset="0"/>
              </a:rPr>
              <a:t> algorithm, which effectively handles complex data. It enables faster and more accurate detection of financial crimes while reducing false positives. The model achieves around 98% accuracy, improving the overall efficiency and reliability of the system.</a:t>
            </a:r>
          </a:p>
          <a:p>
            <a:r>
              <a:rPr lang="en-IN" sz="2400"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245024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06FD26-46F6-45D1-95BC-040A3B7A00CF}"/>
              </a:ext>
            </a:extLst>
          </p:cNvPr>
          <p:cNvSpPr txBox="1"/>
          <p:nvPr/>
        </p:nvSpPr>
        <p:spPr>
          <a:xfrm>
            <a:off x="257577" y="0"/>
            <a:ext cx="8410638" cy="3637984"/>
          </a:xfrm>
          <a:prstGeom prst="rect">
            <a:avLst/>
          </a:prstGeom>
          <a:noFill/>
        </p:spPr>
        <p:txBody>
          <a:bodyPr wrap="square" rtlCol="0">
            <a:spAutoFit/>
          </a:bodyPr>
          <a:lstStyle/>
          <a:p>
            <a:pPr>
              <a:lnSpc>
                <a:spcPct val="150000"/>
              </a:lnSpc>
            </a:pPr>
            <a:r>
              <a:rPr lang="en-US" sz="2800" b="1" dirty="0">
                <a:solidFill>
                  <a:schemeClr val="tx1"/>
                </a:solidFill>
                <a:latin typeface="Times New Roman" panose="02020603050405020304" pitchFamily="18" charset="0"/>
                <a:cs typeface="Times New Roman" panose="02020603050405020304" pitchFamily="18" charset="0"/>
              </a:rPr>
              <a:t>                           INTRODUCTION</a:t>
            </a:r>
          </a:p>
          <a:p>
            <a:pPr algn="just">
              <a:lnSpc>
                <a:spcPct val="150000"/>
              </a:lnSpc>
            </a:pPr>
            <a:r>
              <a:rPr lang="en-US" sz="1800" dirty="0">
                <a:solidFill>
                  <a:schemeClr val="accent4"/>
                </a:solidFill>
                <a:latin typeface="Times New Roman" panose="02020603050405020304" pitchFamily="18" charset="0"/>
                <a:cs typeface="Times New Roman" panose="02020603050405020304" pitchFamily="18" charset="0"/>
              </a:rPr>
              <a:t>The growth of cryptocurrency has improved digital transactions but also increased financial crimes due to user anonymity. Traditional AML systems are inflexible and struggle to handle complex and evolving transaction patterns. Machine learning enables accurate detection by analyzing large-scale data and learning transaction behavior. It adapts to new laundering techniques, reduces false positives, and improves overall security and efficiency in cryptocurrency systems.</a:t>
            </a:r>
          </a:p>
          <a:p>
            <a:pPr>
              <a:lnSpc>
                <a:spcPct val="150000"/>
              </a:lnSpc>
            </a:pPr>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6509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A6C4B4-8508-460E-8E20-8B2F43949112}"/>
              </a:ext>
            </a:extLst>
          </p:cNvPr>
          <p:cNvSpPr txBox="1"/>
          <p:nvPr/>
        </p:nvSpPr>
        <p:spPr>
          <a:xfrm>
            <a:off x="1" y="-173864"/>
            <a:ext cx="9144000" cy="5352462"/>
          </a:xfrm>
          <a:prstGeom prst="rect">
            <a:avLst/>
          </a:prstGeom>
          <a:noFill/>
        </p:spPr>
        <p:txBody>
          <a:bodyPr wrap="square" rtlCol="0">
            <a:spAutoFit/>
          </a:bodyPr>
          <a:lstStyle/>
          <a:p>
            <a:pPr>
              <a:lnSpc>
                <a:spcPct val="200000"/>
              </a:lnSpc>
            </a:pPr>
            <a:r>
              <a:rPr lang="en-US" sz="2400" b="1" dirty="0">
                <a:solidFill>
                  <a:schemeClr val="accent4"/>
                </a:solidFill>
                <a:latin typeface="Times New Roman" panose="02020603050405020304" pitchFamily="18" charset="0"/>
                <a:cs typeface="Times New Roman" panose="02020603050405020304" pitchFamily="18" charset="0"/>
              </a:rPr>
              <a:t>                                        OBJECTIVIES</a:t>
            </a:r>
            <a:endParaRPr lang="en-US" sz="1600" b="1" dirty="0">
              <a:solidFill>
                <a:schemeClr val="accent4"/>
              </a:solidFill>
              <a:latin typeface="Times New Roman" panose="02020603050405020304" pitchFamily="18" charset="0"/>
              <a:cs typeface="Times New Roman" panose="02020603050405020304" pitchFamily="18" charset="0"/>
            </a:endParaRPr>
          </a:p>
          <a:p>
            <a:pPr marL="285750" indent="-285750" algn="just">
              <a:lnSpc>
                <a:spcPct val="200000"/>
              </a:lnSpc>
              <a:buClr>
                <a:schemeClr val="accent4"/>
              </a:buClr>
              <a:buFont typeface="Wingdings" panose="05000000000000000000" pitchFamily="2" charset="2"/>
              <a:buChar char="Ø"/>
            </a:pPr>
            <a:r>
              <a:rPr lang="en-US" sz="1800" dirty="0">
                <a:solidFill>
                  <a:schemeClr val="accent4"/>
                </a:solidFill>
                <a:latin typeface="Times New Roman" panose="02020603050405020304" pitchFamily="18" charset="0"/>
                <a:cs typeface="Times New Roman" panose="02020603050405020304" pitchFamily="18" charset="0"/>
              </a:rPr>
              <a:t>Detect suspicious wallets and transactions by analyzing unusual patterns, high-risk behavior, and abnormal fund movements.</a:t>
            </a:r>
          </a:p>
          <a:p>
            <a:pPr marL="285750" indent="-285750" algn="just">
              <a:lnSpc>
                <a:spcPct val="200000"/>
              </a:lnSpc>
              <a:buClr>
                <a:schemeClr val="accent4"/>
              </a:buClr>
              <a:buFont typeface="Wingdings" panose="05000000000000000000" pitchFamily="2" charset="2"/>
              <a:buChar char="Ø"/>
            </a:pPr>
            <a:r>
              <a:rPr lang="en-US" sz="1800" dirty="0">
                <a:solidFill>
                  <a:schemeClr val="accent4"/>
                </a:solidFill>
                <a:latin typeface="Times New Roman" panose="02020603050405020304" pitchFamily="18" charset="0"/>
                <a:cs typeface="Times New Roman" panose="02020603050405020304" pitchFamily="18" charset="0"/>
              </a:rPr>
              <a:t>Reduce AML false positives by improving accuracy and filtering out genuine transactions from risky ones.</a:t>
            </a:r>
          </a:p>
          <a:p>
            <a:pPr marL="285750" indent="-285750" algn="just">
              <a:lnSpc>
                <a:spcPct val="200000"/>
              </a:lnSpc>
              <a:buClr>
                <a:schemeClr val="accent4"/>
              </a:buClr>
              <a:buFont typeface="Wingdings" panose="05000000000000000000" pitchFamily="2" charset="2"/>
              <a:buChar char="Ø"/>
            </a:pPr>
            <a:r>
              <a:rPr lang="en-US" sz="1800" dirty="0">
                <a:solidFill>
                  <a:schemeClr val="accent4"/>
                </a:solidFill>
                <a:latin typeface="Times New Roman" panose="02020603050405020304" pitchFamily="18" charset="0"/>
                <a:cs typeface="Times New Roman" panose="02020603050405020304" pitchFamily="18" charset="0"/>
              </a:rPr>
              <a:t>Support regulators by providing transparent monitoring, reports, and compliance-ready transaction tracking.</a:t>
            </a:r>
          </a:p>
          <a:p>
            <a:pPr marL="285750" indent="-285750" algn="just">
              <a:lnSpc>
                <a:spcPct val="200000"/>
              </a:lnSpc>
              <a:buClr>
                <a:schemeClr val="accent4"/>
              </a:buClr>
              <a:buFont typeface="Wingdings" panose="05000000000000000000" pitchFamily="2" charset="2"/>
              <a:buChar char="Ø"/>
            </a:pPr>
            <a:r>
              <a:rPr lang="en-US" sz="1800" dirty="0">
                <a:solidFill>
                  <a:schemeClr val="accent4"/>
                </a:solidFill>
                <a:latin typeface="Times New Roman" panose="02020603050405020304" pitchFamily="18" charset="0"/>
                <a:cs typeface="Times New Roman" panose="02020603050405020304" pitchFamily="18" charset="0"/>
              </a:rPr>
              <a:t> Identify layered money laundering activities by tracing complex transaction chains across multiple wallets.</a:t>
            </a:r>
            <a:endParaRPr lang="en-US" sz="1800" b="1" dirty="0">
              <a:solidFill>
                <a:schemeClr val="accent4"/>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0077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2E1B3C-C2F8-4625-AA10-CB707BA442D1}"/>
              </a:ext>
            </a:extLst>
          </p:cNvPr>
          <p:cNvSpPr txBox="1"/>
          <p:nvPr/>
        </p:nvSpPr>
        <p:spPr>
          <a:xfrm>
            <a:off x="178419" y="0"/>
            <a:ext cx="8787161" cy="4216026"/>
          </a:xfrm>
          <a:prstGeom prst="rect">
            <a:avLst/>
          </a:prstGeom>
          <a:noFill/>
        </p:spPr>
        <p:txBody>
          <a:bodyPr wrap="square" rtlCol="0">
            <a:spAutoFit/>
          </a:bodyPr>
          <a:lstStyle/>
          <a:p>
            <a:pPr>
              <a:lnSpc>
                <a:spcPct val="150000"/>
              </a:lnSpc>
            </a:pPr>
            <a:r>
              <a:rPr lang="en-US" sz="2800" b="1" dirty="0">
                <a:solidFill>
                  <a:schemeClr val="tx1"/>
                </a:solidFill>
                <a:latin typeface="Times New Roman" panose="02020603050405020304" pitchFamily="18" charset="0"/>
                <a:cs typeface="Times New Roman" panose="02020603050405020304" pitchFamily="18" charset="0"/>
              </a:rPr>
              <a:t>                        EXISTING SYSTEM</a:t>
            </a:r>
          </a:p>
          <a:p>
            <a:pPr algn="just">
              <a:lnSpc>
                <a:spcPct val="150000"/>
              </a:lnSpc>
            </a:pPr>
            <a:r>
              <a:rPr lang="en-US" sz="1800" dirty="0">
                <a:solidFill>
                  <a:schemeClr val="accent4"/>
                </a:solidFill>
                <a:latin typeface="Times New Roman" panose="02020603050405020304" pitchFamily="18" charset="0"/>
                <a:cs typeface="Times New Roman" panose="02020603050405020304" pitchFamily="18" charset="0"/>
              </a:rPr>
              <a:t>Existing money laundering detection systems mainly use traditional models like Support Vector Machines (SVM). These models analyze basic features such as transaction amount, frequency, and wallet activity, achieving around 90% accuracy on simple datasets and offering good computational efficiency. However, they struggle with complex, non-linear, and evolving transaction patterns. Advanced techniques like chaining and mixing are not effectively captured, leading to reduced real-world accuracy and higher false positives, making them less suitable for modern cryptocurrency environments.</a:t>
            </a:r>
          </a:p>
          <a:p>
            <a:pPr>
              <a:lnSpc>
                <a:spcPct val="150000"/>
              </a:lnSpc>
            </a:pPr>
            <a:endParaRPr lang="en-US" sz="2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0655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45F238-9F82-4960-9B08-3A376A633B81}"/>
              </a:ext>
            </a:extLst>
          </p:cNvPr>
          <p:cNvSpPr txBox="1"/>
          <p:nvPr/>
        </p:nvSpPr>
        <p:spPr>
          <a:xfrm>
            <a:off x="0" y="83713"/>
            <a:ext cx="9144000" cy="461665"/>
          </a:xfrm>
          <a:prstGeom prst="rect">
            <a:avLst/>
          </a:prstGeom>
          <a:noFill/>
        </p:spPr>
        <p:txBody>
          <a:bodyPr wrap="square" rtlCol="0">
            <a:spAutoFit/>
          </a:bodyPr>
          <a:lstStyle/>
          <a:p>
            <a:r>
              <a:rPr lang="en-US" sz="2400" dirty="0">
                <a:solidFill>
                  <a:schemeClr val="accent4"/>
                </a:solidFill>
                <a:latin typeface="Times New Roman" panose="02020603050405020304" pitchFamily="18" charset="0"/>
                <a:cs typeface="Times New Roman" panose="02020603050405020304" pitchFamily="18" charset="0"/>
              </a:rPr>
              <a:t>                                       </a:t>
            </a:r>
            <a:r>
              <a:rPr lang="en-US" sz="2400" b="1" dirty="0">
                <a:solidFill>
                  <a:schemeClr val="accent4"/>
                </a:solidFill>
                <a:latin typeface="Times New Roman" panose="02020603050405020304" pitchFamily="18" charset="0"/>
                <a:cs typeface="Times New Roman" panose="02020603050405020304" pitchFamily="18" charset="0"/>
              </a:rPr>
              <a:t>DISADVANTAGES</a:t>
            </a:r>
          </a:p>
        </p:txBody>
      </p:sp>
      <p:sp>
        <p:nvSpPr>
          <p:cNvPr id="6" name="Rectangle: Rounded Corners 5">
            <a:extLst>
              <a:ext uri="{FF2B5EF4-FFF2-40B4-BE49-F238E27FC236}">
                <a16:creationId xmlns:a16="http://schemas.microsoft.com/office/drawing/2014/main" id="{03193382-8836-4BBF-A83A-DDE9336B9C8D}"/>
              </a:ext>
            </a:extLst>
          </p:cNvPr>
          <p:cNvSpPr/>
          <p:nvPr/>
        </p:nvSpPr>
        <p:spPr>
          <a:xfrm>
            <a:off x="1204175" y="843565"/>
            <a:ext cx="2504944" cy="1416677"/>
          </a:xfrm>
          <a:prstGeom prst="roundRect">
            <a:avLst/>
          </a:prstGeom>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accent4"/>
                </a:solidFill>
                <a:latin typeface="Times New Roman" panose="02020603050405020304" pitchFamily="18" charset="0"/>
                <a:cs typeface="Times New Roman" panose="02020603050405020304" pitchFamily="18" charset="0"/>
              </a:rPr>
              <a:t>High Computational Cost</a:t>
            </a:r>
          </a:p>
        </p:txBody>
      </p:sp>
      <p:sp>
        <p:nvSpPr>
          <p:cNvPr id="8" name="Rectangle: Rounded Corners 7">
            <a:extLst>
              <a:ext uri="{FF2B5EF4-FFF2-40B4-BE49-F238E27FC236}">
                <a16:creationId xmlns:a16="http://schemas.microsoft.com/office/drawing/2014/main" id="{EBF64B5B-344C-43C3-8F82-D8478135C689}"/>
              </a:ext>
            </a:extLst>
          </p:cNvPr>
          <p:cNvSpPr/>
          <p:nvPr/>
        </p:nvSpPr>
        <p:spPr>
          <a:xfrm>
            <a:off x="5434882" y="843565"/>
            <a:ext cx="2395473" cy="1287887"/>
          </a:xfrm>
          <a:prstGeom prst="roundRect">
            <a:avLst/>
          </a:prstGeom>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accent4"/>
                </a:solidFill>
                <a:latin typeface="Times New Roman" panose="02020603050405020304" pitchFamily="18" charset="0"/>
                <a:cs typeface="Times New Roman" panose="02020603050405020304" pitchFamily="18" charset="0"/>
              </a:rPr>
              <a:t>High False Positive Rates</a:t>
            </a:r>
          </a:p>
        </p:txBody>
      </p:sp>
      <p:sp>
        <p:nvSpPr>
          <p:cNvPr id="9" name="Rectangle: Rounded Corners 8">
            <a:extLst>
              <a:ext uri="{FF2B5EF4-FFF2-40B4-BE49-F238E27FC236}">
                <a16:creationId xmlns:a16="http://schemas.microsoft.com/office/drawing/2014/main" id="{D7D168F6-3DC0-44AB-9494-ADB69F5882E6}"/>
              </a:ext>
            </a:extLst>
          </p:cNvPr>
          <p:cNvSpPr/>
          <p:nvPr/>
        </p:nvSpPr>
        <p:spPr>
          <a:xfrm>
            <a:off x="1204175" y="2883259"/>
            <a:ext cx="2453425" cy="1365160"/>
          </a:xfrm>
          <a:prstGeom prst="roundRect">
            <a:avLst/>
          </a:prstGeom>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accent4"/>
                </a:solidFill>
                <a:latin typeface="Times New Roman" panose="02020603050405020304" pitchFamily="18" charset="0"/>
                <a:cs typeface="Times New Roman" panose="02020603050405020304" pitchFamily="18" charset="0"/>
              </a:rPr>
              <a:t>Higher Training Time for Large Datasets</a:t>
            </a:r>
          </a:p>
        </p:txBody>
      </p:sp>
      <p:sp>
        <p:nvSpPr>
          <p:cNvPr id="10" name="Rectangle: Rounded Corners 9">
            <a:extLst>
              <a:ext uri="{FF2B5EF4-FFF2-40B4-BE49-F238E27FC236}">
                <a16:creationId xmlns:a16="http://schemas.microsoft.com/office/drawing/2014/main" id="{EC48D8D7-889D-4DCA-8782-7220EA27F7EC}"/>
              </a:ext>
            </a:extLst>
          </p:cNvPr>
          <p:cNvSpPr/>
          <p:nvPr/>
        </p:nvSpPr>
        <p:spPr>
          <a:xfrm>
            <a:off x="5434881" y="2883260"/>
            <a:ext cx="2395473" cy="1365159"/>
          </a:xfrm>
          <a:prstGeom prst="roundRect">
            <a:avLst/>
          </a:prstGeom>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accent4"/>
                </a:solidFill>
                <a:latin typeface="Times New Roman" panose="02020603050405020304" pitchFamily="18" charset="0"/>
                <a:cs typeface="Times New Roman" panose="02020603050405020304" pitchFamily="18" charset="0"/>
              </a:rPr>
              <a:t>Limited Scalability for Large Data</a:t>
            </a:r>
          </a:p>
        </p:txBody>
      </p:sp>
    </p:spTree>
    <p:extLst>
      <p:ext uri="{BB962C8B-B14F-4D97-AF65-F5344CB8AC3E}">
        <p14:creationId xmlns:p14="http://schemas.microsoft.com/office/powerpoint/2010/main" val="10390960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062710-3A32-4D7F-AE63-3A50EF1E2607}"/>
              </a:ext>
            </a:extLst>
          </p:cNvPr>
          <p:cNvSpPr txBox="1"/>
          <p:nvPr/>
        </p:nvSpPr>
        <p:spPr>
          <a:xfrm>
            <a:off x="170985" y="148683"/>
            <a:ext cx="8675649" cy="3597075"/>
          </a:xfrm>
          <a:prstGeom prst="rect">
            <a:avLst/>
          </a:prstGeom>
          <a:noFill/>
        </p:spPr>
        <p:txBody>
          <a:bodyPr wrap="square" rtlCol="0">
            <a:spAutoFit/>
          </a:bodyPr>
          <a:lstStyle/>
          <a:p>
            <a:pPr>
              <a:lnSpc>
                <a:spcPct val="150000"/>
              </a:lnSpc>
            </a:pPr>
            <a:r>
              <a:rPr lang="en-US" sz="2800" b="1" dirty="0">
                <a:solidFill>
                  <a:schemeClr val="tx1"/>
                </a:solidFill>
                <a:latin typeface="Times New Roman" panose="02020603050405020304" pitchFamily="18" charset="0"/>
                <a:cs typeface="Times New Roman" panose="02020603050405020304" pitchFamily="18" charset="0"/>
              </a:rPr>
              <a:t>                        PROPOSED SYSTEM</a:t>
            </a:r>
          </a:p>
          <a:p>
            <a:pPr algn="just">
              <a:lnSpc>
                <a:spcPct val="150000"/>
              </a:lnSpc>
            </a:pPr>
            <a:r>
              <a:rPr lang="en-US" sz="1800" dirty="0">
                <a:solidFill>
                  <a:schemeClr val="accent4"/>
                </a:solidFill>
                <a:latin typeface="Times New Roman" panose="02020603050405020304" pitchFamily="18" charset="0"/>
                <a:cs typeface="Times New Roman" panose="02020603050405020304" pitchFamily="18" charset="0"/>
              </a:rPr>
              <a:t>The proposed system uses </a:t>
            </a:r>
            <a:r>
              <a:rPr lang="en-US" sz="1800" dirty="0" err="1">
                <a:solidFill>
                  <a:schemeClr val="accent4"/>
                </a:solidFill>
                <a:latin typeface="Times New Roman" panose="02020603050405020304" pitchFamily="18" charset="0"/>
                <a:cs typeface="Times New Roman" panose="02020603050405020304" pitchFamily="18" charset="0"/>
              </a:rPr>
              <a:t>XGBoost</a:t>
            </a:r>
            <a:r>
              <a:rPr lang="en-US" sz="1800" dirty="0">
                <a:solidFill>
                  <a:schemeClr val="accent4"/>
                </a:solidFill>
                <a:latin typeface="Times New Roman" panose="02020603050405020304" pitchFamily="18" charset="0"/>
                <a:cs typeface="Times New Roman" panose="02020603050405020304" pitchFamily="18" charset="0"/>
              </a:rPr>
              <a:t>, an advanced ensemble learning model, to detect money laundering in cryptocurrency transactions. It combines multiple decision trees to improve accuracy and handles complex, non-linear data effectively. The model reduces overfitting, processes large volumes of data efficiently, and adapts to new patterns through continuous learning. This results in higher detection accuracy and fewer false positives compared to traditional methods, making it suitable for modern cryptocurrency environments.</a:t>
            </a:r>
            <a:endParaRPr lang="en-US" sz="1800" b="1" dirty="0">
              <a:solidFill>
                <a:schemeClr val="accent4"/>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5683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80A5A3-92F8-43AD-88D9-8832BEF519D8}"/>
              </a:ext>
            </a:extLst>
          </p:cNvPr>
          <p:cNvSpPr txBox="1"/>
          <p:nvPr/>
        </p:nvSpPr>
        <p:spPr>
          <a:xfrm>
            <a:off x="0" y="70834"/>
            <a:ext cx="9144000" cy="461665"/>
          </a:xfrm>
          <a:prstGeom prst="rect">
            <a:avLst/>
          </a:prstGeom>
          <a:noFill/>
        </p:spPr>
        <p:txBody>
          <a:bodyPr wrap="square" rtlCol="0">
            <a:spAutoFit/>
          </a:bodyPr>
          <a:lstStyle/>
          <a:p>
            <a:r>
              <a:rPr lang="en-US" sz="2400" dirty="0">
                <a:solidFill>
                  <a:schemeClr val="accent4"/>
                </a:solidFill>
                <a:latin typeface="Times New Roman" panose="02020603050405020304" pitchFamily="18" charset="0"/>
                <a:cs typeface="Times New Roman" panose="02020603050405020304" pitchFamily="18" charset="0"/>
              </a:rPr>
              <a:t>                                      </a:t>
            </a:r>
            <a:r>
              <a:rPr lang="en-US" sz="2400" b="1" dirty="0">
                <a:solidFill>
                  <a:schemeClr val="accent4"/>
                </a:solidFill>
                <a:latin typeface="Times New Roman" panose="02020603050405020304" pitchFamily="18" charset="0"/>
                <a:cs typeface="Times New Roman" panose="02020603050405020304" pitchFamily="18" charset="0"/>
              </a:rPr>
              <a:t>ADVANTAGES</a:t>
            </a:r>
          </a:p>
        </p:txBody>
      </p:sp>
      <p:sp>
        <p:nvSpPr>
          <p:cNvPr id="3" name="Rectangle: Rounded Corners 2">
            <a:extLst>
              <a:ext uri="{FF2B5EF4-FFF2-40B4-BE49-F238E27FC236}">
                <a16:creationId xmlns:a16="http://schemas.microsoft.com/office/drawing/2014/main" id="{0AF9B82A-F6AA-4CE4-A8A6-8B009B69EF84}"/>
              </a:ext>
            </a:extLst>
          </p:cNvPr>
          <p:cNvSpPr/>
          <p:nvPr/>
        </p:nvSpPr>
        <p:spPr>
          <a:xfrm>
            <a:off x="1397359" y="920839"/>
            <a:ext cx="2215166" cy="1300767"/>
          </a:xfrm>
          <a:prstGeom prst="roundRect">
            <a:avLst/>
          </a:prstGeom>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accent4"/>
                </a:solidFill>
                <a:latin typeface="Times New Roman" panose="02020603050405020304" pitchFamily="18" charset="0"/>
                <a:cs typeface="Times New Roman" panose="02020603050405020304" pitchFamily="18" charset="0"/>
              </a:rPr>
              <a:t>High Accuracy</a:t>
            </a:r>
          </a:p>
        </p:txBody>
      </p:sp>
      <p:sp>
        <p:nvSpPr>
          <p:cNvPr id="5" name="Rectangle: Rounded Corners 4">
            <a:extLst>
              <a:ext uri="{FF2B5EF4-FFF2-40B4-BE49-F238E27FC236}">
                <a16:creationId xmlns:a16="http://schemas.microsoft.com/office/drawing/2014/main" id="{B923DE62-105B-40EA-8689-FAB6AACA5FDD}"/>
              </a:ext>
            </a:extLst>
          </p:cNvPr>
          <p:cNvSpPr/>
          <p:nvPr/>
        </p:nvSpPr>
        <p:spPr>
          <a:xfrm>
            <a:off x="5241701" y="920839"/>
            <a:ext cx="2286000" cy="1300767"/>
          </a:xfrm>
          <a:prstGeom prst="roundRect">
            <a:avLst/>
          </a:prstGeom>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4"/>
                </a:solidFill>
                <a:latin typeface="Times New Roman" panose="02020603050405020304" pitchFamily="18" charset="0"/>
                <a:cs typeface="Times New Roman" panose="02020603050405020304" pitchFamily="18" charset="0"/>
              </a:rPr>
              <a:t>Reduce False Positives</a:t>
            </a:r>
          </a:p>
        </p:txBody>
      </p:sp>
      <p:sp>
        <p:nvSpPr>
          <p:cNvPr id="8" name="Rectangle: Rounded Corners 7">
            <a:extLst>
              <a:ext uri="{FF2B5EF4-FFF2-40B4-BE49-F238E27FC236}">
                <a16:creationId xmlns:a16="http://schemas.microsoft.com/office/drawing/2014/main" id="{05F76F8A-55CC-4E1F-8A78-7E903D0201E9}"/>
              </a:ext>
            </a:extLst>
          </p:cNvPr>
          <p:cNvSpPr/>
          <p:nvPr/>
        </p:nvSpPr>
        <p:spPr>
          <a:xfrm>
            <a:off x="1397360" y="3013656"/>
            <a:ext cx="2298878" cy="1300767"/>
          </a:xfrm>
          <a:prstGeom prst="roundRect">
            <a:avLst/>
          </a:prstGeom>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accent4"/>
                </a:solidFill>
                <a:latin typeface="Times New Roman" panose="02020603050405020304" pitchFamily="18" charset="0"/>
                <a:cs typeface="Times New Roman" panose="02020603050405020304" pitchFamily="18" charset="0"/>
              </a:rPr>
              <a:t>Scalable for Larger Data</a:t>
            </a:r>
          </a:p>
        </p:txBody>
      </p:sp>
      <p:sp>
        <p:nvSpPr>
          <p:cNvPr id="11" name="Rectangle: Rounded Corners 10">
            <a:extLst>
              <a:ext uri="{FF2B5EF4-FFF2-40B4-BE49-F238E27FC236}">
                <a16:creationId xmlns:a16="http://schemas.microsoft.com/office/drawing/2014/main" id="{3952EBA5-53B5-4BAD-A992-33F620CEF670}"/>
              </a:ext>
            </a:extLst>
          </p:cNvPr>
          <p:cNvSpPr/>
          <p:nvPr/>
        </p:nvSpPr>
        <p:spPr>
          <a:xfrm>
            <a:off x="5241701" y="3013656"/>
            <a:ext cx="2286000" cy="1300766"/>
          </a:xfrm>
          <a:prstGeom prst="roundRect">
            <a:avLst/>
          </a:prstGeom>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accent4"/>
                </a:solidFill>
                <a:latin typeface="Times New Roman" panose="02020603050405020304" pitchFamily="18" charset="0"/>
                <a:cs typeface="Times New Roman" panose="02020603050405020304" pitchFamily="18" charset="0"/>
              </a:rPr>
              <a:t>Handles Missing Data</a:t>
            </a:r>
          </a:p>
        </p:txBody>
      </p:sp>
    </p:spTree>
    <p:extLst>
      <p:ext uri="{BB962C8B-B14F-4D97-AF65-F5344CB8AC3E}">
        <p14:creationId xmlns:p14="http://schemas.microsoft.com/office/powerpoint/2010/main" val="1613613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7AAD1E1-9C95-42BC-8821-8D140FEFDED4}"/>
              </a:ext>
            </a:extLst>
          </p:cNvPr>
          <p:cNvSpPr txBox="1"/>
          <p:nvPr/>
        </p:nvSpPr>
        <p:spPr>
          <a:xfrm>
            <a:off x="45076" y="669701"/>
            <a:ext cx="3895859" cy="4108817"/>
          </a:xfrm>
          <a:prstGeom prst="rect">
            <a:avLst/>
          </a:prstGeom>
          <a:noFill/>
        </p:spPr>
        <p:txBody>
          <a:bodyPr wrap="square" rtlCol="0">
            <a:spAutoFit/>
          </a:bodyPr>
          <a:lstStyle/>
          <a:p>
            <a:r>
              <a:rPr lang="en-US" sz="2000" b="1" dirty="0">
                <a:solidFill>
                  <a:schemeClr val="accent4"/>
                </a:solidFill>
                <a:latin typeface="Times New Roman" panose="02020603050405020304" pitchFamily="18" charset="0"/>
                <a:cs typeface="Times New Roman" panose="02020603050405020304" pitchFamily="18" charset="0"/>
              </a:rPr>
              <a:t>Software Requirements</a:t>
            </a:r>
          </a:p>
          <a:p>
            <a:pPr marL="438150" indent="-285750">
              <a:lnSpc>
                <a:spcPct val="250000"/>
              </a:lnSpc>
              <a:buClr>
                <a:schemeClr val="accent4"/>
              </a:buClr>
              <a:buFont typeface="Wingdings" panose="05000000000000000000" pitchFamily="2" charset="2"/>
              <a:buChar char="Ø"/>
            </a:pPr>
            <a:r>
              <a:rPr lang="en-US" sz="1800" dirty="0">
                <a:solidFill>
                  <a:schemeClr val="accent4"/>
                </a:solidFill>
                <a:latin typeface="Times New Roman" panose="02020603050405020304" pitchFamily="18" charset="0"/>
                <a:cs typeface="Times New Roman" panose="02020603050405020304" pitchFamily="18" charset="0"/>
              </a:rPr>
              <a:t>Windows / Linux OS                               </a:t>
            </a:r>
          </a:p>
          <a:p>
            <a:pPr marL="438150" indent="-285750">
              <a:lnSpc>
                <a:spcPct val="250000"/>
              </a:lnSpc>
              <a:buClr>
                <a:schemeClr val="accent4"/>
              </a:buClr>
              <a:buFont typeface="Wingdings" panose="05000000000000000000" pitchFamily="2" charset="2"/>
              <a:buChar char="Ø"/>
            </a:pPr>
            <a:r>
              <a:rPr lang="en-US" sz="1800" dirty="0">
                <a:solidFill>
                  <a:schemeClr val="accent4"/>
                </a:solidFill>
                <a:latin typeface="Times New Roman" panose="02020603050405020304" pitchFamily="18" charset="0"/>
                <a:cs typeface="Times New Roman" panose="02020603050405020304" pitchFamily="18" charset="0"/>
              </a:rPr>
              <a:t> Python 3.8+</a:t>
            </a:r>
          </a:p>
          <a:p>
            <a:pPr marL="438150" indent="-285750">
              <a:lnSpc>
                <a:spcPct val="250000"/>
              </a:lnSpc>
              <a:buClr>
                <a:schemeClr val="accent4"/>
              </a:buClr>
              <a:buFont typeface="Wingdings" panose="05000000000000000000" pitchFamily="2" charset="2"/>
              <a:buChar char="Ø"/>
            </a:pPr>
            <a:r>
              <a:rPr lang="en-US" sz="1800" dirty="0">
                <a:solidFill>
                  <a:schemeClr val="accent4"/>
                </a:solidFill>
                <a:latin typeface="Times New Roman" panose="02020603050405020304" pitchFamily="18" charset="0"/>
                <a:cs typeface="Times New Roman" panose="02020603050405020304" pitchFamily="18" charset="0"/>
              </a:rPr>
              <a:t> Flask Framework</a:t>
            </a:r>
          </a:p>
          <a:p>
            <a:pPr marL="438150" indent="-285750">
              <a:lnSpc>
                <a:spcPct val="250000"/>
              </a:lnSpc>
              <a:buClr>
                <a:schemeClr val="accent4"/>
              </a:buClr>
              <a:buFont typeface="Wingdings" panose="05000000000000000000" pitchFamily="2" charset="2"/>
              <a:buChar char="Ø"/>
            </a:pPr>
            <a:r>
              <a:rPr lang="en-US" sz="1800" dirty="0">
                <a:solidFill>
                  <a:schemeClr val="accent4"/>
                </a:solidFill>
                <a:latin typeface="Times New Roman" panose="02020603050405020304" pitchFamily="18" charset="0"/>
                <a:cs typeface="Times New Roman" panose="02020603050405020304" pitchFamily="18" charset="0"/>
              </a:rPr>
              <a:t>NumPy, Pandas, </a:t>
            </a:r>
            <a:r>
              <a:rPr lang="en-US" sz="1800" dirty="0" err="1">
                <a:solidFill>
                  <a:schemeClr val="accent4"/>
                </a:solidFill>
                <a:latin typeface="Times New Roman" panose="02020603050405020304" pitchFamily="18" charset="0"/>
                <a:cs typeface="Times New Roman" panose="02020603050405020304" pitchFamily="18" charset="0"/>
              </a:rPr>
              <a:t>Scikit</a:t>
            </a:r>
            <a:r>
              <a:rPr lang="en-US" sz="1800" dirty="0">
                <a:solidFill>
                  <a:schemeClr val="accent4"/>
                </a:solidFill>
                <a:latin typeface="Times New Roman" panose="02020603050405020304" pitchFamily="18" charset="0"/>
                <a:cs typeface="Times New Roman" panose="02020603050405020304" pitchFamily="18" charset="0"/>
              </a:rPr>
              <a:t>-learn,</a:t>
            </a:r>
          </a:p>
          <a:p>
            <a:pPr marL="438150" indent="-285750">
              <a:lnSpc>
                <a:spcPct val="250000"/>
              </a:lnSpc>
              <a:buClr>
                <a:schemeClr val="accent4"/>
              </a:buClr>
              <a:buFont typeface="Wingdings" panose="05000000000000000000" pitchFamily="2" charset="2"/>
              <a:buChar char="Ø"/>
            </a:pPr>
            <a:r>
              <a:rPr lang="en-US" sz="1800" dirty="0" err="1">
                <a:solidFill>
                  <a:schemeClr val="accent4"/>
                </a:solidFill>
                <a:latin typeface="Times New Roman" panose="02020603050405020304" pitchFamily="18" charset="0"/>
                <a:cs typeface="Times New Roman" panose="02020603050405020304" pitchFamily="18" charset="0"/>
              </a:rPr>
              <a:t>XGBoost</a:t>
            </a:r>
            <a:endParaRPr lang="en-US" sz="1800" dirty="0">
              <a:solidFill>
                <a:schemeClr val="accent4"/>
              </a:solidFill>
              <a:latin typeface="Times New Roman" panose="02020603050405020304" pitchFamily="18" charset="0"/>
              <a:cs typeface="Times New Roman" panose="02020603050405020304" pitchFamily="18" charset="0"/>
            </a:endParaRPr>
          </a:p>
          <a:p>
            <a:endParaRPr lang="en-US" sz="1800" dirty="0">
              <a:solidFill>
                <a:schemeClr val="accent4"/>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9789F29-897D-41C4-87C6-4043B336D23D}"/>
              </a:ext>
            </a:extLst>
          </p:cNvPr>
          <p:cNvSpPr txBox="1"/>
          <p:nvPr/>
        </p:nvSpPr>
        <p:spPr>
          <a:xfrm>
            <a:off x="4146998" y="669701"/>
            <a:ext cx="4430334" cy="3477875"/>
          </a:xfrm>
          <a:prstGeom prst="rect">
            <a:avLst/>
          </a:prstGeom>
          <a:noFill/>
        </p:spPr>
        <p:txBody>
          <a:bodyPr wrap="square" rtlCol="0">
            <a:spAutoFit/>
          </a:bodyPr>
          <a:lstStyle/>
          <a:p>
            <a:r>
              <a:rPr lang="en-US" sz="2000" b="1" dirty="0">
                <a:solidFill>
                  <a:schemeClr val="accent4"/>
                </a:solidFill>
                <a:latin typeface="Times New Roman" panose="02020603050405020304" pitchFamily="18" charset="0"/>
                <a:cs typeface="Times New Roman" panose="02020603050405020304" pitchFamily="18" charset="0"/>
              </a:rPr>
              <a:t>Hardware Requirements</a:t>
            </a:r>
          </a:p>
          <a:p>
            <a:pPr marL="495300" indent="-342900" algn="just">
              <a:lnSpc>
                <a:spcPct val="250000"/>
              </a:lnSpc>
              <a:buClr>
                <a:schemeClr val="accent4"/>
              </a:buClr>
              <a:buFont typeface="Wingdings" panose="05000000000000000000" pitchFamily="2" charset="2"/>
              <a:buChar char="Ø"/>
            </a:pPr>
            <a:r>
              <a:rPr lang="en-US" sz="1800" dirty="0">
                <a:solidFill>
                  <a:schemeClr val="accent4"/>
                </a:solidFill>
                <a:latin typeface="Times New Roman" panose="02020603050405020304" pitchFamily="18" charset="0"/>
                <a:cs typeface="Times New Roman" panose="02020603050405020304" pitchFamily="18" charset="0"/>
              </a:rPr>
              <a:t>Intel i5 or higher processor</a:t>
            </a:r>
          </a:p>
          <a:p>
            <a:pPr marL="495300" indent="-342900" algn="just">
              <a:lnSpc>
                <a:spcPct val="250000"/>
              </a:lnSpc>
              <a:buClr>
                <a:schemeClr val="accent4"/>
              </a:buClr>
              <a:buFont typeface="Wingdings" panose="05000000000000000000" pitchFamily="2" charset="2"/>
              <a:buChar char="Ø"/>
            </a:pPr>
            <a:r>
              <a:rPr lang="en-US" sz="1800" dirty="0">
                <a:solidFill>
                  <a:schemeClr val="accent4"/>
                </a:solidFill>
                <a:latin typeface="Times New Roman" panose="02020603050405020304" pitchFamily="18" charset="0"/>
                <a:cs typeface="Times New Roman" panose="02020603050405020304" pitchFamily="18" charset="0"/>
              </a:rPr>
              <a:t> 8 GB RAM minimum</a:t>
            </a:r>
          </a:p>
          <a:p>
            <a:pPr marL="342900" indent="-342900" algn="just">
              <a:lnSpc>
                <a:spcPct val="250000"/>
              </a:lnSpc>
              <a:buClr>
                <a:schemeClr val="accent4"/>
              </a:buClr>
              <a:buFont typeface="Wingdings" panose="05000000000000000000" pitchFamily="2" charset="2"/>
              <a:buChar char="Ø"/>
            </a:pPr>
            <a:r>
              <a:rPr lang="en-US" sz="1800" dirty="0">
                <a:solidFill>
                  <a:schemeClr val="accent4"/>
                </a:solidFill>
                <a:latin typeface="Times New Roman" panose="02020603050405020304" pitchFamily="18" charset="0"/>
                <a:cs typeface="Times New Roman" panose="02020603050405020304" pitchFamily="18" charset="0"/>
              </a:rPr>
              <a:t>   100 GB HDD/SSD</a:t>
            </a:r>
          </a:p>
          <a:p>
            <a:pPr marL="342900" indent="-342900" algn="just">
              <a:lnSpc>
                <a:spcPct val="250000"/>
              </a:lnSpc>
              <a:buClr>
                <a:schemeClr val="accent4"/>
              </a:buClr>
              <a:buFont typeface="Wingdings" panose="05000000000000000000" pitchFamily="2" charset="2"/>
              <a:buChar char="Ø"/>
            </a:pPr>
            <a:r>
              <a:rPr lang="en-US" sz="1800" dirty="0">
                <a:solidFill>
                  <a:schemeClr val="accent4"/>
                </a:solidFill>
                <a:latin typeface="Times New Roman" panose="02020603050405020304" pitchFamily="18" charset="0"/>
                <a:cs typeface="Times New Roman" panose="02020603050405020304" pitchFamily="18" charset="0"/>
              </a:rPr>
              <a:t>    Internet connectivity</a:t>
            </a:r>
          </a:p>
          <a:p>
            <a:endParaRPr lang="en-US" sz="2000" b="1" dirty="0">
              <a:solidFill>
                <a:schemeClr val="accent4"/>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4FD6EFC-F1EC-42CE-A1DA-CC5F8BAAC4CF}"/>
              </a:ext>
            </a:extLst>
          </p:cNvPr>
          <p:cNvSpPr txBox="1"/>
          <p:nvPr/>
        </p:nvSpPr>
        <p:spPr>
          <a:xfrm>
            <a:off x="1339403" y="0"/>
            <a:ext cx="5164427" cy="461665"/>
          </a:xfrm>
          <a:prstGeom prst="rect">
            <a:avLst/>
          </a:prstGeom>
          <a:noFill/>
        </p:spPr>
        <p:txBody>
          <a:bodyPr wrap="square" rtlCol="0">
            <a:spAutoFit/>
          </a:bodyPr>
          <a:lstStyle/>
          <a:p>
            <a:r>
              <a:rPr lang="en-US" sz="2400" b="1" dirty="0">
                <a:solidFill>
                  <a:schemeClr val="accent4"/>
                </a:solidFill>
                <a:latin typeface="Times New Roman" panose="02020603050405020304" pitchFamily="18" charset="0"/>
                <a:cs typeface="Times New Roman" panose="02020603050405020304" pitchFamily="18" charset="0"/>
              </a:rPr>
              <a:t>             SYSTEM REQUIREMENTS</a:t>
            </a:r>
          </a:p>
        </p:txBody>
      </p:sp>
    </p:spTree>
    <p:extLst>
      <p:ext uri="{BB962C8B-B14F-4D97-AF65-F5344CB8AC3E}">
        <p14:creationId xmlns:p14="http://schemas.microsoft.com/office/powerpoint/2010/main" val="1341750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C43126-5DB2-4BC9-BE8A-96F6733D1A0D}"/>
              </a:ext>
            </a:extLst>
          </p:cNvPr>
          <p:cNvSpPr txBox="1"/>
          <p:nvPr/>
        </p:nvSpPr>
        <p:spPr>
          <a:xfrm>
            <a:off x="0" y="0"/>
            <a:ext cx="9143999" cy="1785104"/>
          </a:xfrm>
          <a:prstGeom prst="rect">
            <a:avLst/>
          </a:prstGeom>
          <a:noFill/>
        </p:spPr>
        <p:txBody>
          <a:bodyPr wrap="square" rtlCol="0">
            <a:spAutoFit/>
          </a:bodyPr>
          <a:lstStyle/>
          <a:p>
            <a:r>
              <a:rPr lang="en-US" sz="2400" b="1" dirty="0">
                <a:solidFill>
                  <a:schemeClr val="accent4"/>
                </a:solidFill>
                <a:latin typeface="Times New Roman" panose="02020603050405020304" pitchFamily="18" charset="0"/>
                <a:cs typeface="Times New Roman" panose="02020603050405020304" pitchFamily="18" charset="0"/>
              </a:rPr>
              <a:t>SYSTEM ARCHITECTURE</a:t>
            </a:r>
          </a:p>
          <a:p>
            <a:endParaRPr lang="en-US" sz="2400" b="1" dirty="0">
              <a:solidFill>
                <a:schemeClr val="accent4"/>
              </a:solidFill>
              <a:latin typeface="Times New Roman" panose="02020603050405020304" pitchFamily="18" charset="0"/>
              <a:cs typeface="Times New Roman" panose="02020603050405020304" pitchFamily="18" charset="0"/>
            </a:endParaRPr>
          </a:p>
          <a:p>
            <a:endParaRPr lang="en-US" sz="2400" dirty="0">
              <a:solidFill>
                <a:schemeClr val="accent4"/>
              </a:solidFill>
              <a:latin typeface="Times New Roman" panose="02020603050405020304" pitchFamily="18" charset="0"/>
              <a:cs typeface="Times New Roman" panose="02020603050405020304" pitchFamily="18" charset="0"/>
            </a:endParaRPr>
          </a:p>
          <a:p>
            <a:endParaRPr lang="en-US" sz="2400" dirty="0">
              <a:solidFill>
                <a:schemeClr val="accent4"/>
              </a:solidFill>
              <a:latin typeface="Times New Roman" panose="02020603050405020304" pitchFamily="18" charset="0"/>
              <a:cs typeface="Times New Roman" panose="02020603050405020304" pitchFamily="18" charset="0"/>
            </a:endParaRPr>
          </a:p>
          <a:p>
            <a:endParaRPr lang="en-US" dirty="0"/>
          </a:p>
        </p:txBody>
      </p:sp>
      <p:pic>
        <p:nvPicPr>
          <p:cNvPr id="4" name="Picture 3">
            <a:extLst>
              <a:ext uri="{FF2B5EF4-FFF2-40B4-BE49-F238E27FC236}">
                <a16:creationId xmlns:a16="http://schemas.microsoft.com/office/drawing/2014/main" id="{F0187139-41BE-4345-86E2-6797A53BDD13}"/>
              </a:ext>
            </a:extLst>
          </p:cNvPr>
          <p:cNvPicPr>
            <a:picLocks noChangeAspect="1"/>
          </p:cNvPicPr>
          <p:nvPr/>
        </p:nvPicPr>
        <p:blipFill>
          <a:blip r:embed="rId2"/>
          <a:stretch>
            <a:fillRect/>
          </a:stretch>
        </p:blipFill>
        <p:spPr>
          <a:xfrm>
            <a:off x="0" y="547352"/>
            <a:ext cx="9144000" cy="4596148"/>
          </a:xfrm>
          <a:prstGeom prst="rect">
            <a:avLst/>
          </a:prstGeom>
        </p:spPr>
      </p:pic>
    </p:spTree>
    <p:extLst>
      <p:ext uri="{BB962C8B-B14F-4D97-AF65-F5344CB8AC3E}">
        <p14:creationId xmlns:p14="http://schemas.microsoft.com/office/powerpoint/2010/main" val="3308975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528B50-D4BD-42C3-BD82-8C2C5D2242F6}"/>
              </a:ext>
            </a:extLst>
          </p:cNvPr>
          <p:cNvSpPr txBox="1"/>
          <p:nvPr/>
        </p:nvSpPr>
        <p:spPr>
          <a:xfrm>
            <a:off x="154546" y="57954"/>
            <a:ext cx="8989454" cy="4634547"/>
          </a:xfrm>
          <a:prstGeom prst="rect">
            <a:avLst/>
          </a:prstGeom>
          <a:noFill/>
        </p:spPr>
        <p:txBody>
          <a:bodyPr wrap="square" rtlCol="0">
            <a:spAutoFit/>
          </a:bodyPr>
          <a:lstStyle/>
          <a:p>
            <a:r>
              <a:rPr lang="en-US" sz="2800" b="1" dirty="0">
                <a:solidFill>
                  <a:schemeClr val="accent4"/>
                </a:solidFill>
                <a:latin typeface="Times New Roman" panose="02020603050405020304" pitchFamily="18" charset="0"/>
                <a:cs typeface="Times New Roman" panose="02020603050405020304" pitchFamily="18" charset="0"/>
              </a:rPr>
              <a:t>                                 MODULES</a:t>
            </a:r>
          </a:p>
          <a:p>
            <a:pPr marL="285750" indent="-285750">
              <a:lnSpc>
                <a:spcPct val="200000"/>
              </a:lnSpc>
              <a:buClr>
                <a:schemeClr val="accent4"/>
              </a:buClr>
              <a:buFont typeface="Wingdings" panose="05000000000000000000" pitchFamily="2" charset="2"/>
              <a:buChar char="Ø"/>
            </a:pPr>
            <a:r>
              <a:rPr lang="en-IN" sz="2400" dirty="0">
                <a:solidFill>
                  <a:schemeClr val="accent4"/>
                </a:solidFill>
                <a:latin typeface="Times New Roman" panose="02020603050405020304" pitchFamily="18" charset="0"/>
                <a:cs typeface="Times New Roman" panose="02020603050405020304" pitchFamily="18" charset="0"/>
              </a:rPr>
              <a:t>Data Collection</a:t>
            </a:r>
            <a:endParaRPr lang="en-US" sz="2400" b="1" dirty="0">
              <a:solidFill>
                <a:schemeClr val="accent4"/>
              </a:solidFill>
              <a:latin typeface="Times New Roman" panose="02020603050405020304" pitchFamily="18" charset="0"/>
              <a:cs typeface="Times New Roman" panose="02020603050405020304" pitchFamily="18" charset="0"/>
            </a:endParaRPr>
          </a:p>
          <a:p>
            <a:pPr marL="285750" lvl="0" indent="-285750">
              <a:lnSpc>
                <a:spcPct val="200000"/>
              </a:lnSpc>
              <a:buClr>
                <a:schemeClr val="accent4"/>
              </a:buClr>
              <a:buFont typeface="Wingdings" panose="05000000000000000000" pitchFamily="2" charset="2"/>
              <a:buChar char="Ø"/>
            </a:pPr>
            <a:r>
              <a:rPr lang="en-US" sz="2400" dirty="0">
                <a:solidFill>
                  <a:schemeClr val="accent4"/>
                </a:solidFill>
                <a:latin typeface="Times New Roman" panose="02020603050405020304" pitchFamily="18" charset="0"/>
                <a:cs typeface="Times New Roman" panose="02020603050405020304" pitchFamily="18" charset="0"/>
              </a:rPr>
              <a:t>Data Preprocessing Module</a:t>
            </a:r>
            <a:endParaRPr lang="en-US" sz="2400" b="1" dirty="0">
              <a:solidFill>
                <a:schemeClr val="accent4"/>
              </a:solidFill>
              <a:latin typeface="Times New Roman" panose="02020603050405020304" pitchFamily="18" charset="0"/>
              <a:cs typeface="Times New Roman" panose="02020603050405020304" pitchFamily="18" charset="0"/>
            </a:endParaRPr>
          </a:p>
          <a:p>
            <a:pPr marL="285750" lvl="0" indent="-285750">
              <a:lnSpc>
                <a:spcPct val="200000"/>
              </a:lnSpc>
              <a:buClr>
                <a:schemeClr val="accent4"/>
              </a:buClr>
              <a:buFont typeface="Wingdings" panose="05000000000000000000" pitchFamily="2" charset="2"/>
              <a:buChar char="Ø"/>
            </a:pPr>
            <a:r>
              <a:rPr lang="en-US" sz="2400" dirty="0">
                <a:solidFill>
                  <a:schemeClr val="accent4"/>
                </a:solidFill>
                <a:latin typeface="Times New Roman" panose="02020603050405020304" pitchFamily="18" charset="0"/>
                <a:cs typeface="Times New Roman" panose="02020603050405020304" pitchFamily="18" charset="0"/>
              </a:rPr>
              <a:t>Feature Extraction Module</a:t>
            </a:r>
          </a:p>
          <a:p>
            <a:pPr marL="285750" indent="-285750">
              <a:lnSpc>
                <a:spcPct val="200000"/>
              </a:lnSpc>
              <a:buClr>
                <a:schemeClr val="accent4"/>
              </a:buClr>
              <a:buFont typeface="Wingdings" panose="05000000000000000000" pitchFamily="2" charset="2"/>
              <a:buChar char="Ø"/>
            </a:pPr>
            <a:r>
              <a:rPr lang="en-US" sz="2400" dirty="0">
                <a:solidFill>
                  <a:schemeClr val="accent4"/>
                </a:solidFill>
                <a:latin typeface="Times New Roman" panose="02020603050405020304" pitchFamily="18" charset="0"/>
                <a:cs typeface="Times New Roman" panose="02020603050405020304" pitchFamily="18" charset="0"/>
              </a:rPr>
              <a:t>Model Training Module</a:t>
            </a:r>
          </a:p>
          <a:p>
            <a:pPr marL="285750" indent="-285750">
              <a:lnSpc>
                <a:spcPct val="200000"/>
              </a:lnSpc>
              <a:buClr>
                <a:schemeClr val="accent4"/>
              </a:buClr>
              <a:buFont typeface="Wingdings" panose="05000000000000000000" pitchFamily="2" charset="2"/>
              <a:buChar char="Ø"/>
            </a:pPr>
            <a:r>
              <a:rPr lang="en-US" sz="2400" dirty="0">
                <a:solidFill>
                  <a:schemeClr val="accent4"/>
                </a:solidFill>
                <a:latin typeface="Times New Roman" panose="02020603050405020304" pitchFamily="18" charset="0"/>
                <a:cs typeface="Times New Roman" panose="02020603050405020304" pitchFamily="18" charset="0"/>
              </a:rPr>
              <a:t>Suspicious Transaction Detection Module</a:t>
            </a:r>
            <a:endParaRPr lang="en-US" sz="2400" b="1" dirty="0">
              <a:solidFill>
                <a:schemeClr val="accent4"/>
              </a:solidFill>
              <a:latin typeface="Times New Roman" panose="02020603050405020304" pitchFamily="18" charset="0"/>
              <a:cs typeface="Times New Roman" panose="02020603050405020304" pitchFamily="18" charset="0"/>
            </a:endParaRPr>
          </a:p>
          <a:p>
            <a:endParaRPr lang="en-US" sz="2800" b="1" dirty="0">
              <a:solidFill>
                <a:schemeClr val="accent4"/>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96291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4867CD9-C74B-4F52-935B-19E5DA281353}"/>
              </a:ext>
            </a:extLst>
          </p:cNvPr>
          <p:cNvSpPr txBox="1"/>
          <p:nvPr/>
        </p:nvSpPr>
        <p:spPr>
          <a:xfrm>
            <a:off x="1" y="148106"/>
            <a:ext cx="9144000" cy="2904898"/>
          </a:xfrm>
          <a:prstGeom prst="rect">
            <a:avLst/>
          </a:prstGeom>
          <a:noFill/>
        </p:spPr>
        <p:txBody>
          <a:bodyPr wrap="square" rtlCol="0">
            <a:spAutoFit/>
          </a:bodyPr>
          <a:lstStyle/>
          <a:p>
            <a:r>
              <a:rPr lang="en-US" sz="2400" b="1" dirty="0">
                <a:solidFill>
                  <a:schemeClr val="accent4"/>
                </a:solidFill>
                <a:latin typeface="Times New Roman" panose="02020603050405020304" pitchFamily="18" charset="0"/>
                <a:cs typeface="Times New Roman" panose="02020603050405020304" pitchFamily="18" charset="0"/>
              </a:rPr>
              <a:t>                           DATA COLLECTION MODULE</a:t>
            </a:r>
          </a:p>
          <a:p>
            <a:pPr algn="just">
              <a:lnSpc>
                <a:spcPct val="150000"/>
              </a:lnSpc>
            </a:pPr>
            <a:r>
              <a:rPr lang="en-US" sz="1800" dirty="0">
                <a:solidFill>
                  <a:schemeClr val="accent4"/>
                </a:solidFill>
                <a:latin typeface="Times New Roman" panose="02020603050405020304" pitchFamily="18" charset="0"/>
                <a:cs typeface="Times New Roman" panose="02020603050405020304" pitchFamily="18" charset="0"/>
              </a:rPr>
              <a:t>The Data Collection Module is the first stage of the system, where cryptocurrency transaction data is collected from various platforms. It includes details such as transaction IDs, wallet addresses, timestamps, transaction amounts, and block numbers. In this project, the dataset is obtained from Kaggle and contains 30,001 rows and 9 columns. The main objective is to gather reliable data for training machine learning models, which is then stored in formats like CSV files or databases for further processing.</a:t>
            </a:r>
            <a:endParaRPr lang="en-US" sz="1800" b="1" dirty="0">
              <a:solidFill>
                <a:schemeClr val="accent4"/>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121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8951D6-A793-4F31-925E-240ED00D139C}"/>
              </a:ext>
            </a:extLst>
          </p:cNvPr>
          <p:cNvSpPr txBox="1"/>
          <p:nvPr/>
        </p:nvSpPr>
        <p:spPr>
          <a:xfrm>
            <a:off x="0" y="57955"/>
            <a:ext cx="9144000" cy="3735895"/>
          </a:xfrm>
          <a:prstGeom prst="rect">
            <a:avLst/>
          </a:prstGeom>
          <a:noFill/>
        </p:spPr>
        <p:txBody>
          <a:bodyPr wrap="square" rtlCol="0">
            <a:spAutoFit/>
          </a:bodyPr>
          <a:lstStyle/>
          <a:p>
            <a:r>
              <a:rPr lang="en-US" sz="2400" dirty="0">
                <a:solidFill>
                  <a:schemeClr val="accent4"/>
                </a:solidFill>
                <a:latin typeface="Times New Roman" panose="02020603050405020304" pitchFamily="18" charset="0"/>
                <a:cs typeface="Times New Roman" panose="02020603050405020304" pitchFamily="18" charset="0"/>
              </a:rPr>
              <a:t>                               </a:t>
            </a:r>
            <a:r>
              <a:rPr lang="en-US" sz="2400" b="1" dirty="0">
                <a:solidFill>
                  <a:schemeClr val="accent4"/>
                </a:solidFill>
                <a:latin typeface="Times New Roman" panose="02020603050405020304" pitchFamily="18" charset="0"/>
                <a:cs typeface="Times New Roman" panose="02020603050405020304" pitchFamily="18" charset="0"/>
              </a:rPr>
              <a:t>DATA PREPROCESSING MODULE</a:t>
            </a:r>
            <a:endParaRPr lang="en-US" sz="1800" b="1" dirty="0">
              <a:solidFill>
                <a:schemeClr val="accent4"/>
              </a:solidFill>
              <a:latin typeface="Times New Roman" panose="02020603050405020304" pitchFamily="18" charset="0"/>
              <a:cs typeface="Times New Roman" panose="02020603050405020304" pitchFamily="18" charset="0"/>
            </a:endParaRPr>
          </a:p>
          <a:p>
            <a:pPr algn="just">
              <a:lnSpc>
                <a:spcPct val="150000"/>
              </a:lnSpc>
            </a:pPr>
            <a:r>
              <a:rPr lang="en-US" sz="1800" dirty="0">
                <a:solidFill>
                  <a:schemeClr val="accent4"/>
                </a:solidFill>
                <a:latin typeface="Times New Roman" panose="02020603050405020304" pitchFamily="18" charset="0"/>
                <a:cs typeface="Times New Roman" panose="02020603050405020304" pitchFamily="18" charset="0"/>
              </a:rPr>
              <a:t>After collecting the data, the Data Preprocessing Module is used to clean and organize it. The cryptocurrency transaction data from the Blockchain may contain missing values, duplicates, or irrelevant </a:t>
            </a:r>
            <a:r>
              <a:rPr lang="en-US" sz="1800" dirty="0" err="1">
                <a:solidFill>
                  <a:schemeClr val="accent4"/>
                </a:solidFill>
                <a:latin typeface="Times New Roman" panose="02020603050405020304" pitchFamily="18" charset="0"/>
                <a:cs typeface="Times New Roman" panose="02020603050405020304" pitchFamily="18" charset="0"/>
              </a:rPr>
              <a:t>information.This</a:t>
            </a:r>
            <a:r>
              <a:rPr lang="en-US" sz="1800" dirty="0">
                <a:solidFill>
                  <a:schemeClr val="accent4"/>
                </a:solidFill>
                <a:latin typeface="Times New Roman" panose="02020603050405020304" pitchFamily="18" charset="0"/>
                <a:cs typeface="Times New Roman" panose="02020603050405020304" pitchFamily="18" charset="0"/>
              </a:rPr>
              <a:t> module removes duplicates, handles missing values, and converts categorical data into numerical form. It also extracts useful features like transaction frequency and transaction </a:t>
            </a:r>
            <a:r>
              <a:rPr lang="en-US" sz="1800" dirty="0" err="1">
                <a:solidFill>
                  <a:schemeClr val="accent4"/>
                </a:solidFill>
                <a:latin typeface="Times New Roman" panose="02020603050405020304" pitchFamily="18" charset="0"/>
                <a:cs typeface="Times New Roman" panose="02020603050405020304" pitchFamily="18" charset="0"/>
              </a:rPr>
              <a:t>volume.Finally</a:t>
            </a:r>
            <a:r>
              <a:rPr lang="en-US" sz="1800" dirty="0">
                <a:solidFill>
                  <a:schemeClr val="accent4"/>
                </a:solidFill>
                <a:latin typeface="Times New Roman" panose="02020603050405020304" pitchFamily="18" charset="0"/>
                <a:cs typeface="Times New Roman" panose="02020603050405020304" pitchFamily="18" charset="0"/>
              </a:rPr>
              <a:t>, normalization or scaling is applied to improve model performance. This step is important because machine learning models need clean and structured data for accurate predictions.</a:t>
            </a:r>
          </a:p>
          <a:p>
            <a:pPr algn="just">
              <a:lnSpc>
                <a:spcPct val="150000"/>
              </a:lnSpc>
            </a:pPr>
            <a:endParaRPr lang="en-US" sz="1800" dirty="0">
              <a:solidFill>
                <a:schemeClr val="accent4"/>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94820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86A9B0-7273-42AF-A451-2C6565455E5B}"/>
              </a:ext>
            </a:extLst>
          </p:cNvPr>
          <p:cNvSpPr txBox="1"/>
          <p:nvPr/>
        </p:nvSpPr>
        <p:spPr>
          <a:xfrm>
            <a:off x="0" y="45076"/>
            <a:ext cx="9144000" cy="3320396"/>
          </a:xfrm>
          <a:prstGeom prst="rect">
            <a:avLst/>
          </a:prstGeom>
          <a:noFill/>
        </p:spPr>
        <p:txBody>
          <a:bodyPr wrap="square" rtlCol="0">
            <a:spAutoFit/>
          </a:bodyPr>
          <a:lstStyle/>
          <a:p>
            <a:r>
              <a:rPr lang="en-US" sz="2400" dirty="0">
                <a:solidFill>
                  <a:schemeClr val="accent4"/>
                </a:solidFill>
                <a:latin typeface="Times New Roman" panose="02020603050405020304" pitchFamily="18" charset="0"/>
                <a:cs typeface="Times New Roman" panose="02020603050405020304" pitchFamily="18" charset="0"/>
              </a:rPr>
              <a:t>                              </a:t>
            </a:r>
            <a:r>
              <a:rPr lang="en-US" sz="2400" b="1" dirty="0">
                <a:solidFill>
                  <a:schemeClr val="accent4"/>
                </a:solidFill>
                <a:latin typeface="Times New Roman" panose="02020603050405020304" pitchFamily="18" charset="0"/>
                <a:cs typeface="Times New Roman" panose="02020603050405020304" pitchFamily="18" charset="0"/>
              </a:rPr>
              <a:t>FEATURE ENGINEERING</a:t>
            </a:r>
          </a:p>
          <a:p>
            <a:pPr algn="just">
              <a:lnSpc>
                <a:spcPct val="150000"/>
              </a:lnSpc>
            </a:pPr>
            <a:r>
              <a:rPr lang="en-US" sz="1800" dirty="0">
                <a:solidFill>
                  <a:schemeClr val="accent4"/>
                </a:solidFill>
                <a:latin typeface="Times New Roman" panose="02020603050405020304" pitchFamily="18" charset="0"/>
                <a:cs typeface="Times New Roman" panose="02020603050405020304" pitchFamily="18" charset="0"/>
              </a:rPr>
              <a:t>The Feature Extraction Module selects important information from preprocessed cryptocurrency data. Since not all data is useful, only meaningful features are chosen to help the model understand transaction </a:t>
            </a:r>
            <a:r>
              <a:rPr lang="en-US" sz="1800" dirty="0" err="1">
                <a:solidFill>
                  <a:schemeClr val="accent4"/>
                </a:solidFill>
                <a:latin typeface="Times New Roman" panose="02020603050405020304" pitchFamily="18" charset="0"/>
                <a:cs typeface="Times New Roman" panose="02020603050405020304" pitchFamily="18" charset="0"/>
              </a:rPr>
              <a:t>behavior.Common</a:t>
            </a:r>
            <a:r>
              <a:rPr lang="en-US" sz="1800" dirty="0">
                <a:solidFill>
                  <a:schemeClr val="accent4"/>
                </a:solidFill>
                <a:latin typeface="Times New Roman" panose="02020603050405020304" pitchFamily="18" charset="0"/>
                <a:cs typeface="Times New Roman" panose="02020603050405020304" pitchFamily="18" charset="0"/>
              </a:rPr>
              <a:t> features include transaction amount, frequency, number of wallet interactions, and average transaction value. It can also use network relationships between wallets to detect suspicious </a:t>
            </a:r>
            <a:r>
              <a:rPr lang="en-US" sz="1800" dirty="0" err="1">
                <a:solidFill>
                  <a:schemeClr val="accent4"/>
                </a:solidFill>
                <a:latin typeface="Times New Roman" panose="02020603050405020304" pitchFamily="18" charset="0"/>
                <a:cs typeface="Times New Roman" panose="02020603050405020304" pitchFamily="18" charset="0"/>
              </a:rPr>
              <a:t>patterns.This</a:t>
            </a:r>
            <a:r>
              <a:rPr lang="en-US" sz="1800" dirty="0">
                <a:solidFill>
                  <a:schemeClr val="accent4"/>
                </a:solidFill>
                <a:latin typeface="Times New Roman" panose="02020603050405020304" pitchFamily="18" charset="0"/>
                <a:cs typeface="Times New Roman" panose="02020603050405020304" pitchFamily="18" charset="0"/>
              </a:rPr>
              <a:t> module converts the data into a structured format that can be used by machine learning models.</a:t>
            </a:r>
          </a:p>
          <a:p>
            <a:pPr algn="just">
              <a:lnSpc>
                <a:spcPct val="150000"/>
              </a:lnSpc>
            </a:pPr>
            <a:endParaRPr lang="en-US" sz="1800" dirty="0">
              <a:solidFill>
                <a:schemeClr val="accent4"/>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102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158DB8-7341-48AA-BD20-E7126E60DCF5}"/>
              </a:ext>
            </a:extLst>
          </p:cNvPr>
          <p:cNvSpPr txBox="1"/>
          <p:nvPr/>
        </p:nvSpPr>
        <p:spPr>
          <a:xfrm>
            <a:off x="0" y="77273"/>
            <a:ext cx="9144000" cy="3372077"/>
          </a:xfrm>
          <a:prstGeom prst="rect">
            <a:avLst/>
          </a:prstGeom>
          <a:noFill/>
        </p:spPr>
        <p:txBody>
          <a:bodyPr wrap="square" rtlCol="0">
            <a:spAutoFit/>
          </a:bodyPr>
          <a:lstStyle/>
          <a:p>
            <a:r>
              <a:rPr lang="en-US" sz="2400" dirty="0">
                <a:solidFill>
                  <a:schemeClr val="accent4"/>
                </a:solidFill>
                <a:latin typeface="Times New Roman" panose="02020603050405020304" pitchFamily="18" charset="0"/>
                <a:cs typeface="Times New Roman" panose="02020603050405020304" pitchFamily="18" charset="0"/>
              </a:rPr>
              <a:t>                                </a:t>
            </a:r>
            <a:r>
              <a:rPr lang="en-US" sz="2400" b="1" dirty="0">
                <a:solidFill>
                  <a:schemeClr val="accent4"/>
                </a:solidFill>
                <a:latin typeface="Times New Roman" panose="02020603050405020304" pitchFamily="18" charset="0"/>
                <a:cs typeface="Times New Roman" panose="02020603050405020304" pitchFamily="18" charset="0"/>
              </a:rPr>
              <a:t>MODEL TRAINING MODULE </a:t>
            </a:r>
            <a:endParaRPr lang="en-US" b="1" dirty="0">
              <a:solidFill>
                <a:schemeClr val="accent4"/>
              </a:solidFill>
              <a:latin typeface="Times New Roman" panose="02020603050405020304" pitchFamily="18" charset="0"/>
              <a:cs typeface="Times New Roman" panose="02020603050405020304" pitchFamily="18" charset="0"/>
            </a:endParaRPr>
          </a:p>
          <a:p>
            <a:pPr algn="just">
              <a:lnSpc>
                <a:spcPct val="150000"/>
              </a:lnSpc>
            </a:pPr>
            <a:r>
              <a:rPr lang="en-US" sz="1800" dirty="0">
                <a:solidFill>
                  <a:schemeClr val="accent4"/>
                </a:solidFill>
                <a:latin typeface="Times New Roman" panose="02020603050405020304" pitchFamily="18" charset="0"/>
                <a:cs typeface="Times New Roman" panose="02020603050405020304" pitchFamily="18" charset="0"/>
              </a:rPr>
              <a:t>The Model Training Module is where machine learning algorithms are trained using the prepared dataset. Algorithms like Random Forest, </a:t>
            </a:r>
            <a:r>
              <a:rPr lang="en-US" sz="1800" dirty="0" err="1">
                <a:solidFill>
                  <a:schemeClr val="accent4"/>
                </a:solidFill>
                <a:latin typeface="Times New Roman" panose="02020603050405020304" pitchFamily="18" charset="0"/>
                <a:cs typeface="Times New Roman" panose="02020603050405020304" pitchFamily="18" charset="0"/>
              </a:rPr>
              <a:t>XGBoost</a:t>
            </a:r>
            <a:r>
              <a:rPr lang="en-US" sz="1800" dirty="0">
                <a:solidFill>
                  <a:schemeClr val="accent4"/>
                </a:solidFill>
                <a:latin typeface="Times New Roman" panose="02020603050405020304" pitchFamily="18" charset="0"/>
                <a:cs typeface="Times New Roman" panose="02020603050405020304" pitchFamily="18" charset="0"/>
              </a:rPr>
              <a:t>, Logistic Regression, and Neural Networks are used to detect suspicious </a:t>
            </a:r>
            <a:r>
              <a:rPr lang="en-US" sz="1800" dirty="0" err="1">
                <a:solidFill>
                  <a:schemeClr val="accent4"/>
                </a:solidFill>
                <a:latin typeface="Times New Roman" panose="02020603050405020304" pitchFamily="18" charset="0"/>
                <a:cs typeface="Times New Roman" panose="02020603050405020304" pitchFamily="18" charset="0"/>
              </a:rPr>
              <a:t>transactions.The</a:t>
            </a:r>
            <a:r>
              <a:rPr lang="en-US" sz="1800" dirty="0">
                <a:solidFill>
                  <a:schemeClr val="accent4"/>
                </a:solidFill>
                <a:latin typeface="Times New Roman" panose="02020603050405020304" pitchFamily="18" charset="0"/>
                <a:cs typeface="Times New Roman" panose="02020603050405020304" pitchFamily="18" charset="0"/>
              </a:rPr>
              <a:t> data is split into training and testing sets. The model learns patterns from the training data and adjusts itself to reduce errors and improve </a:t>
            </a:r>
            <a:r>
              <a:rPr lang="en-US" sz="1800" dirty="0" err="1">
                <a:solidFill>
                  <a:schemeClr val="accent4"/>
                </a:solidFill>
                <a:latin typeface="Times New Roman" panose="02020603050405020304" pitchFamily="18" charset="0"/>
                <a:cs typeface="Times New Roman" panose="02020603050405020304" pitchFamily="18" charset="0"/>
              </a:rPr>
              <a:t>accuracy.The</a:t>
            </a:r>
            <a:r>
              <a:rPr lang="en-US" sz="1800" dirty="0">
                <a:solidFill>
                  <a:schemeClr val="accent4"/>
                </a:solidFill>
                <a:latin typeface="Times New Roman" panose="02020603050405020304" pitchFamily="18" charset="0"/>
                <a:cs typeface="Times New Roman" panose="02020603050405020304" pitchFamily="18" charset="0"/>
              </a:rPr>
              <a:t> main goal is to build a model that can accurately detect money laundering transactions.</a:t>
            </a:r>
          </a:p>
          <a:p>
            <a:pPr algn="just">
              <a:lnSpc>
                <a:spcPct val="200000"/>
              </a:lnSpc>
            </a:pPr>
            <a:endParaRPr lang="en-US" sz="1600" dirty="0">
              <a:solidFill>
                <a:schemeClr val="accent4"/>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93769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6F25C1-3B55-4AB4-A44B-225A8EA65F2F}"/>
              </a:ext>
            </a:extLst>
          </p:cNvPr>
          <p:cNvSpPr txBox="1"/>
          <p:nvPr/>
        </p:nvSpPr>
        <p:spPr>
          <a:xfrm>
            <a:off x="0" y="0"/>
            <a:ext cx="9047408" cy="3616375"/>
          </a:xfrm>
          <a:prstGeom prst="rect">
            <a:avLst/>
          </a:prstGeom>
          <a:noFill/>
        </p:spPr>
        <p:txBody>
          <a:bodyPr wrap="square" rtlCol="0">
            <a:spAutoFit/>
          </a:bodyPr>
          <a:lstStyle/>
          <a:p>
            <a:r>
              <a:rPr lang="en-US" sz="2400" dirty="0">
                <a:solidFill>
                  <a:schemeClr val="accent4"/>
                </a:solidFill>
                <a:latin typeface="Times New Roman" panose="02020603050405020304" pitchFamily="18" charset="0"/>
                <a:cs typeface="Times New Roman" panose="02020603050405020304" pitchFamily="18" charset="0"/>
              </a:rPr>
              <a:t>               </a:t>
            </a:r>
            <a:r>
              <a:rPr lang="en-US" sz="2000" b="1" dirty="0">
                <a:solidFill>
                  <a:schemeClr val="accent4"/>
                </a:solidFill>
                <a:latin typeface="Times New Roman" panose="02020603050405020304" pitchFamily="18" charset="0"/>
                <a:cs typeface="Times New Roman" panose="02020603050405020304" pitchFamily="18" charset="0"/>
              </a:rPr>
              <a:t>SUSPICIOUS TRANSACTION DETECTION MODULE</a:t>
            </a:r>
          </a:p>
          <a:p>
            <a:pPr algn="just">
              <a:lnSpc>
                <a:spcPct val="150000"/>
              </a:lnSpc>
            </a:pPr>
            <a:r>
              <a:rPr lang="en-US" sz="1800" dirty="0">
                <a:solidFill>
                  <a:schemeClr val="accent4"/>
                </a:solidFill>
                <a:latin typeface="Times New Roman" panose="02020603050405020304" pitchFamily="18" charset="0"/>
                <a:cs typeface="Times New Roman" panose="02020603050405020304" pitchFamily="18" charset="0"/>
              </a:rPr>
              <a:t>The Suspicious Transaction Detection Module uses the trained model to analyze new cryptocurrency transaction data. It examines each transaction and predicts whether it is normal or suspicious based on learned </a:t>
            </a:r>
            <a:r>
              <a:rPr lang="en-US" sz="1800" dirty="0" err="1">
                <a:solidFill>
                  <a:schemeClr val="accent4"/>
                </a:solidFill>
                <a:latin typeface="Times New Roman" panose="02020603050405020304" pitchFamily="18" charset="0"/>
                <a:cs typeface="Times New Roman" panose="02020603050405020304" pitchFamily="18" charset="0"/>
              </a:rPr>
              <a:t>patterns.If</a:t>
            </a:r>
            <a:r>
              <a:rPr lang="en-US" sz="1800" dirty="0">
                <a:solidFill>
                  <a:schemeClr val="accent4"/>
                </a:solidFill>
                <a:latin typeface="Times New Roman" panose="02020603050405020304" pitchFamily="18" charset="0"/>
                <a:cs typeface="Times New Roman" panose="02020603050405020304" pitchFamily="18" charset="0"/>
              </a:rPr>
              <a:t> a transaction is flagged as suspicious, it may indicate possible money laundering activity. The system can also generate alerts for further investigation by analysts or </a:t>
            </a:r>
            <a:r>
              <a:rPr lang="en-US" sz="1800" dirty="0" err="1">
                <a:solidFill>
                  <a:schemeClr val="accent4"/>
                </a:solidFill>
                <a:latin typeface="Times New Roman" panose="02020603050405020304" pitchFamily="18" charset="0"/>
                <a:cs typeface="Times New Roman" panose="02020603050405020304" pitchFamily="18" charset="0"/>
              </a:rPr>
              <a:t>authorities.This</a:t>
            </a:r>
            <a:r>
              <a:rPr lang="en-US" sz="1800" dirty="0">
                <a:solidFill>
                  <a:schemeClr val="accent4"/>
                </a:solidFill>
                <a:latin typeface="Times New Roman" panose="02020603050405020304" pitchFamily="18" charset="0"/>
                <a:cs typeface="Times New Roman" panose="02020603050405020304" pitchFamily="18" charset="0"/>
              </a:rPr>
              <a:t> module helps organizations monitor large volumes of transactions efficiently, reduces manual effort, and improves the speed and accuracy of detecting illegal activities.</a:t>
            </a:r>
          </a:p>
          <a:p>
            <a:endParaRPr lang="en-US" sz="1600" dirty="0">
              <a:solidFill>
                <a:schemeClr val="accent4"/>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03774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DCED5C-9AC8-4B98-9A06-C01CD4B3F3BF}"/>
              </a:ext>
            </a:extLst>
          </p:cNvPr>
          <p:cNvSpPr txBox="1"/>
          <p:nvPr/>
        </p:nvSpPr>
        <p:spPr>
          <a:xfrm>
            <a:off x="6439" y="45076"/>
            <a:ext cx="9092486" cy="2554545"/>
          </a:xfrm>
          <a:prstGeom prst="rect">
            <a:avLst/>
          </a:prstGeom>
          <a:noFill/>
        </p:spPr>
        <p:txBody>
          <a:bodyPr wrap="square" rtlCol="0">
            <a:spAutoFit/>
          </a:bodyPr>
          <a:lstStyle/>
          <a:p>
            <a:r>
              <a:rPr lang="en-US" sz="2000" b="1" dirty="0">
                <a:solidFill>
                  <a:schemeClr val="accent4"/>
                </a:solidFill>
                <a:latin typeface="Times New Roman" panose="02020603050405020304" pitchFamily="18" charset="0"/>
                <a:cs typeface="Times New Roman" panose="02020603050405020304" pitchFamily="18" charset="0"/>
              </a:rPr>
              <a:t>                                                   UML DIAGRAMS  </a:t>
            </a:r>
          </a:p>
          <a:p>
            <a:r>
              <a:rPr lang="en-US" sz="2000" b="1" dirty="0">
                <a:solidFill>
                  <a:schemeClr val="accent4"/>
                </a:solidFill>
                <a:latin typeface="Times New Roman" panose="02020603050405020304" pitchFamily="18" charset="0"/>
                <a:cs typeface="Times New Roman" panose="02020603050405020304" pitchFamily="18" charset="0"/>
              </a:rPr>
              <a:t>CLASS DIAGRAM</a:t>
            </a:r>
          </a:p>
          <a:p>
            <a:endParaRPr lang="en-US" sz="2000" b="1" dirty="0">
              <a:solidFill>
                <a:schemeClr val="accent4"/>
              </a:solidFill>
              <a:latin typeface="Times New Roman" panose="02020603050405020304" pitchFamily="18" charset="0"/>
              <a:cs typeface="Times New Roman" panose="02020603050405020304" pitchFamily="18" charset="0"/>
            </a:endParaRPr>
          </a:p>
          <a:p>
            <a:endParaRPr lang="en-US" sz="2000" b="1" dirty="0">
              <a:solidFill>
                <a:schemeClr val="accent4"/>
              </a:solidFill>
              <a:latin typeface="Times New Roman" panose="02020603050405020304" pitchFamily="18" charset="0"/>
              <a:cs typeface="Times New Roman" panose="02020603050405020304" pitchFamily="18" charset="0"/>
            </a:endParaRPr>
          </a:p>
          <a:p>
            <a:endParaRPr lang="en-US" sz="2000" b="1" dirty="0">
              <a:solidFill>
                <a:schemeClr val="accent4"/>
              </a:solidFill>
              <a:latin typeface="Times New Roman" panose="02020603050405020304" pitchFamily="18" charset="0"/>
              <a:cs typeface="Times New Roman" panose="02020603050405020304" pitchFamily="18" charset="0"/>
            </a:endParaRPr>
          </a:p>
          <a:p>
            <a:endParaRPr lang="en-US" sz="2000" b="1" dirty="0">
              <a:solidFill>
                <a:schemeClr val="accent4"/>
              </a:solidFill>
              <a:latin typeface="Times New Roman" panose="02020603050405020304" pitchFamily="18" charset="0"/>
              <a:cs typeface="Times New Roman" panose="02020603050405020304" pitchFamily="18" charset="0"/>
            </a:endParaRPr>
          </a:p>
          <a:p>
            <a:endParaRPr lang="en-US" sz="2000" b="1" dirty="0">
              <a:solidFill>
                <a:schemeClr val="accent4"/>
              </a:solidFill>
              <a:latin typeface="Times New Roman" panose="02020603050405020304" pitchFamily="18" charset="0"/>
              <a:cs typeface="Times New Roman" panose="02020603050405020304" pitchFamily="18" charset="0"/>
            </a:endParaRPr>
          </a:p>
          <a:p>
            <a:endParaRPr lang="en-US" sz="2000" b="1" dirty="0">
              <a:solidFill>
                <a:schemeClr val="accent4"/>
              </a:solidFill>
              <a:latin typeface="Times New Roman" panose="02020603050405020304" pitchFamily="18" charset="0"/>
              <a:cs typeface="Times New Roman" panose="02020603050405020304" pitchFamily="18" charset="0"/>
            </a:endParaRPr>
          </a:p>
        </p:txBody>
      </p:sp>
      <p:sp>
        <p:nvSpPr>
          <p:cNvPr id="6" name="AutoShape 2" descr="Download the clear PPT image">
            <a:extLst>
              <a:ext uri="{FF2B5EF4-FFF2-40B4-BE49-F238E27FC236}">
                <a16:creationId xmlns:a16="http://schemas.microsoft.com/office/drawing/2014/main" id="{7BEF94D3-9653-4B42-975C-7ACE21A8BEAA}"/>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708761C8-6F99-4925-9F8F-F978CC59C493}"/>
              </a:ext>
            </a:extLst>
          </p:cNvPr>
          <p:cNvPicPr>
            <a:picLocks noChangeAspect="1"/>
          </p:cNvPicPr>
          <p:nvPr/>
        </p:nvPicPr>
        <p:blipFill>
          <a:blip r:embed="rId2"/>
          <a:stretch>
            <a:fillRect/>
          </a:stretch>
        </p:blipFill>
        <p:spPr>
          <a:xfrm>
            <a:off x="0" y="811369"/>
            <a:ext cx="9144000" cy="4332131"/>
          </a:xfrm>
          <a:prstGeom prst="rect">
            <a:avLst/>
          </a:prstGeom>
        </p:spPr>
      </p:pic>
    </p:spTree>
    <p:extLst>
      <p:ext uri="{BB962C8B-B14F-4D97-AF65-F5344CB8AC3E}">
        <p14:creationId xmlns:p14="http://schemas.microsoft.com/office/powerpoint/2010/main" val="15486821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B9F3FA-EC26-4EFD-BCC2-BEA742140775}"/>
              </a:ext>
            </a:extLst>
          </p:cNvPr>
          <p:cNvSpPr txBox="1"/>
          <p:nvPr/>
        </p:nvSpPr>
        <p:spPr>
          <a:xfrm>
            <a:off x="0" y="77273"/>
            <a:ext cx="9144000" cy="1015663"/>
          </a:xfrm>
          <a:prstGeom prst="rect">
            <a:avLst/>
          </a:prstGeom>
          <a:noFill/>
        </p:spPr>
        <p:txBody>
          <a:bodyPr wrap="square" rtlCol="0">
            <a:spAutoFit/>
          </a:bodyPr>
          <a:lstStyle/>
          <a:p>
            <a:r>
              <a:rPr lang="en-US" sz="2000" b="1" dirty="0">
                <a:solidFill>
                  <a:schemeClr val="accent4"/>
                </a:solidFill>
                <a:latin typeface="Times New Roman" panose="02020603050405020304" pitchFamily="18" charset="0"/>
                <a:cs typeface="Times New Roman" panose="02020603050405020304" pitchFamily="18" charset="0"/>
              </a:rPr>
              <a:t>USECASE DIAGRAM</a:t>
            </a:r>
          </a:p>
          <a:p>
            <a:endParaRPr lang="en-US" sz="2000" b="1" dirty="0">
              <a:solidFill>
                <a:schemeClr val="accent4"/>
              </a:solidFill>
              <a:latin typeface="Times New Roman" panose="02020603050405020304" pitchFamily="18" charset="0"/>
              <a:cs typeface="Times New Roman" panose="02020603050405020304" pitchFamily="18" charset="0"/>
            </a:endParaRPr>
          </a:p>
          <a:p>
            <a:endParaRPr lang="en-US" sz="2000" dirty="0">
              <a:solidFill>
                <a:schemeClr val="accent4"/>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761E39D-521C-4C8E-92F0-50F544CD07DA}"/>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575310"/>
            <a:ext cx="9143999" cy="4568190"/>
          </a:xfrm>
          <a:prstGeom prst="rect">
            <a:avLst/>
          </a:prstGeom>
          <a:noFill/>
        </p:spPr>
      </p:pic>
    </p:spTree>
    <p:extLst>
      <p:ext uri="{BB962C8B-B14F-4D97-AF65-F5344CB8AC3E}">
        <p14:creationId xmlns:p14="http://schemas.microsoft.com/office/powerpoint/2010/main" val="15979975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422F889-FFB4-447E-8BD2-939A2153E96C}"/>
              </a:ext>
            </a:extLst>
          </p:cNvPr>
          <p:cNvSpPr txBox="1"/>
          <p:nvPr/>
        </p:nvSpPr>
        <p:spPr>
          <a:xfrm>
            <a:off x="0" y="0"/>
            <a:ext cx="9144000" cy="1323439"/>
          </a:xfrm>
          <a:prstGeom prst="rect">
            <a:avLst/>
          </a:prstGeom>
          <a:noFill/>
        </p:spPr>
        <p:txBody>
          <a:bodyPr wrap="square" rtlCol="0">
            <a:spAutoFit/>
          </a:bodyPr>
          <a:lstStyle/>
          <a:p>
            <a:r>
              <a:rPr lang="en-US" sz="2000" b="1" dirty="0">
                <a:solidFill>
                  <a:schemeClr val="accent4"/>
                </a:solidFill>
                <a:latin typeface="Times New Roman" panose="02020603050405020304" pitchFamily="18" charset="0"/>
                <a:cs typeface="Times New Roman" panose="02020603050405020304" pitchFamily="18" charset="0"/>
              </a:rPr>
              <a:t>SEQUENCE DIAGRAM</a:t>
            </a:r>
          </a:p>
          <a:p>
            <a:endParaRPr lang="en-US" sz="2000" b="1" dirty="0">
              <a:solidFill>
                <a:schemeClr val="accent4"/>
              </a:solidFill>
              <a:latin typeface="Times New Roman" panose="02020603050405020304" pitchFamily="18" charset="0"/>
              <a:cs typeface="Times New Roman" panose="02020603050405020304" pitchFamily="18" charset="0"/>
            </a:endParaRPr>
          </a:p>
          <a:p>
            <a:endParaRPr lang="en-US" sz="2000" dirty="0">
              <a:solidFill>
                <a:schemeClr val="accent4"/>
              </a:solidFill>
              <a:latin typeface="Times New Roman" panose="02020603050405020304" pitchFamily="18" charset="0"/>
              <a:cs typeface="Times New Roman" panose="02020603050405020304" pitchFamily="18" charset="0"/>
            </a:endParaRPr>
          </a:p>
          <a:p>
            <a:endParaRPr lang="en-US" sz="2000" dirty="0">
              <a:solidFill>
                <a:schemeClr val="accent4"/>
              </a:solidFill>
              <a:latin typeface="Times New Roman" panose="02020603050405020304" pitchFamily="18" charset="0"/>
              <a:cs typeface="Times New Roman" panose="02020603050405020304" pitchFamily="18" charset="0"/>
            </a:endParaRPr>
          </a:p>
        </p:txBody>
      </p:sp>
      <p:sp>
        <p:nvSpPr>
          <p:cNvPr id="8" name="AutoShape 2" descr="blob:https://web.whatsapp.com/1e08726f-7c67-49ac-a1c0-f0624e267710">
            <a:extLst>
              <a:ext uri="{FF2B5EF4-FFF2-40B4-BE49-F238E27FC236}">
                <a16:creationId xmlns:a16="http://schemas.microsoft.com/office/drawing/2014/main" id="{77E6C9B1-B899-4DAD-AD05-4BA16DA5D2B6}"/>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 name="Picture 11">
            <a:extLst>
              <a:ext uri="{FF2B5EF4-FFF2-40B4-BE49-F238E27FC236}">
                <a16:creationId xmlns:a16="http://schemas.microsoft.com/office/drawing/2014/main" id="{6C5BE92C-7FC1-4563-A086-EA9F52F4E749}"/>
              </a:ext>
            </a:extLst>
          </p:cNvPr>
          <p:cNvPicPr>
            <a:picLocks noChangeAspect="1"/>
          </p:cNvPicPr>
          <p:nvPr/>
        </p:nvPicPr>
        <p:blipFill>
          <a:blip r:embed="rId2"/>
          <a:stretch>
            <a:fillRect/>
          </a:stretch>
        </p:blipFill>
        <p:spPr>
          <a:xfrm>
            <a:off x="0" y="367048"/>
            <a:ext cx="9144000" cy="4776452"/>
          </a:xfrm>
          <a:prstGeom prst="rect">
            <a:avLst/>
          </a:prstGeom>
        </p:spPr>
      </p:pic>
    </p:spTree>
    <p:extLst>
      <p:ext uri="{BB962C8B-B14F-4D97-AF65-F5344CB8AC3E}">
        <p14:creationId xmlns:p14="http://schemas.microsoft.com/office/powerpoint/2010/main" val="4385450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3937CF-788B-4A17-948C-2230A10D466E}"/>
              </a:ext>
            </a:extLst>
          </p:cNvPr>
          <p:cNvSpPr txBox="1"/>
          <p:nvPr/>
        </p:nvSpPr>
        <p:spPr>
          <a:xfrm>
            <a:off x="-45076" y="0"/>
            <a:ext cx="9144000" cy="1938992"/>
          </a:xfrm>
          <a:prstGeom prst="rect">
            <a:avLst/>
          </a:prstGeom>
          <a:noFill/>
        </p:spPr>
        <p:txBody>
          <a:bodyPr wrap="square" rtlCol="0">
            <a:spAutoFit/>
          </a:bodyPr>
          <a:lstStyle/>
          <a:p>
            <a:r>
              <a:rPr lang="en-US" sz="2000" b="1" dirty="0">
                <a:solidFill>
                  <a:schemeClr val="accent4"/>
                </a:solidFill>
                <a:latin typeface="Times New Roman" panose="02020603050405020304" pitchFamily="18" charset="0"/>
                <a:cs typeface="Times New Roman" panose="02020603050405020304" pitchFamily="18" charset="0"/>
              </a:rPr>
              <a:t>ACTIVITY DIAGRAM</a:t>
            </a:r>
          </a:p>
          <a:p>
            <a:endParaRPr lang="en-US" sz="2000" b="1" dirty="0">
              <a:solidFill>
                <a:schemeClr val="accent4"/>
              </a:solidFill>
              <a:latin typeface="Times New Roman" panose="02020603050405020304" pitchFamily="18" charset="0"/>
              <a:cs typeface="Times New Roman" panose="02020603050405020304" pitchFamily="18" charset="0"/>
            </a:endParaRPr>
          </a:p>
          <a:p>
            <a:endParaRPr lang="en-US" sz="2000" b="1" dirty="0">
              <a:solidFill>
                <a:schemeClr val="accent4"/>
              </a:solidFill>
              <a:latin typeface="Times New Roman" panose="02020603050405020304" pitchFamily="18" charset="0"/>
              <a:cs typeface="Times New Roman" panose="02020603050405020304" pitchFamily="18" charset="0"/>
            </a:endParaRPr>
          </a:p>
          <a:p>
            <a:endParaRPr lang="en-US" sz="2000" b="1" dirty="0">
              <a:solidFill>
                <a:schemeClr val="accent4"/>
              </a:solidFill>
              <a:latin typeface="Times New Roman" panose="02020603050405020304" pitchFamily="18" charset="0"/>
              <a:cs typeface="Times New Roman" panose="02020603050405020304" pitchFamily="18" charset="0"/>
            </a:endParaRPr>
          </a:p>
          <a:p>
            <a:endParaRPr lang="en-US" sz="2000" b="1" dirty="0">
              <a:solidFill>
                <a:schemeClr val="accent4"/>
              </a:solidFill>
              <a:latin typeface="Times New Roman" panose="02020603050405020304" pitchFamily="18" charset="0"/>
              <a:cs typeface="Times New Roman" panose="02020603050405020304" pitchFamily="18" charset="0"/>
            </a:endParaRPr>
          </a:p>
          <a:p>
            <a:endParaRPr lang="en-US" sz="2000" dirty="0">
              <a:solidFill>
                <a:schemeClr val="accent4"/>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C287FCC-DB3B-4034-B061-F8B015C70D6E}"/>
              </a:ext>
            </a:extLst>
          </p:cNvPr>
          <p:cNvPicPr/>
          <p:nvPr/>
        </p:nvPicPr>
        <p:blipFill>
          <a:blip r:embed="rId2"/>
          <a:stretch>
            <a:fillRect/>
          </a:stretch>
        </p:blipFill>
        <p:spPr>
          <a:xfrm>
            <a:off x="0" y="405684"/>
            <a:ext cx="9098924" cy="4737816"/>
          </a:xfrm>
          <a:prstGeom prst="rect">
            <a:avLst/>
          </a:prstGeom>
        </p:spPr>
      </p:pic>
    </p:spTree>
    <p:extLst>
      <p:ext uri="{BB962C8B-B14F-4D97-AF65-F5344CB8AC3E}">
        <p14:creationId xmlns:p14="http://schemas.microsoft.com/office/powerpoint/2010/main" val="14258451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C20335-C89F-475E-998E-9B40D2BDB608}"/>
              </a:ext>
            </a:extLst>
          </p:cNvPr>
          <p:cNvSpPr txBox="1"/>
          <p:nvPr/>
        </p:nvSpPr>
        <p:spPr>
          <a:xfrm>
            <a:off x="0" y="64394"/>
            <a:ext cx="9144000" cy="1938992"/>
          </a:xfrm>
          <a:prstGeom prst="rect">
            <a:avLst/>
          </a:prstGeom>
          <a:noFill/>
        </p:spPr>
        <p:txBody>
          <a:bodyPr wrap="square" rtlCol="0">
            <a:spAutoFit/>
          </a:bodyPr>
          <a:lstStyle/>
          <a:p>
            <a:r>
              <a:rPr lang="en-US" sz="2000" b="1" dirty="0">
                <a:solidFill>
                  <a:schemeClr val="accent4"/>
                </a:solidFill>
                <a:latin typeface="Times New Roman" panose="02020603050405020304" pitchFamily="18" charset="0"/>
                <a:cs typeface="Times New Roman" panose="02020603050405020304" pitchFamily="18" charset="0"/>
              </a:rPr>
              <a:t>DEPLOYMENT DIAGRAM</a:t>
            </a:r>
          </a:p>
          <a:p>
            <a:endParaRPr lang="en-US" sz="2000" b="1" dirty="0">
              <a:solidFill>
                <a:schemeClr val="accent4"/>
              </a:solidFill>
              <a:latin typeface="Times New Roman" panose="02020603050405020304" pitchFamily="18" charset="0"/>
              <a:cs typeface="Times New Roman" panose="02020603050405020304" pitchFamily="18" charset="0"/>
            </a:endParaRPr>
          </a:p>
          <a:p>
            <a:endParaRPr lang="en-US" sz="2000" b="1" dirty="0">
              <a:solidFill>
                <a:schemeClr val="accent4"/>
              </a:solidFill>
              <a:latin typeface="Times New Roman" panose="02020603050405020304" pitchFamily="18" charset="0"/>
              <a:cs typeface="Times New Roman" panose="02020603050405020304" pitchFamily="18" charset="0"/>
            </a:endParaRPr>
          </a:p>
          <a:p>
            <a:endParaRPr lang="en-US" sz="2000" b="1" dirty="0">
              <a:solidFill>
                <a:schemeClr val="accent4"/>
              </a:solidFill>
              <a:latin typeface="Times New Roman" panose="02020603050405020304" pitchFamily="18" charset="0"/>
              <a:cs typeface="Times New Roman" panose="02020603050405020304" pitchFamily="18" charset="0"/>
            </a:endParaRPr>
          </a:p>
          <a:p>
            <a:endParaRPr lang="en-US" sz="2000" b="1" dirty="0">
              <a:solidFill>
                <a:schemeClr val="accent4"/>
              </a:solidFill>
              <a:latin typeface="Times New Roman" panose="02020603050405020304" pitchFamily="18" charset="0"/>
              <a:cs typeface="Times New Roman" panose="02020603050405020304" pitchFamily="18" charset="0"/>
            </a:endParaRPr>
          </a:p>
          <a:p>
            <a:endParaRPr lang="en-US" sz="2000" dirty="0">
              <a:solidFill>
                <a:schemeClr val="accent4"/>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32FC1BC-BF0E-40B5-B759-33D40D6237D6}"/>
              </a:ext>
            </a:extLst>
          </p:cNvPr>
          <p:cNvPicPr>
            <a:picLocks noChangeAspect="1"/>
          </p:cNvPicPr>
          <p:nvPr/>
        </p:nvPicPr>
        <p:blipFill>
          <a:blip r:embed="rId2"/>
          <a:stretch>
            <a:fillRect/>
          </a:stretch>
        </p:blipFill>
        <p:spPr>
          <a:xfrm>
            <a:off x="0" y="573110"/>
            <a:ext cx="9144001" cy="4570390"/>
          </a:xfrm>
          <a:prstGeom prst="rect">
            <a:avLst/>
          </a:prstGeom>
        </p:spPr>
      </p:pic>
    </p:spTree>
    <p:extLst>
      <p:ext uri="{BB962C8B-B14F-4D97-AF65-F5344CB8AC3E}">
        <p14:creationId xmlns:p14="http://schemas.microsoft.com/office/powerpoint/2010/main" val="15080116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8D9747-ACC5-4230-89B7-17CAB0B966BC}"/>
              </a:ext>
            </a:extLst>
          </p:cNvPr>
          <p:cNvSpPr txBox="1"/>
          <p:nvPr/>
        </p:nvSpPr>
        <p:spPr>
          <a:xfrm>
            <a:off x="45076" y="-57956"/>
            <a:ext cx="9047408" cy="3431709"/>
          </a:xfrm>
          <a:prstGeom prst="rect">
            <a:avLst/>
          </a:prstGeom>
          <a:noFill/>
        </p:spPr>
        <p:txBody>
          <a:bodyPr wrap="square" rtlCol="0">
            <a:spAutoFit/>
          </a:bodyPr>
          <a:lstStyle/>
          <a:p>
            <a:r>
              <a:rPr lang="en-US" sz="2400" dirty="0">
                <a:solidFill>
                  <a:schemeClr val="accent4"/>
                </a:solidFill>
                <a:latin typeface="Times New Roman" panose="02020603050405020304" pitchFamily="18" charset="0"/>
                <a:cs typeface="Times New Roman" panose="02020603050405020304" pitchFamily="18" charset="0"/>
              </a:rPr>
              <a:t>                                   </a:t>
            </a:r>
            <a:r>
              <a:rPr lang="en-US" sz="2400" b="1" dirty="0">
                <a:solidFill>
                  <a:schemeClr val="accent4"/>
                </a:solidFill>
                <a:latin typeface="Times New Roman" panose="02020603050405020304" pitchFamily="18" charset="0"/>
                <a:cs typeface="Times New Roman" panose="02020603050405020304" pitchFamily="18" charset="0"/>
              </a:rPr>
              <a:t>TESTING TECHNIQUES</a:t>
            </a:r>
          </a:p>
          <a:p>
            <a:endParaRPr lang="en-US" sz="2000" dirty="0">
              <a:solidFill>
                <a:schemeClr val="accent4"/>
              </a:solidFill>
              <a:latin typeface="Times New Roman" panose="02020603050405020304" pitchFamily="18" charset="0"/>
              <a:cs typeface="Times New Roman" panose="02020603050405020304" pitchFamily="18" charset="0"/>
            </a:endParaRPr>
          </a:p>
          <a:p>
            <a:r>
              <a:rPr lang="en-US" sz="2000" b="1" dirty="0">
                <a:solidFill>
                  <a:schemeClr val="accent4"/>
                </a:solidFill>
                <a:latin typeface="Times New Roman" panose="02020603050405020304" pitchFamily="18" charset="0"/>
                <a:cs typeface="Times New Roman" panose="02020603050405020304" pitchFamily="18" charset="0"/>
              </a:rPr>
              <a:t>UNIT TESTING</a:t>
            </a:r>
            <a:endParaRPr lang="en-US" sz="1800" b="1" dirty="0">
              <a:solidFill>
                <a:schemeClr val="accent4"/>
              </a:solidFill>
              <a:latin typeface="Times New Roman" panose="02020603050405020304" pitchFamily="18" charset="0"/>
              <a:cs typeface="Times New Roman" panose="02020603050405020304" pitchFamily="18" charset="0"/>
            </a:endParaRPr>
          </a:p>
          <a:p>
            <a:pPr algn="just">
              <a:lnSpc>
                <a:spcPct val="150000"/>
              </a:lnSpc>
            </a:pPr>
            <a:r>
              <a:rPr lang="en-US" sz="1800" dirty="0">
                <a:solidFill>
                  <a:schemeClr val="accent4"/>
                </a:solidFill>
                <a:latin typeface="Times New Roman" panose="02020603050405020304" pitchFamily="18" charset="0"/>
                <a:cs typeface="Times New Roman" panose="02020603050405020304" pitchFamily="18" charset="0"/>
              </a:rPr>
              <a:t>Unit testing focuses on verifying the smallest components of a system individually. In the Cryptocurrency Money Laundering Detection System, modules like data collection, preprocessing, feature extraction, model training, and transaction detection are tested separately. Each function is checked with different inputs to ensure correct outputs. This helps identify errors early and ensures each module works properly, improving overall system reliability.</a:t>
            </a:r>
          </a:p>
          <a:p>
            <a:endParaRPr lang="en-US" sz="1800" dirty="0">
              <a:solidFill>
                <a:schemeClr val="accent4"/>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8483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5582BB-E259-461C-BAB0-CDD095745EA2}"/>
              </a:ext>
            </a:extLst>
          </p:cNvPr>
          <p:cNvSpPr txBox="1"/>
          <p:nvPr/>
        </p:nvSpPr>
        <p:spPr>
          <a:xfrm>
            <a:off x="128788" y="141667"/>
            <a:ext cx="9015211" cy="3616375"/>
          </a:xfrm>
          <a:prstGeom prst="rect">
            <a:avLst/>
          </a:prstGeom>
          <a:noFill/>
        </p:spPr>
        <p:txBody>
          <a:bodyPr wrap="square" rtlCol="0">
            <a:spAutoFit/>
          </a:bodyPr>
          <a:lstStyle/>
          <a:p>
            <a:r>
              <a:rPr lang="en-US" sz="2000" b="1" dirty="0">
                <a:solidFill>
                  <a:schemeClr val="accent4"/>
                </a:solidFill>
                <a:latin typeface="Times New Roman" panose="02020603050405020304" pitchFamily="18" charset="0"/>
                <a:cs typeface="Times New Roman" panose="02020603050405020304" pitchFamily="18" charset="0"/>
              </a:rPr>
              <a:t>INTEGRATION TESTING</a:t>
            </a:r>
          </a:p>
          <a:p>
            <a:pPr algn="just">
              <a:lnSpc>
                <a:spcPct val="150000"/>
              </a:lnSpc>
            </a:pPr>
            <a:r>
              <a:rPr lang="en-US" sz="1800" dirty="0">
                <a:solidFill>
                  <a:schemeClr val="accent4"/>
                </a:solidFill>
                <a:latin typeface="Times New Roman" panose="02020603050405020304" pitchFamily="18" charset="0"/>
                <a:cs typeface="Times New Roman" panose="02020603050405020304" pitchFamily="18" charset="0"/>
              </a:rPr>
              <a:t>Integration testing ensures that different modules of the system work together smoothly. In this system, it verifies the connection between data collection, preprocessing, feature extraction, model training, and transaction detection. It checks whether data flows correctly between modules and is properly used at each stage. It also ensures that prediction results are accurately generated and displayed or stored. This helps identify issues related to module interaction, interfaces, and overall system functionality.</a:t>
            </a:r>
          </a:p>
          <a:p>
            <a:pPr algn="just">
              <a:lnSpc>
                <a:spcPct val="150000"/>
              </a:lnSpc>
            </a:pPr>
            <a:endParaRPr lang="en-US" sz="1800" dirty="0">
              <a:solidFill>
                <a:schemeClr val="accent4"/>
              </a:solidFill>
              <a:latin typeface="Times New Roman" panose="02020603050405020304" pitchFamily="18" charset="0"/>
              <a:cs typeface="Times New Roman" panose="02020603050405020304" pitchFamily="18" charset="0"/>
            </a:endParaRPr>
          </a:p>
          <a:p>
            <a:endParaRPr lang="en-US" sz="2000" dirty="0">
              <a:solidFill>
                <a:schemeClr val="accent4"/>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50246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38A77A-6B8C-4E5E-9360-7B590237A5A8}"/>
              </a:ext>
            </a:extLst>
          </p:cNvPr>
          <p:cNvSpPr txBox="1"/>
          <p:nvPr/>
        </p:nvSpPr>
        <p:spPr>
          <a:xfrm>
            <a:off x="0" y="64394"/>
            <a:ext cx="9144000" cy="954107"/>
          </a:xfrm>
          <a:prstGeom prst="rect">
            <a:avLst/>
          </a:prstGeom>
          <a:noFill/>
        </p:spPr>
        <p:txBody>
          <a:bodyPr wrap="square" rtlCol="0">
            <a:spAutoFit/>
          </a:bodyPr>
          <a:lstStyle/>
          <a:p>
            <a:r>
              <a:rPr lang="en-US" sz="2800" dirty="0">
                <a:solidFill>
                  <a:schemeClr val="accent4"/>
                </a:solidFill>
                <a:latin typeface="Times New Roman" panose="02020603050405020304" pitchFamily="18" charset="0"/>
                <a:cs typeface="Times New Roman" panose="02020603050405020304" pitchFamily="18" charset="0"/>
              </a:rPr>
              <a:t>                                      </a:t>
            </a:r>
            <a:r>
              <a:rPr lang="en-US" sz="2800" b="1" dirty="0">
                <a:solidFill>
                  <a:schemeClr val="accent4"/>
                </a:solidFill>
                <a:latin typeface="Times New Roman" panose="02020603050405020304" pitchFamily="18" charset="0"/>
                <a:cs typeface="Times New Roman" panose="02020603050405020304" pitchFamily="18" charset="0"/>
              </a:rPr>
              <a:t>TEST CASES</a:t>
            </a:r>
          </a:p>
          <a:p>
            <a:endParaRPr lang="en-US" sz="2800" dirty="0">
              <a:solidFill>
                <a:schemeClr val="accent4"/>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03FE180-2549-4038-B475-DBC0B649751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0" y="598867"/>
            <a:ext cx="9144000" cy="4544633"/>
          </a:xfrm>
          <a:prstGeom prst="rect">
            <a:avLst/>
          </a:prstGeom>
          <a:noFill/>
        </p:spPr>
      </p:pic>
    </p:spTree>
    <p:extLst>
      <p:ext uri="{BB962C8B-B14F-4D97-AF65-F5344CB8AC3E}">
        <p14:creationId xmlns:p14="http://schemas.microsoft.com/office/powerpoint/2010/main" val="24597415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1C8F55-4AE7-4C3D-9708-FBB98E382A04}"/>
              </a:ext>
            </a:extLst>
          </p:cNvPr>
          <p:cNvSpPr txBox="1"/>
          <p:nvPr/>
        </p:nvSpPr>
        <p:spPr>
          <a:xfrm>
            <a:off x="0" y="57955"/>
            <a:ext cx="9144000" cy="1200329"/>
          </a:xfrm>
          <a:prstGeom prst="rect">
            <a:avLst/>
          </a:prstGeom>
          <a:noFill/>
        </p:spPr>
        <p:txBody>
          <a:bodyPr wrap="square" rtlCol="0">
            <a:spAutoFit/>
          </a:bodyPr>
          <a:lstStyle/>
          <a:p>
            <a:r>
              <a:rPr lang="en-US" sz="2400" dirty="0">
                <a:solidFill>
                  <a:schemeClr val="accent4"/>
                </a:solidFill>
                <a:latin typeface="Times New Roman" panose="02020603050405020304" pitchFamily="18" charset="0"/>
                <a:cs typeface="Times New Roman" panose="02020603050405020304" pitchFamily="18" charset="0"/>
              </a:rPr>
              <a:t>OUTPUT SCREENSHOTS</a:t>
            </a:r>
          </a:p>
          <a:p>
            <a:endParaRPr lang="en-US" sz="2400" dirty="0">
              <a:solidFill>
                <a:schemeClr val="accent4"/>
              </a:solidFill>
              <a:latin typeface="Times New Roman" panose="02020603050405020304" pitchFamily="18" charset="0"/>
              <a:cs typeface="Times New Roman" panose="02020603050405020304" pitchFamily="18" charset="0"/>
            </a:endParaRPr>
          </a:p>
          <a:p>
            <a:endParaRPr lang="en-US" sz="2400" dirty="0">
              <a:solidFill>
                <a:schemeClr val="accent4"/>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2123EF0-2AD2-4D90-8645-4AFFC5FAB1C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850006" y="528034"/>
            <a:ext cx="7534140" cy="4295104"/>
          </a:xfrm>
          <a:prstGeom prst="rect">
            <a:avLst/>
          </a:prstGeom>
          <a:noFill/>
        </p:spPr>
      </p:pic>
    </p:spTree>
    <p:extLst>
      <p:ext uri="{BB962C8B-B14F-4D97-AF65-F5344CB8AC3E}">
        <p14:creationId xmlns:p14="http://schemas.microsoft.com/office/powerpoint/2010/main" val="34067093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D8CFDD-8D07-4D50-B484-DC118048A9E7}"/>
              </a:ext>
            </a:extLst>
          </p:cNvPr>
          <p:cNvSpPr txBox="1"/>
          <p:nvPr/>
        </p:nvSpPr>
        <p:spPr>
          <a:xfrm>
            <a:off x="0" y="75958"/>
            <a:ext cx="9144000" cy="523220"/>
          </a:xfrm>
          <a:prstGeom prst="rect">
            <a:avLst/>
          </a:prstGeom>
          <a:noFill/>
        </p:spPr>
        <p:txBody>
          <a:bodyPr wrap="square" rtlCol="0">
            <a:spAutoFit/>
          </a:bodyPr>
          <a:lstStyle/>
          <a:p>
            <a:endParaRPr lang="en-US" dirty="0">
              <a:solidFill>
                <a:schemeClr val="accent4"/>
              </a:solidFill>
            </a:endParaRPr>
          </a:p>
          <a:p>
            <a:endParaRPr lang="en-US" dirty="0">
              <a:solidFill>
                <a:schemeClr val="accent4"/>
              </a:solidFill>
            </a:endParaRPr>
          </a:p>
        </p:txBody>
      </p:sp>
      <p:pic>
        <p:nvPicPr>
          <p:cNvPr id="3" name="Picture 2">
            <a:extLst>
              <a:ext uri="{FF2B5EF4-FFF2-40B4-BE49-F238E27FC236}">
                <a16:creationId xmlns:a16="http://schemas.microsoft.com/office/drawing/2014/main" id="{180E96E0-242A-4967-AA60-3117A8EC18AD}"/>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875763" y="395802"/>
            <a:ext cx="7340958" cy="3841347"/>
          </a:xfrm>
          <a:prstGeom prst="rect">
            <a:avLst/>
          </a:prstGeom>
          <a:noFill/>
        </p:spPr>
      </p:pic>
    </p:spTree>
    <p:extLst>
      <p:ext uri="{BB962C8B-B14F-4D97-AF65-F5344CB8AC3E}">
        <p14:creationId xmlns:p14="http://schemas.microsoft.com/office/powerpoint/2010/main" val="14864085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4538AA-EAD7-42B0-83E9-D21F6647510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882203" y="387350"/>
            <a:ext cx="7347397" cy="3920633"/>
          </a:xfrm>
          <a:prstGeom prst="rect">
            <a:avLst/>
          </a:prstGeom>
          <a:noFill/>
        </p:spPr>
      </p:pic>
    </p:spTree>
    <p:extLst>
      <p:ext uri="{BB962C8B-B14F-4D97-AF65-F5344CB8AC3E}">
        <p14:creationId xmlns:p14="http://schemas.microsoft.com/office/powerpoint/2010/main" val="2038530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E45D88-16EF-4B66-8D0E-0308F96A5242}"/>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94703" y="321972"/>
            <a:ext cx="6890197" cy="4192878"/>
          </a:xfrm>
          <a:prstGeom prst="rect">
            <a:avLst/>
          </a:prstGeom>
          <a:noFill/>
        </p:spPr>
      </p:pic>
    </p:spTree>
    <p:extLst>
      <p:ext uri="{BB962C8B-B14F-4D97-AF65-F5344CB8AC3E}">
        <p14:creationId xmlns:p14="http://schemas.microsoft.com/office/powerpoint/2010/main" val="32699346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7A6B12-9A07-4DD5-855F-92549DE1B898}"/>
              </a:ext>
            </a:extLst>
          </p:cNvPr>
          <p:cNvSpPr txBox="1"/>
          <p:nvPr/>
        </p:nvSpPr>
        <p:spPr>
          <a:xfrm>
            <a:off x="0" y="45076"/>
            <a:ext cx="9144000" cy="4154984"/>
          </a:xfrm>
          <a:prstGeom prst="rect">
            <a:avLst/>
          </a:prstGeom>
          <a:noFill/>
        </p:spPr>
        <p:txBody>
          <a:bodyPr wrap="square" rtlCol="0">
            <a:spAutoFit/>
          </a:bodyPr>
          <a:lstStyle/>
          <a:p>
            <a:r>
              <a:rPr lang="en-US" sz="2400" dirty="0">
                <a:solidFill>
                  <a:schemeClr val="accent4"/>
                </a:solidFill>
                <a:latin typeface="Times New Roman" panose="02020603050405020304" pitchFamily="18" charset="0"/>
                <a:cs typeface="Times New Roman" panose="02020603050405020304" pitchFamily="18" charset="0"/>
              </a:rPr>
              <a:t>                                           </a:t>
            </a:r>
            <a:r>
              <a:rPr lang="en-US" sz="2400" b="1" dirty="0">
                <a:solidFill>
                  <a:schemeClr val="accent4"/>
                </a:solidFill>
                <a:latin typeface="Times New Roman" panose="02020603050405020304" pitchFamily="18" charset="0"/>
                <a:cs typeface="Times New Roman" panose="02020603050405020304" pitchFamily="18" charset="0"/>
              </a:rPr>
              <a:t>CONCLUSION</a:t>
            </a:r>
          </a:p>
          <a:p>
            <a:pPr algn="just">
              <a:lnSpc>
                <a:spcPct val="150000"/>
              </a:lnSpc>
            </a:pPr>
            <a:r>
              <a:rPr lang="en-US" sz="1800" dirty="0">
                <a:solidFill>
                  <a:schemeClr val="accent4"/>
                </a:solidFill>
                <a:latin typeface="Times New Roman" panose="02020603050405020304" pitchFamily="18" charset="0"/>
                <a:cs typeface="Times New Roman" panose="02020603050405020304" pitchFamily="18" charset="0"/>
              </a:rPr>
              <a:t>The rapid growth of cryptocurrencies has improved digital transactions by making them fast and decentralized. However, the pseudo-anonymous nature of the </a:t>
            </a:r>
            <a:r>
              <a:rPr lang="en-US" sz="1800" dirty="0" err="1">
                <a:solidFill>
                  <a:schemeClr val="accent4"/>
                </a:solidFill>
                <a:latin typeface="Times New Roman" panose="02020603050405020304" pitchFamily="18" charset="0"/>
                <a:cs typeface="Times New Roman" panose="02020603050405020304" pitchFamily="18" charset="0"/>
              </a:rPr>
              <a:t>CryptoCurrency</a:t>
            </a:r>
            <a:r>
              <a:rPr lang="en-US" sz="1800" dirty="0">
                <a:solidFill>
                  <a:schemeClr val="accent4"/>
                </a:solidFill>
                <a:latin typeface="Times New Roman" panose="02020603050405020304" pitchFamily="18" charset="0"/>
                <a:cs typeface="Times New Roman" panose="02020603050405020304" pitchFamily="18" charset="0"/>
              </a:rPr>
              <a:t> transaction data also creates opportunities for illegal activities like money laundering.</a:t>
            </a:r>
          </a:p>
          <a:p>
            <a:pPr algn="just">
              <a:lnSpc>
                <a:spcPct val="150000"/>
              </a:lnSpc>
            </a:pPr>
            <a:r>
              <a:rPr lang="en-US" sz="1800" dirty="0">
                <a:solidFill>
                  <a:schemeClr val="accent4"/>
                </a:solidFill>
                <a:latin typeface="Times New Roman" panose="02020603050405020304" pitchFamily="18" charset="0"/>
                <a:cs typeface="Times New Roman" panose="02020603050405020304" pitchFamily="18" charset="0"/>
              </a:rPr>
              <a:t>This project uses machine learning techniques such as Support Vector Machine, Linear Regression, and </a:t>
            </a:r>
            <a:r>
              <a:rPr lang="en-US" sz="1800" dirty="0" err="1">
                <a:solidFill>
                  <a:schemeClr val="accent4"/>
                </a:solidFill>
                <a:latin typeface="Times New Roman" panose="02020603050405020304" pitchFamily="18" charset="0"/>
                <a:cs typeface="Times New Roman" panose="02020603050405020304" pitchFamily="18" charset="0"/>
              </a:rPr>
              <a:t>XGBoost</a:t>
            </a:r>
            <a:r>
              <a:rPr lang="en-US" sz="1800" dirty="0">
                <a:solidFill>
                  <a:schemeClr val="accent4"/>
                </a:solidFill>
                <a:latin typeface="Times New Roman" panose="02020603050405020304" pitchFamily="18" charset="0"/>
                <a:cs typeface="Times New Roman" panose="02020603050405020304" pitchFamily="18" charset="0"/>
              </a:rPr>
              <a:t> to detect suspicious transactions. The system analyzes features like transaction amount, wallet addresses, and transaction frequency.</a:t>
            </a:r>
          </a:p>
          <a:p>
            <a:pPr algn="just">
              <a:lnSpc>
                <a:spcPct val="150000"/>
              </a:lnSpc>
            </a:pPr>
            <a:r>
              <a:rPr lang="en-US" sz="1800" dirty="0">
                <a:solidFill>
                  <a:schemeClr val="accent4"/>
                </a:solidFill>
                <a:latin typeface="Times New Roman" panose="02020603050405020304" pitchFamily="18" charset="0"/>
                <a:cs typeface="Times New Roman" panose="02020603050405020304" pitchFamily="18" charset="0"/>
              </a:rPr>
              <a:t>In conclusion, the project shows that machine learning can effectively detect money laundering and improve monitoring of cryptocurrency transactions.</a:t>
            </a:r>
          </a:p>
          <a:p>
            <a:endParaRPr lang="en-US" sz="2400" b="1" dirty="0">
              <a:solidFill>
                <a:schemeClr val="accent4"/>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60184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47B104-0C63-4A36-90F7-8DC758E6C256}"/>
              </a:ext>
            </a:extLst>
          </p:cNvPr>
          <p:cNvSpPr txBox="1"/>
          <p:nvPr/>
        </p:nvSpPr>
        <p:spPr>
          <a:xfrm>
            <a:off x="186743" y="128788"/>
            <a:ext cx="9144000" cy="5170646"/>
          </a:xfrm>
          <a:prstGeom prst="rect">
            <a:avLst/>
          </a:prstGeom>
          <a:noFill/>
        </p:spPr>
        <p:txBody>
          <a:bodyPr wrap="square" rtlCol="0">
            <a:spAutoFit/>
          </a:bodyPr>
          <a:lstStyle/>
          <a:p>
            <a:r>
              <a:rPr lang="en-US" sz="2400" dirty="0">
                <a:solidFill>
                  <a:schemeClr val="accent4"/>
                </a:solidFill>
                <a:latin typeface="Times New Roman" panose="02020603050405020304" pitchFamily="18" charset="0"/>
                <a:cs typeface="Times New Roman" panose="02020603050405020304" pitchFamily="18" charset="0"/>
              </a:rPr>
              <a:t>                             </a:t>
            </a:r>
            <a:r>
              <a:rPr lang="en-US" sz="2400" b="1" dirty="0">
                <a:solidFill>
                  <a:schemeClr val="accent4"/>
                </a:solidFill>
                <a:latin typeface="Times New Roman" panose="02020603050405020304" pitchFamily="18" charset="0"/>
                <a:cs typeface="Times New Roman" panose="02020603050405020304" pitchFamily="18" charset="0"/>
              </a:rPr>
              <a:t>FUTURE ENHANCEMENT</a:t>
            </a:r>
          </a:p>
          <a:p>
            <a:pPr marL="342900" indent="-342900" algn="just">
              <a:lnSpc>
                <a:spcPct val="200000"/>
              </a:lnSpc>
              <a:buClr>
                <a:schemeClr val="accent4"/>
              </a:buClr>
              <a:buFont typeface="Wingdings" panose="05000000000000000000" pitchFamily="2" charset="2"/>
              <a:buChar char="Ø"/>
            </a:pPr>
            <a:r>
              <a:rPr lang="en-US" sz="2400" dirty="0">
                <a:solidFill>
                  <a:schemeClr val="accent4"/>
                </a:solidFill>
                <a:latin typeface="Times New Roman" panose="02020603050405020304" pitchFamily="18" charset="0"/>
                <a:cs typeface="Times New Roman" panose="02020603050405020304" pitchFamily="18" charset="0"/>
              </a:rPr>
              <a:t>Real-time detection of illegal crypto transactions.</a:t>
            </a:r>
          </a:p>
          <a:p>
            <a:pPr marL="342900" indent="-342900" algn="just">
              <a:lnSpc>
                <a:spcPct val="200000"/>
              </a:lnSpc>
              <a:buClr>
                <a:schemeClr val="accent4"/>
              </a:buClr>
              <a:buFont typeface="Wingdings" panose="05000000000000000000" pitchFamily="2" charset="2"/>
              <a:buChar char="Ø"/>
            </a:pPr>
            <a:r>
              <a:rPr lang="en-US" sz="2400" dirty="0">
                <a:solidFill>
                  <a:schemeClr val="accent4"/>
                </a:solidFill>
                <a:latin typeface="Times New Roman" panose="02020603050405020304" pitchFamily="18" charset="0"/>
                <a:cs typeface="Times New Roman" panose="02020603050405020304" pitchFamily="18" charset="0"/>
              </a:rPr>
              <a:t> Support for other cryptocurrencies like Ethereum and Litecoin.</a:t>
            </a:r>
          </a:p>
          <a:p>
            <a:pPr marL="342900" indent="-342900" algn="just">
              <a:lnSpc>
                <a:spcPct val="200000"/>
              </a:lnSpc>
              <a:buClr>
                <a:schemeClr val="accent4"/>
              </a:buClr>
              <a:buFont typeface="Wingdings" panose="05000000000000000000" pitchFamily="2" charset="2"/>
              <a:buChar char="Ø"/>
            </a:pPr>
            <a:r>
              <a:rPr lang="en-US" sz="2400" dirty="0">
                <a:solidFill>
                  <a:schemeClr val="accent4"/>
                </a:solidFill>
                <a:latin typeface="Times New Roman" panose="02020603050405020304" pitchFamily="18" charset="0"/>
                <a:cs typeface="Times New Roman" panose="02020603050405020304" pitchFamily="18" charset="0"/>
              </a:rPr>
              <a:t> Use of advanced deep learning techniques for better accuracy.</a:t>
            </a:r>
          </a:p>
          <a:p>
            <a:pPr marL="342900" indent="-342900" algn="just">
              <a:lnSpc>
                <a:spcPct val="200000"/>
              </a:lnSpc>
              <a:buClr>
                <a:schemeClr val="accent4"/>
              </a:buClr>
              <a:buFont typeface="Wingdings" panose="05000000000000000000" pitchFamily="2" charset="2"/>
              <a:buChar char="Ø"/>
            </a:pPr>
            <a:r>
              <a:rPr lang="en-US" sz="2400" dirty="0">
                <a:solidFill>
                  <a:schemeClr val="accent4"/>
                </a:solidFill>
                <a:latin typeface="Times New Roman" panose="02020603050405020304" pitchFamily="18" charset="0"/>
                <a:cs typeface="Times New Roman" panose="02020603050405020304" pitchFamily="18" charset="0"/>
              </a:rPr>
              <a:t> Integration with banks and crypto exchanges for automatic alerts.</a:t>
            </a:r>
          </a:p>
          <a:p>
            <a:pPr marL="342900" indent="-342900" algn="just">
              <a:lnSpc>
                <a:spcPct val="200000"/>
              </a:lnSpc>
              <a:buClr>
                <a:schemeClr val="accent4"/>
              </a:buClr>
              <a:buFont typeface="Wingdings" panose="05000000000000000000" pitchFamily="2" charset="2"/>
              <a:buChar char="Ø"/>
            </a:pPr>
            <a:r>
              <a:rPr lang="en-US" sz="2400" dirty="0">
                <a:solidFill>
                  <a:schemeClr val="accent4"/>
                </a:solidFill>
                <a:latin typeface="Times New Roman" panose="02020603050405020304" pitchFamily="18" charset="0"/>
                <a:cs typeface="Times New Roman" panose="02020603050405020304" pitchFamily="18" charset="0"/>
              </a:rPr>
              <a:t> Better handling of large-scale crypto data.</a:t>
            </a:r>
          </a:p>
          <a:p>
            <a:pPr marL="342900" indent="-342900" algn="just">
              <a:lnSpc>
                <a:spcPct val="200000"/>
              </a:lnSpc>
              <a:buClr>
                <a:schemeClr val="accent4"/>
              </a:buClr>
              <a:buFont typeface="Wingdings" panose="05000000000000000000" pitchFamily="2" charset="2"/>
              <a:buChar char="Ø"/>
            </a:pPr>
            <a:r>
              <a:rPr lang="en-US" sz="2400" dirty="0">
                <a:solidFill>
                  <a:schemeClr val="accent4"/>
                </a:solidFill>
                <a:latin typeface="Times New Roman" panose="02020603050405020304" pitchFamily="18" charset="0"/>
                <a:cs typeface="Times New Roman" panose="02020603050405020304" pitchFamily="18" charset="0"/>
              </a:rPr>
              <a:t> Addition of privacy-preserving techniques for secure monitoring.</a:t>
            </a:r>
          </a:p>
          <a:p>
            <a:endParaRPr lang="en-US" sz="1800" dirty="0">
              <a:solidFill>
                <a:schemeClr val="accent4"/>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12769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oogle Shape;919;p48">
            <a:extLst>
              <a:ext uri="{FF2B5EF4-FFF2-40B4-BE49-F238E27FC236}">
                <a16:creationId xmlns:a16="http://schemas.microsoft.com/office/drawing/2014/main" id="{92E7AA87-7519-4CB0-BC31-8CD9165CC253}"/>
              </a:ext>
            </a:extLst>
          </p:cNvPr>
          <p:cNvGrpSpPr/>
          <p:nvPr/>
        </p:nvGrpSpPr>
        <p:grpSpPr>
          <a:xfrm>
            <a:off x="6296722" y="724739"/>
            <a:ext cx="2480061" cy="2375299"/>
            <a:chOff x="3186425" y="4160625"/>
            <a:chExt cx="533679" cy="414643"/>
          </a:xfrm>
        </p:grpSpPr>
        <p:grpSp>
          <p:nvGrpSpPr>
            <p:cNvPr id="4" name="Google Shape;920;p48">
              <a:extLst>
                <a:ext uri="{FF2B5EF4-FFF2-40B4-BE49-F238E27FC236}">
                  <a16:creationId xmlns:a16="http://schemas.microsoft.com/office/drawing/2014/main" id="{A46C404E-7C8D-43CA-B068-B3886C3FF0AE}"/>
                </a:ext>
              </a:extLst>
            </p:cNvPr>
            <p:cNvGrpSpPr/>
            <p:nvPr/>
          </p:nvGrpSpPr>
          <p:grpSpPr>
            <a:xfrm>
              <a:off x="3248670" y="4212301"/>
              <a:ext cx="409169" cy="311298"/>
              <a:chOff x="3248670" y="4212301"/>
              <a:chExt cx="409169" cy="311298"/>
            </a:xfrm>
          </p:grpSpPr>
          <p:sp>
            <p:nvSpPr>
              <p:cNvPr id="6" name="Google Shape;921;p48">
                <a:extLst>
                  <a:ext uri="{FF2B5EF4-FFF2-40B4-BE49-F238E27FC236}">
                    <a16:creationId xmlns:a16="http://schemas.microsoft.com/office/drawing/2014/main" id="{1B152615-5BF8-488E-8602-A2327C68C0F4}"/>
                  </a:ext>
                </a:extLst>
              </p:cNvPr>
              <p:cNvSpPr/>
              <p:nvPr/>
            </p:nvSpPr>
            <p:spPr>
              <a:xfrm>
                <a:off x="3249849" y="4212301"/>
                <a:ext cx="337457" cy="246269"/>
              </a:xfrm>
              <a:custGeom>
                <a:avLst/>
                <a:gdLst/>
                <a:ahLst/>
                <a:cxnLst/>
                <a:rect l="l" t="t" r="r" b="b"/>
                <a:pathLst>
                  <a:path w="7727" h="5639" extrusionOk="0">
                    <a:moveTo>
                      <a:pt x="7726" y="1303"/>
                    </a:moveTo>
                    <a:cubicBezTo>
                      <a:pt x="7682" y="1187"/>
                      <a:pt x="7637" y="1124"/>
                      <a:pt x="7584" y="1008"/>
                    </a:cubicBezTo>
                    <a:cubicBezTo>
                      <a:pt x="7432" y="696"/>
                      <a:pt x="7209" y="393"/>
                      <a:pt x="6852" y="294"/>
                    </a:cubicBezTo>
                    <a:cubicBezTo>
                      <a:pt x="6549" y="205"/>
                      <a:pt x="6228" y="286"/>
                      <a:pt x="5915" y="312"/>
                    </a:cubicBezTo>
                    <a:cubicBezTo>
                      <a:pt x="5398" y="348"/>
                      <a:pt x="4889" y="250"/>
                      <a:pt x="4381" y="161"/>
                    </a:cubicBezTo>
                    <a:cubicBezTo>
                      <a:pt x="3872" y="71"/>
                      <a:pt x="3346" y="0"/>
                      <a:pt x="2838" y="98"/>
                    </a:cubicBezTo>
                    <a:cubicBezTo>
                      <a:pt x="2338" y="205"/>
                      <a:pt x="1847" y="509"/>
                      <a:pt x="1651" y="990"/>
                    </a:cubicBezTo>
                    <a:cubicBezTo>
                      <a:pt x="1473" y="1436"/>
                      <a:pt x="750" y="1677"/>
                      <a:pt x="527" y="2105"/>
                    </a:cubicBezTo>
                    <a:cubicBezTo>
                      <a:pt x="286" y="2578"/>
                      <a:pt x="545" y="3096"/>
                      <a:pt x="277" y="3560"/>
                    </a:cubicBezTo>
                    <a:cubicBezTo>
                      <a:pt x="1" y="4032"/>
                      <a:pt x="117" y="4675"/>
                      <a:pt x="482" y="5085"/>
                    </a:cubicBezTo>
                    <a:cubicBezTo>
                      <a:pt x="741" y="5370"/>
                      <a:pt x="1080" y="5549"/>
                      <a:pt x="1455" y="5638"/>
                    </a:cubicBezTo>
                  </a:path>
                </a:pathLst>
              </a:custGeom>
              <a:gradFill>
                <a:gsLst>
                  <a:gs pos="0">
                    <a:schemeClr val="dk2"/>
                  </a:gs>
                  <a:gs pos="100000">
                    <a:schemeClr val="accent1"/>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922;p48">
                <a:extLst>
                  <a:ext uri="{FF2B5EF4-FFF2-40B4-BE49-F238E27FC236}">
                    <a16:creationId xmlns:a16="http://schemas.microsoft.com/office/drawing/2014/main" id="{40A19DCD-FAAE-472C-A62F-4537F07E8E6C}"/>
                  </a:ext>
                </a:extLst>
              </p:cNvPr>
              <p:cNvSpPr/>
              <p:nvPr/>
            </p:nvSpPr>
            <p:spPr>
              <a:xfrm>
                <a:off x="3304790" y="4265276"/>
                <a:ext cx="353048" cy="258323"/>
              </a:xfrm>
              <a:custGeom>
                <a:avLst/>
                <a:gdLst/>
                <a:ahLst/>
                <a:cxnLst/>
                <a:rect l="l" t="t" r="r" b="b"/>
                <a:pathLst>
                  <a:path w="8084" h="5915" extrusionOk="0">
                    <a:moveTo>
                      <a:pt x="7164" y="72"/>
                    </a:moveTo>
                    <a:cubicBezTo>
                      <a:pt x="6879" y="0"/>
                      <a:pt x="6566" y="72"/>
                      <a:pt x="6281" y="152"/>
                    </a:cubicBezTo>
                    <a:cubicBezTo>
                      <a:pt x="5995" y="241"/>
                      <a:pt x="5710" y="348"/>
                      <a:pt x="5407" y="366"/>
                    </a:cubicBezTo>
                    <a:cubicBezTo>
                      <a:pt x="5050" y="384"/>
                      <a:pt x="4693" y="259"/>
                      <a:pt x="4336" y="188"/>
                    </a:cubicBezTo>
                    <a:cubicBezTo>
                      <a:pt x="3988" y="107"/>
                      <a:pt x="3587" y="90"/>
                      <a:pt x="3292" y="295"/>
                    </a:cubicBezTo>
                    <a:cubicBezTo>
                      <a:pt x="3007" y="491"/>
                      <a:pt x="2481" y="589"/>
                      <a:pt x="2240" y="839"/>
                    </a:cubicBezTo>
                    <a:cubicBezTo>
                      <a:pt x="1954" y="1124"/>
                      <a:pt x="1927" y="1490"/>
                      <a:pt x="1562" y="1669"/>
                    </a:cubicBezTo>
                    <a:cubicBezTo>
                      <a:pt x="884" y="1990"/>
                      <a:pt x="313" y="2596"/>
                      <a:pt x="152" y="3337"/>
                    </a:cubicBezTo>
                    <a:cubicBezTo>
                      <a:pt x="1" y="4068"/>
                      <a:pt x="340" y="4925"/>
                      <a:pt x="1018" y="5246"/>
                    </a:cubicBezTo>
                    <a:cubicBezTo>
                      <a:pt x="1374" y="5406"/>
                      <a:pt x="1776" y="5424"/>
                      <a:pt x="2151" y="5540"/>
                    </a:cubicBezTo>
                    <a:cubicBezTo>
                      <a:pt x="2454" y="5629"/>
                      <a:pt x="2739" y="5781"/>
                      <a:pt x="3060" y="5835"/>
                    </a:cubicBezTo>
                    <a:cubicBezTo>
                      <a:pt x="3596" y="5915"/>
                      <a:pt x="4131" y="5665"/>
                      <a:pt x="4568" y="5335"/>
                    </a:cubicBezTo>
                    <a:cubicBezTo>
                      <a:pt x="5005" y="5014"/>
                      <a:pt x="5380" y="4604"/>
                      <a:pt x="5826" y="4300"/>
                    </a:cubicBezTo>
                    <a:cubicBezTo>
                      <a:pt x="6138" y="4077"/>
                      <a:pt x="6495" y="3899"/>
                      <a:pt x="6789" y="3649"/>
                    </a:cubicBezTo>
                    <a:cubicBezTo>
                      <a:pt x="7012" y="3453"/>
                      <a:pt x="7200" y="3203"/>
                      <a:pt x="7387" y="2962"/>
                    </a:cubicBezTo>
                    <a:cubicBezTo>
                      <a:pt x="7664" y="2596"/>
                      <a:pt x="7949" y="2204"/>
                      <a:pt x="8012" y="1749"/>
                    </a:cubicBezTo>
                    <a:cubicBezTo>
                      <a:pt x="8083" y="1196"/>
                      <a:pt x="7780" y="223"/>
                      <a:pt x="7164" y="72"/>
                    </a:cubicBezTo>
                  </a:path>
                </a:pathLst>
              </a:custGeom>
              <a:gradFill>
                <a:gsLst>
                  <a:gs pos="0">
                    <a:schemeClr val="dk2"/>
                  </a:gs>
                  <a:gs pos="100000">
                    <a:schemeClr val="accent1"/>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923;p48">
                <a:extLst>
                  <a:ext uri="{FF2B5EF4-FFF2-40B4-BE49-F238E27FC236}">
                    <a16:creationId xmlns:a16="http://schemas.microsoft.com/office/drawing/2014/main" id="{6B712FAE-6706-4D4B-87EB-EA2450BD40B8}"/>
                  </a:ext>
                </a:extLst>
              </p:cNvPr>
              <p:cNvSpPr/>
              <p:nvPr/>
            </p:nvSpPr>
            <p:spPr>
              <a:xfrm>
                <a:off x="3461010" y="4317465"/>
                <a:ext cx="51883" cy="56556"/>
              </a:xfrm>
              <a:custGeom>
                <a:avLst/>
                <a:gdLst/>
                <a:ahLst/>
                <a:cxnLst/>
                <a:rect l="l" t="t" r="r" b="b"/>
                <a:pathLst>
                  <a:path w="1188" h="1295" extrusionOk="0">
                    <a:moveTo>
                      <a:pt x="848" y="19"/>
                    </a:moveTo>
                    <a:cubicBezTo>
                      <a:pt x="839" y="36"/>
                      <a:pt x="848" y="54"/>
                      <a:pt x="866" y="63"/>
                    </a:cubicBezTo>
                    <a:lnTo>
                      <a:pt x="866" y="63"/>
                    </a:lnTo>
                    <a:cubicBezTo>
                      <a:pt x="1009" y="126"/>
                      <a:pt x="1116" y="268"/>
                      <a:pt x="1125" y="411"/>
                    </a:cubicBezTo>
                    <a:lnTo>
                      <a:pt x="1125" y="411"/>
                    </a:lnTo>
                    <a:cubicBezTo>
                      <a:pt x="1125" y="598"/>
                      <a:pt x="964" y="750"/>
                      <a:pt x="831" y="821"/>
                    </a:cubicBezTo>
                    <a:lnTo>
                      <a:pt x="831" y="821"/>
                    </a:lnTo>
                    <a:cubicBezTo>
                      <a:pt x="715" y="875"/>
                      <a:pt x="599" y="911"/>
                      <a:pt x="474" y="937"/>
                    </a:cubicBezTo>
                    <a:lnTo>
                      <a:pt x="474" y="937"/>
                    </a:lnTo>
                    <a:cubicBezTo>
                      <a:pt x="420" y="955"/>
                      <a:pt x="358" y="973"/>
                      <a:pt x="295" y="991"/>
                    </a:cubicBezTo>
                    <a:lnTo>
                      <a:pt x="295" y="991"/>
                    </a:lnTo>
                    <a:cubicBezTo>
                      <a:pt x="126" y="1053"/>
                      <a:pt x="19" y="1143"/>
                      <a:pt x="1" y="1250"/>
                    </a:cubicBezTo>
                    <a:lnTo>
                      <a:pt x="1" y="1250"/>
                    </a:lnTo>
                    <a:cubicBezTo>
                      <a:pt x="1" y="1268"/>
                      <a:pt x="10" y="1285"/>
                      <a:pt x="28" y="1294"/>
                    </a:cubicBezTo>
                    <a:lnTo>
                      <a:pt x="28" y="1294"/>
                    </a:lnTo>
                    <a:cubicBezTo>
                      <a:pt x="28" y="1294"/>
                      <a:pt x="37" y="1294"/>
                      <a:pt x="37" y="1294"/>
                    </a:cubicBezTo>
                    <a:lnTo>
                      <a:pt x="37" y="1294"/>
                    </a:lnTo>
                    <a:cubicBezTo>
                      <a:pt x="45" y="1294"/>
                      <a:pt x="63" y="1276"/>
                      <a:pt x="63" y="1268"/>
                    </a:cubicBezTo>
                    <a:lnTo>
                      <a:pt x="63" y="1268"/>
                    </a:lnTo>
                    <a:cubicBezTo>
                      <a:pt x="81" y="1152"/>
                      <a:pt x="215" y="1089"/>
                      <a:pt x="313" y="1053"/>
                    </a:cubicBezTo>
                    <a:lnTo>
                      <a:pt x="313" y="1053"/>
                    </a:lnTo>
                    <a:cubicBezTo>
                      <a:pt x="376" y="1036"/>
                      <a:pt x="438" y="1018"/>
                      <a:pt x="492" y="1000"/>
                    </a:cubicBezTo>
                    <a:lnTo>
                      <a:pt x="492" y="1000"/>
                    </a:lnTo>
                    <a:cubicBezTo>
                      <a:pt x="616" y="964"/>
                      <a:pt x="741" y="937"/>
                      <a:pt x="857" y="875"/>
                    </a:cubicBezTo>
                    <a:lnTo>
                      <a:pt x="857" y="875"/>
                    </a:lnTo>
                    <a:cubicBezTo>
                      <a:pt x="1018" y="795"/>
                      <a:pt x="1187" y="625"/>
                      <a:pt x="1187" y="411"/>
                    </a:cubicBezTo>
                    <a:lnTo>
                      <a:pt x="1187" y="411"/>
                    </a:lnTo>
                    <a:cubicBezTo>
                      <a:pt x="1178" y="242"/>
                      <a:pt x="1062" y="81"/>
                      <a:pt x="884" y="1"/>
                    </a:cubicBezTo>
                    <a:lnTo>
                      <a:pt x="884" y="1"/>
                    </a:lnTo>
                    <a:cubicBezTo>
                      <a:pt x="884" y="1"/>
                      <a:pt x="875" y="1"/>
                      <a:pt x="875" y="1"/>
                    </a:cubicBezTo>
                    <a:lnTo>
                      <a:pt x="875" y="1"/>
                    </a:lnTo>
                    <a:cubicBezTo>
                      <a:pt x="857" y="1"/>
                      <a:pt x="848" y="10"/>
                      <a:pt x="848" y="19"/>
                    </a:cubicBezTo>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924;p48">
                <a:extLst>
                  <a:ext uri="{FF2B5EF4-FFF2-40B4-BE49-F238E27FC236}">
                    <a16:creationId xmlns:a16="http://schemas.microsoft.com/office/drawing/2014/main" id="{E0CF27F6-B2CE-4C59-B086-82C442504303}"/>
                  </a:ext>
                </a:extLst>
              </p:cNvPr>
              <p:cNvSpPr/>
              <p:nvPr/>
            </p:nvSpPr>
            <p:spPr>
              <a:xfrm>
                <a:off x="3548706" y="4278902"/>
                <a:ext cx="33934" cy="78348"/>
              </a:xfrm>
              <a:custGeom>
                <a:avLst/>
                <a:gdLst/>
                <a:ahLst/>
                <a:cxnLst/>
                <a:rect l="l" t="t" r="r" b="b"/>
                <a:pathLst>
                  <a:path w="777" h="1794" extrusionOk="0">
                    <a:moveTo>
                      <a:pt x="0" y="27"/>
                    </a:moveTo>
                    <a:cubicBezTo>
                      <a:pt x="0" y="36"/>
                      <a:pt x="9" y="54"/>
                      <a:pt x="27" y="63"/>
                    </a:cubicBezTo>
                    <a:lnTo>
                      <a:pt x="27" y="63"/>
                    </a:lnTo>
                    <a:cubicBezTo>
                      <a:pt x="375" y="143"/>
                      <a:pt x="642" y="464"/>
                      <a:pt x="678" y="839"/>
                    </a:cubicBezTo>
                    <a:lnTo>
                      <a:pt x="678" y="839"/>
                    </a:lnTo>
                    <a:cubicBezTo>
                      <a:pt x="714" y="1214"/>
                      <a:pt x="491" y="1588"/>
                      <a:pt x="152" y="1740"/>
                    </a:cubicBezTo>
                    <a:lnTo>
                      <a:pt x="152" y="1740"/>
                    </a:lnTo>
                    <a:cubicBezTo>
                      <a:pt x="134" y="1740"/>
                      <a:pt x="125" y="1758"/>
                      <a:pt x="134" y="1776"/>
                    </a:cubicBezTo>
                    <a:lnTo>
                      <a:pt x="134" y="1776"/>
                    </a:lnTo>
                    <a:cubicBezTo>
                      <a:pt x="134" y="1794"/>
                      <a:pt x="152" y="1794"/>
                      <a:pt x="161" y="1794"/>
                    </a:cubicBezTo>
                    <a:lnTo>
                      <a:pt x="161" y="1794"/>
                    </a:lnTo>
                    <a:cubicBezTo>
                      <a:pt x="161" y="1794"/>
                      <a:pt x="170" y="1794"/>
                      <a:pt x="170" y="1794"/>
                    </a:cubicBezTo>
                    <a:lnTo>
                      <a:pt x="170" y="1794"/>
                    </a:lnTo>
                    <a:cubicBezTo>
                      <a:pt x="544" y="1633"/>
                      <a:pt x="776" y="1232"/>
                      <a:pt x="741" y="830"/>
                    </a:cubicBezTo>
                    <a:lnTo>
                      <a:pt x="741" y="830"/>
                    </a:lnTo>
                    <a:cubicBezTo>
                      <a:pt x="705" y="429"/>
                      <a:pt x="419" y="81"/>
                      <a:pt x="36" y="1"/>
                    </a:cubicBezTo>
                    <a:lnTo>
                      <a:pt x="36" y="1"/>
                    </a:lnTo>
                    <a:cubicBezTo>
                      <a:pt x="36" y="1"/>
                      <a:pt x="36" y="1"/>
                      <a:pt x="27" y="1"/>
                    </a:cubicBezTo>
                    <a:lnTo>
                      <a:pt x="27" y="1"/>
                    </a:lnTo>
                    <a:cubicBezTo>
                      <a:pt x="18" y="1"/>
                      <a:pt x="0" y="9"/>
                      <a:pt x="0" y="27"/>
                    </a:cubicBezTo>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925;p48">
                <a:extLst>
                  <a:ext uri="{FF2B5EF4-FFF2-40B4-BE49-F238E27FC236}">
                    <a16:creationId xmlns:a16="http://schemas.microsoft.com/office/drawing/2014/main" id="{6D1BE3D0-CD7B-4F98-BDFE-5FA50D99831E}"/>
                  </a:ext>
                </a:extLst>
              </p:cNvPr>
              <p:cNvSpPr/>
              <p:nvPr/>
            </p:nvSpPr>
            <p:spPr>
              <a:xfrm>
                <a:off x="3404933" y="4414114"/>
                <a:ext cx="25374" cy="40135"/>
              </a:xfrm>
              <a:custGeom>
                <a:avLst/>
                <a:gdLst/>
                <a:ahLst/>
                <a:cxnLst/>
                <a:rect l="l" t="t" r="r" b="b"/>
                <a:pathLst>
                  <a:path w="581" h="919" extrusionOk="0">
                    <a:moveTo>
                      <a:pt x="536" y="0"/>
                    </a:moveTo>
                    <a:cubicBezTo>
                      <a:pt x="339" y="27"/>
                      <a:pt x="161" y="152"/>
                      <a:pt x="81" y="339"/>
                    </a:cubicBezTo>
                    <a:lnTo>
                      <a:pt x="81" y="339"/>
                    </a:lnTo>
                    <a:cubicBezTo>
                      <a:pt x="0" y="518"/>
                      <a:pt x="18" y="741"/>
                      <a:pt x="134" y="901"/>
                    </a:cubicBezTo>
                    <a:lnTo>
                      <a:pt x="134" y="901"/>
                    </a:lnTo>
                    <a:cubicBezTo>
                      <a:pt x="143" y="910"/>
                      <a:pt x="152" y="919"/>
                      <a:pt x="161" y="919"/>
                    </a:cubicBezTo>
                    <a:lnTo>
                      <a:pt x="161" y="919"/>
                    </a:lnTo>
                    <a:cubicBezTo>
                      <a:pt x="170" y="919"/>
                      <a:pt x="170" y="910"/>
                      <a:pt x="179" y="910"/>
                    </a:cubicBezTo>
                    <a:lnTo>
                      <a:pt x="179" y="910"/>
                    </a:lnTo>
                    <a:cubicBezTo>
                      <a:pt x="197" y="901"/>
                      <a:pt x="197" y="883"/>
                      <a:pt x="188" y="865"/>
                    </a:cubicBezTo>
                    <a:lnTo>
                      <a:pt x="188" y="865"/>
                    </a:lnTo>
                    <a:cubicBezTo>
                      <a:pt x="89" y="723"/>
                      <a:pt x="72" y="526"/>
                      <a:pt x="143" y="366"/>
                    </a:cubicBezTo>
                    <a:lnTo>
                      <a:pt x="143" y="366"/>
                    </a:lnTo>
                    <a:cubicBezTo>
                      <a:pt x="214" y="205"/>
                      <a:pt x="375" y="80"/>
                      <a:pt x="544" y="63"/>
                    </a:cubicBezTo>
                    <a:lnTo>
                      <a:pt x="544" y="63"/>
                    </a:lnTo>
                    <a:cubicBezTo>
                      <a:pt x="562" y="63"/>
                      <a:pt x="580" y="45"/>
                      <a:pt x="571" y="27"/>
                    </a:cubicBezTo>
                    <a:lnTo>
                      <a:pt x="571" y="27"/>
                    </a:lnTo>
                    <a:cubicBezTo>
                      <a:pt x="571" y="9"/>
                      <a:pt x="562" y="0"/>
                      <a:pt x="544" y="0"/>
                    </a:cubicBezTo>
                    <a:lnTo>
                      <a:pt x="544" y="0"/>
                    </a:lnTo>
                    <a:cubicBezTo>
                      <a:pt x="544" y="0"/>
                      <a:pt x="544" y="0"/>
                      <a:pt x="5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926;p48">
                <a:extLst>
                  <a:ext uri="{FF2B5EF4-FFF2-40B4-BE49-F238E27FC236}">
                    <a16:creationId xmlns:a16="http://schemas.microsoft.com/office/drawing/2014/main" id="{59DD2F3F-5DEE-4C2A-807A-48FCC8DB9900}"/>
                  </a:ext>
                </a:extLst>
              </p:cNvPr>
              <p:cNvSpPr/>
              <p:nvPr/>
            </p:nvSpPr>
            <p:spPr>
              <a:xfrm>
                <a:off x="3468827" y="4251257"/>
                <a:ext cx="14456" cy="15984"/>
              </a:xfrm>
              <a:custGeom>
                <a:avLst/>
                <a:gdLst/>
                <a:ahLst/>
                <a:cxnLst/>
                <a:rect l="l" t="t" r="r" b="b"/>
                <a:pathLst>
                  <a:path w="331" h="366" extrusionOk="0">
                    <a:moveTo>
                      <a:pt x="54" y="98"/>
                    </a:moveTo>
                    <a:cubicBezTo>
                      <a:pt x="0" y="179"/>
                      <a:pt x="9" y="286"/>
                      <a:pt x="72" y="357"/>
                    </a:cubicBezTo>
                    <a:lnTo>
                      <a:pt x="72" y="357"/>
                    </a:lnTo>
                    <a:cubicBezTo>
                      <a:pt x="72" y="366"/>
                      <a:pt x="81" y="366"/>
                      <a:pt x="90" y="366"/>
                    </a:cubicBezTo>
                    <a:lnTo>
                      <a:pt x="90" y="366"/>
                    </a:lnTo>
                    <a:cubicBezTo>
                      <a:pt x="98" y="366"/>
                      <a:pt x="107" y="366"/>
                      <a:pt x="116" y="366"/>
                    </a:cubicBezTo>
                    <a:lnTo>
                      <a:pt x="116" y="366"/>
                    </a:lnTo>
                    <a:cubicBezTo>
                      <a:pt x="125" y="348"/>
                      <a:pt x="125" y="330"/>
                      <a:pt x="116" y="321"/>
                    </a:cubicBezTo>
                    <a:lnTo>
                      <a:pt x="116" y="321"/>
                    </a:lnTo>
                    <a:cubicBezTo>
                      <a:pt x="72" y="268"/>
                      <a:pt x="72" y="187"/>
                      <a:pt x="107" y="134"/>
                    </a:cubicBezTo>
                    <a:lnTo>
                      <a:pt x="107" y="134"/>
                    </a:lnTo>
                    <a:cubicBezTo>
                      <a:pt x="143" y="80"/>
                      <a:pt x="223" y="54"/>
                      <a:pt x="286" y="72"/>
                    </a:cubicBezTo>
                    <a:lnTo>
                      <a:pt x="286" y="72"/>
                    </a:lnTo>
                    <a:cubicBezTo>
                      <a:pt x="295" y="72"/>
                      <a:pt x="313" y="63"/>
                      <a:pt x="321" y="45"/>
                    </a:cubicBezTo>
                    <a:lnTo>
                      <a:pt x="321" y="45"/>
                    </a:lnTo>
                    <a:cubicBezTo>
                      <a:pt x="330" y="36"/>
                      <a:pt x="321" y="18"/>
                      <a:pt x="304" y="9"/>
                    </a:cubicBezTo>
                    <a:lnTo>
                      <a:pt x="304" y="9"/>
                    </a:lnTo>
                    <a:cubicBezTo>
                      <a:pt x="277" y="0"/>
                      <a:pt x="259" y="0"/>
                      <a:pt x="241" y="0"/>
                    </a:cubicBezTo>
                    <a:lnTo>
                      <a:pt x="241" y="0"/>
                    </a:lnTo>
                    <a:cubicBezTo>
                      <a:pt x="170" y="0"/>
                      <a:pt x="98" y="36"/>
                      <a:pt x="54" y="98"/>
                    </a:cubicBezTo>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927;p48">
                <a:extLst>
                  <a:ext uri="{FF2B5EF4-FFF2-40B4-BE49-F238E27FC236}">
                    <a16:creationId xmlns:a16="http://schemas.microsoft.com/office/drawing/2014/main" id="{AA81E644-33BF-4A0E-B9F7-D00508B59F1A}"/>
                  </a:ext>
                </a:extLst>
              </p:cNvPr>
              <p:cNvSpPr/>
              <p:nvPr/>
            </p:nvSpPr>
            <p:spPr>
              <a:xfrm>
                <a:off x="3248670" y="4213043"/>
                <a:ext cx="407988" cy="309027"/>
              </a:xfrm>
              <a:custGeom>
                <a:avLst/>
                <a:gdLst/>
                <a:ahLst/>
                <a:cxnLst/>
                <a:rect l="l" t="t" r="r" b="b"/>
                <a:pathLst>
                  <a:path w="9342" h="7076" extrusionOk="0">
                    <a:moveTo>
                      <a:pt x="2865" y="54"/>
                    </a:moveTo>
                    <a:cubicBezTo>
                      <a:pt x="2704" y="90"/>
                      <a:pt x="2561" y="135"/>
                      <a:pt x="2419" y="197"/>
                    </a:cubicBezTo>
                    <a:lnTo>
                      <a:pt x="2419" y="197"/>
                    </a:lnTo>
                    <a:cubicBezTo>
                      <a:pt x="2419" y="197"/>
                      <a:pt x="2419" y="197"/>
                      <a:pt x="2419" y="206"/>
                    </a:cubicBezTo>
                    <a:lnTo>
                      <a:pt x="2419" y="206"/>
                    </a:lnTo>
                    <a:cubicBezTo>
                      <a:pt x="2062" y="367"/>
                      <a:pt x="1776" y="643"/>
                      <a:pt x="1651" y="964"/>
                    </a:cubicBezTo>
                    <a:lnTo>
                      <a:pt x="1651" y="964"/>
                    </a:lnTo>
                    <a:cubicBezTo>
                      <a:pt x="1633" y="1009"/>
                      <a:pt x="1607" y="1045"/>
                      <a:pt x="1580" y="1089"/>
                    </a:cubicBezTo>
                    <a:lnTo>
                      <a:pt x="1580" y="1089"/>
                    </a:lnTo>
                    <a:cubicBezTo>
                      <a:pt x="1571" y="1089"/>
                      <a:pt x="1562" y="1098"/>
                      <a:pt x="1562" y="1116"/>
                    </a:cubicBezTo>
                    <a:lnTo>
                      <a:pt x="1562" y="1116"/>
                    </a:lnTo>
                    <a:cubicBezTo>
                      <a:pt x="1562" y="1116"/>
                      <a:pt x="1562" y="1116"/>
                      <a:pt x="1562" y="1116"/>
                    </a:cubicBezTo>
                    <a:lnTo>
                      <a:pt x="1562" y="1116"/>
                    </a:lnTo>
                    <a:cubicBezTo>
                      <a:pt x="1446" y="1277"/>
                      <a:pt x="1259" y="1401"/>
                      <a:pt x="1089" y="1535"/>
                    </a:cubicBezTo>
                    <a:lnTo>
                      <a:pt x="1089" y="1535"/>
                    </a:lnTo>
                    <a:cubicBezTo>
                      <a:pt x="866" y="1696"/>
                      <a:pt x="634" y="1856"/>
                      <a:pt x="527" y="2071"/>
                    </a:cubicBezTo>
                    <a:lnTo>
                      <a:pt x="527" y="2071"/>
                    </a:lnTo>
                    <a:cubicBezTo>
                      <a:pt x="402" y="2311"/>
                      <a:pt x="402" y="2561"/>
                      <a:pt x="411" y="2802"/>
                    </a:cubicBezTo>
                    <a:lnTo>
                      <a:pt x="411" y="2802"/>
                    </a:lnTo>
                    <a:cubicBezTo>
                      <a:pt x="411" y="3052"/>
                      <a:pt x="411" y="3293"/>
                      <a:pt x="277" y="3525"/>
                    </a:cubicBezTo>
                    <a:lnTo>
                      <a:pt x="277" y="3525"/>
                    </a:lnTo>
                    <a:cubicBezTo>
                      <a:pt x="1" y="3989"/>
                      <a:pt x="90" y="4649"/>
                      <a:pt x="492" y="5095"/>
                    </a:cubicBezTo>
                    <a:lnTo>
                      <a:pt x="492" y="5095"/>
                    </a:lnTo>
                    <a:cubicBezTo>
                      <a:pt x="732" y="5362"/>
                      <a:pt x="1071" y="5559"/>
                      <a:pt x="1473" y="5657"/>
                    </a:cubicBezTo>
                    <a:lnTo>
                      <a:pt x="1473" y="5657"/>
                    </a:lnTo>
                    <a:cubicBezTo>
                      <a:pt x="1473" y="5657"/>
                      <a:pt x="1473" y="5657"/>
                      <a:pt x="1482" y="5657"/>
                    </a:cubicBezTo>
                    <a:lnTo>
                      <a:pt x="1482" y="5657"/>
                    </a:lnTo>
                    <a:cubicBezTo>
                      <a:pt x="1491" y="5657"/>
                      <a:pt x="1509" y="5648"/>
                      <a:pt x="1509" y="5630"/>
                    </a:cubicBezTo>
                    <a:lnTo>
                      <a:pt x="1509" y="5630"/>
                    </a:lnTo>
                    <a:cubicBezTo>
                      <a:pt x="1509" y="5621"/>
                      <a:pt x="1509" y="5621"/>
                      <a:pt x="1509" y="5612"/>
                    </a:cubicBezTo>
                    <a:lnTo>
                      <a:pt x="1509" y="5612"/>
                    </a:lnTo>
                    <a:cubicBezTo>
                      <a:pt x="1660" y="5987"/>
                      <a:pt x="1937" y="6299"/>
                      <a:pt x="2294" y="6469"/>
                    </a:cubicBezTo>
                    <a:lnTo>
                      <a:pt x="2294" y="6469"/>
                    </a:lnTo>
                    <a:cubicBezTo>
                      <a:pt x="2508" y="6567"/>
                      <a:pt x="2749" y="6620"/>
                      <a:pt x="2981" y="6665"/>
                    </a:cubicBezTo>
                    <a:lnTo>
                      <a:pt x="2981" y="6665"/>
                    </a:lnTo>
                    <a:cubicBezTo>
                      <a:pt x="3132" y="6692"/>
                      <a:pt x="3284" y="6718"/>
                      <a:pt x="3427" y="6763"/>
                    </a:cubicBezTo>
                    <a:lnTo>
                      <a:pt x="3427" y="6763"/>
                    </a:lnTo>
                    <a:cubicBezTo>
                      <a:pt x="3534" y="6799"/>
                      <a:pt x="3650" y="6843"/>
                      <a:pt x="3757" y="6879"/>
                    </a:cubicBezTo>
                    <a:lnTo>
                      <a:pt x="3757" y="6879"/>
                    </a:lnTo>
                    <a:cubicBezTo>
                      <a:pt x="3944" y="6959"/>
                      <a:pt x="4140" y="7031"/>
                      <a:pt x="4337" y="7057"/>
                    </a:cubicBezTo>
                    <a:lnTo>
                      <a:pt x="4337" y="7057"/>
                    </a:lnTo>
                    <a:cubicBezTo>
                      <a:pt x="4408" y="7066"/>
                      <a:pt x="4479" y="7075"/>
                      <a:pt x="4551" y="7075"/>
                    </a:cubicBezTo>
                    <a:lnTo>
                      <a:pt x="4551" y="7075"/>
                    </a:lnTo>
                    <a:cubicBezTo>
                      <a:pt x="5068" y="7075"/>
                      <a:pt x="5541" y="6808"/>
                      <a:pt x="5871" y="6558"/>
                    </a:cubicBezTo>
                    <a:lnTo>
                      <a:pt x="5871" y="6558"/>
                    </a:lnTo>
                    <a:cubicBezTo>
                      <a:pt x="6076" y="6406"/>
                      <a:pt x="6263" y="6237"/>
                      <a:pt x="6451" y="6076"/>
                    </a:cubicBezTo>
                    <a:lnTo>
                      <a:pt x="6451" y="6076"/>
                    </a:lnTo>
                    <a:cubicBezTo>
                      <a:pt x="6665" y="5880"/>
                      <a:pt x="6888" y="5684"/>
                      <a:pt x="7129" y="5514"/>
                    </a:cubicBezTo>
                    <a:lnTo>
                      <a:pt x="7129" y="5514"/>
                    </a:lnTo>
                    <a:cubicBezTo>
                      <a:pt x="7245" y="5434"/>
                      <a:pt x="7370" y="5362"/>
                      <a:pt x="7495" y="5282"/>
                    </a:cubicBezTo>
                    <a:lnTo>
                      <a:pt x="7495" y="5282"/>
                    </a:lnTo>
                    <a:cubicBezTo>
                      <a:pt x="7691" y="5157"/>
                      <a:pt x="7905" y="5032"/>
                      <a:pt x="8092" y="4872"/>
                    </a:cubicBezTo>
                    <a:lnTo>
                      <a:pt x="8092" y="4872"/>
                    </a:lnTo>
                    <a:cubicBezTo>
                      <a:pt x="8217" y="4756"/>
                      <a:pt x="8333" y="4640"/>
                      <a:pt x="8440" y="4506"/>
                    </a:cubicBezTo>
                    <a:lnTo>
                      <a:pt x="8440" y="4506"/>
                    </a:lnTo>
                    <a:lnTo>
                      <a:pt x="8440" y="4506"/>
                    </a:lnTo>
                    <a:lnTo>
                      <a:pt x="8440" y="4506"/>
                    </a:lnTo>
                    <a:cubicBezTo>
                      <a:pt x="8529" y="4399"/>
                      <a:pt x="8610" y="4283"/>
                      <a:pt x="8699" y="4176"/>
                    </a:cubicBezTo>
                    <a:lnTo>
                      <a:pt x="8699" y="4176"/>
                    </a:lnTo>
                    <a:cubicBezTo>
                      <a:pt x="8949" y="3846"/>
                      <a:pt x="9261" y="3427"/>
                      <a:pt x="9323" y="2945"/>
                    </a:cubicBezTo>
                    <a:lnTo>
                      <a:pt x="9323" y="2945"/>
                    </a:lnTo>
                    <a:cubicBezTo>
                      <a:pt x="9332" y="2865"/>
                      <a:pt x="9341" y="2784"/>
                      <a:pt x="9332" y="2686"/>
                    </a:cubicBezTo>
                    <a:lnTo>
                      <a:pt x="9332" y="2686"/>
                    </a:lnTo>
                    <a:cubicBezTo>
                      <a:pt x="9332" y="2686"/>
                      <a:pt x="9332" y="2677"/>
                      <a:pt x="9332" y="2668"/>
                    </a:cubicBezTo>
                    <a:lnTo>
                      <a:pt x="9332" y="2668"/>
                    </a:lnTo>
                    <a:cubicBezTo>
                      <a:pt x="9297" y="2106"/>
                      <a:pt x="9002" y="1375"/>
                      <a:pt x="8458" y="1241"/>
                    </a:cubicBezTo>
                    <a:lnTo>
                      <a:pt x="8458" y="1241"/>
                    </a:lnTo>
                    <a:cubicBezTo>
                      <a:pt x="8235" y="1187"/>
                      <a:pt x="7994" y="1214"/>
                      <a:pt x="7780" y="1259"/>
                    </a:cubicBezTo>
                    <a:lnTo>
                      <a:pt x="7780" y="1259"/>
                    </a:lnTo>
                    <a:cubicBezTo>
                      <a:pt x="7753" y="1187"/>
                      <a:pt x="7718" y="1134"/>
                      <a:pt x="7691" y="1071"/>
                    </a:cubicBezTo>
                    <a:lnTo>
                      <a:pt x="7691" y="1071"/>
                    </a:lnTo>
                    <a:cubicBezTo>
                      <a:pt x="7673" y="1045"/>
                      <a:pt x="7655" y="1009"/>
                      <a:pt x="7637" y="982"/>
                    </a:cubicBezTo>
                    <a:lnTo>
                      <a:pt x="7637" y="982"/>
                    </a:lnTo>
                    <a:cubicBezTo>
                      <a:pt x="7441" y="572"/>
                      <a:pt x="7200" y="331"/>
                      <a:pt x="6888" y="242"/>
                    </a:cubicBezTo>
                    <a:lnTo>
                      <a:pt x="6888" y="242"/>
                    </a:lnTo>
                    <a:cubicBezTo>
                      <a:pt x="6656" y="170"/>
                      <a:pt x="6406" y="206"/>
                      <a:pt x="6165" y="233"/>
                    </a:cubicBezTo>
                    <a:lnTo>
                      <a:pt x="6165" y="233"/>
                    </a:lnTo>
                    <a:cubicBezTo>
                      <a:pt x="6094" y="242"/>
                      <a:pt x="6014" y="251"/>
                      <a:pt x="5942" y="260"/>
                    </a:cubicBezTo>
                    <a:lnTo>
                      <a:pt x="5942" y="260"/>
                    </a:lnTo>
                    <a:cubicBezTo>
                      <a:pt x="5478" y="295"/>
                      <a:pt x="5006" y="215"/>
                      <a:pt x="4542" y="135"/>
                    </a:cubicBezTo>
                    <a:lnTo>
                      <a:pt x="4542" y="135"/>
                    </a:lnTo>
                    <a:lnTo>
                      <a:pt x="4408" y="117"/>
                    </a:lnTo>
                    <a:cubicBezTo>
                      <a:pt x="4087" y="54"/>
                      <a:pt x="3739" y="1"/>
                      <a:pt x="3400" y="1"/>
                    </a:cubicBezTo>
                    <a:lnTo>
                      <a:pt x="3400" y="1"/>
                    </a:lnTo>
                    <a:cubicBezTo>
                      <a:pt x="3221" y="1"/>
                      <a:pt x="3043" y="19"/>
                      <a:pt x="2865" y="54"/>
                    </a:cubicBezTo>
                    <a:moveTo>
                      <a:pt x="2579" y="884"/>
                    </a:moveTo>
                    <a:cubicBezTo>
                      <a:pt x="2552" y="875"/>
                      <a:pt x="2526" y="848"/>
                      <a:pt x="2499" y="813"/>
                    </a:cubicBezTo>
                    <a:lnTo>
                      <a:pt x="2499" y="813"/>
                    </a:lnTo>
                    <a:cubicBezTo>
                      <a:pt x="2383" y="643"/>
                      <a:pt x="2365" y="429"/>
                      <a:pt x="2454" y="251"/>
                    </a:cubicBezTo>
                    <a:lnTo>
                      <a:pt x="2454" y="251"/>
                    </a:lnTo>
                    <a:cubicBezTo>
                      <a:pt x="2588" y="197"/>
                      <a:pt x="2722" y="144"/>
                      <a:pt x="2873" y="117"/>
                    </a:cubicBezTo>
                    <a:lnTo>
                      <a:pt x="2873" y="117"/>
                    </a:lnTo>
                    <a:cubicBezTo>
                      <a:pt x="3346" y="19"/>
                      <a:pt x="3828" y="81"/>
                      <a:pt x="4292" y="153"/>
                    </a:cubicBezTo>
                    <a:lnTo>
                      <a:pt x="4292" y="153"/>
                    </a:lnTo>
                    <a:cubicBezTo>
                      <a:pt x="4292" y="161"/>
                      <a:pt x="4301" y="170"/>
                      <a:pt x="4310" y="170"/>
                    </a:cubicBezTo>
                    <a:lnTo>
                      <a:pt x="4310" y="170"/>
                    </a:lnTo>
                    <a:cubicBezTo>
                      <a:pt x="4372" y="188"/>
                      <a:pt x="4426" y="251"/>
                      <a:pt x="4435" y="322"/>
                    </a:cubicBezTo>
                    <a:lnTo>
                      <a:pt x="4435" y="322"/>
                    </a:lnTo>
                    <a:cubicBezTo>
                      <a:pt x="4435" y="385"/>
                      <a:pt x="4390" y="456"/>
                      <a:pt x="4319" y="474"/>
                    </a:cubicBezTo>
                    <a:lnTo>
                      <a:pt x="4319" y="474"/>
                    </a:lnTo>
                    <a:cubicBezTo>
                      <a:pt x="4310" y="483"/>
                      <a:pt x="4301" y="500"/>
                      <a:pt x="4301" y="518"/>
                    </a:cubicBezTo>
                    <a:lnTo>
                      <a:pt x="4301" y="518"/>
                    </a:lnTo>
                    <a:cubicBezTo>
                      <a:pt x="4310" y="527"/>
                      <a:pt x="4319" y="536"/>
                      <a:pt x="4328" y="536"/>
                    </a:cubicBezTo>
                    <a:lnTo>
                      <a:pt x="4328" y="536"/>
                    </a:lnTo>
                    <a:cubicBezTo>
                      <a:pt x="4337" y="536"/>
                      <a:pt x="4337" y="536"/>
                      <a:pt x="4345" y="536"/>
                    </a:cubicBezTo>
                    <a:lnTo>
                      <a:pt x="4345" y="536"/>
                    </a:lnTo>
                    <a:cubicBezTo>
                      <a:pt x="4435" y="509"/>
                      <a:pt x="4497" y="411"/>
                      <a:pt x="4497" y="313"/>
                    </a:cubicBezTo>
                    <a:lnTo>
                      <a:pt x="4497" y="313"/>
                    </a:lnTo>
                    <a:cubicBezTo>
                      <a:pt x="4497" y="269"/>
                      <a:pt x="4470" y="224"/>
                      <a:pt x="4444" y="179"/>
                    </a:cubicBezTo>
                    <a:lnTo>
                      <a:pt x="4444" y="179"/>
                    </a:lnTo>
                    <a:lnTo>
                      <a:pt x="4533" y="197"/>
                    </a:lnTo>
                    <a:cubicBezTo>
                      <a:pt x="4899" y="260"/>
                      <a:pt x="5273" y="331"/>
                      <a:pt x="5648" y="331"/>
                    </a:cubicBezTo>
                    <a:lnTo>
                      <a:pt x="5648" y="331"/>
                    </a:lnTo>
                    <a:cubicBezTo>
                      <a:pt x="5648" y="331"/>
                      <a:pt x="5648" y="331"/>
                      <a:pt x="5657" y="331"/>
                    </a:cubicBezTo>
                    <a:lnTo>
                      <a:pt x="5657" y="331"/>
                    </a:lnTo>
                    <a:cubicBezTo>
                      <a:pt x="5666" y="331"/>
                      <a:pt x="5666" y="331"/>
                      <a:pt x="5675" y="331"/>
                    </a:cubicBezTo>
                    <a:lnTo>
                      <a:pt x="5675" y="331"/>
                    </a:lnTo>
                    <a:lnTo>
                      <a:pt x="5684" y="331"/>
                    </a:lnTo>
                    <a:cubicBezTo>
                      <a:pt x="5826" y="340"/>
                      <a:pt x="5960" y="465"/>
                      <a:pt x="6014" y="599"/>
                    </a:cubicBezTo>
                    <a:lnTo>
                      <a:pt x="6014" y="599"/>
                    </a:lnTo>
                    <a:cubicBezTo>
                      <a:pt x="6076" y="732"/>
                      <a:pt x="6032" y="911"/>
                      <a:pt x="5916" y="1009"/>
                    </a:cubicBezTo>
                    <a:lnTo>
                      <a:pt x="5916" y="1009"/>
                    </a:lnTo>
                    <a:cubicBezTo>
                      <a:pt x="5907" y="1018"/>
                      <a:pt x="5907" y="1027"/>
                      <a:pt x="5907" y="1036"/>
                    </a:cubicBezTo>
                    <a:lnTo>
                      <a:pt x="5907" y="1036"/>
                    </a:lnTo>
                    <a:cubicBezTo>
                      <a:pt x="5907" y="1054"/>
                      <a:pt x="5916" y="1062"/>
                      <a:pt x="5924" y="1062"/>
                    </a:cubicBezTo>
                    <a:lnTo>
                      <a:pt x="5924" y="1062"/>
                    </a:lnTo>
                    <a:lnTo>
                      <a:pt x="6005" y="1089"/>
                    </a:lnTo>
                    <a:cubicBezTo>
                      <a:pt x="6014" y="1089"/>
                      <a:pt x="6014" y="1089"/>
                      <a:pt x="6014" y="1089"/>
                    </a:cubicBezTo>
                    <a:lnTo>
                      <a:pt x="6014" y="1089"/>
                    </a:lnTo>
                    <a:cubicBezTo>
                      <a:pt x="6032" y="1089"/>
                      <a:pt x="6040" y="1080"/>
                      <a:pt x="6049" y="1062"/>
                    </a:cubicBezTo>
                    <a:lnTo>
                      <a:pt x="6049" y="1062"/>
                    </a:lnTo>
                    <a:cubicBezTo>
                      <a:pt x="6049" y="1054"/>
                      <a:pt x="6040" y="1036"/>
                      <a:pt x="6023" y="1027"/>
                    </a:cubicBezTo>
                    <a:lnTo>
                      <a:pt x="6023" y="1027"/>
                    </a:lnTo>
                    <a:lnTo>
                      <a:pt x="5996" y="1018"/>
                    </a:lnTo>
                    <a:cubicBezTo>
                      <a:pt x="6103" y="902"/>
                      <a:pt x="6139" y="724"/>
                      <a:pt x="6076" y="572"/>
                    </a:cubicBezTo>
                    <a:lnTo>
                      <a:pt x="6076" y="572"/>
                    </a:lnTo>
                    <a:cubicBezTo>
                      <a:pt x="6032" y="474"/>
                      <a:pt x="5960" y="385"/>
                      <a:pt x="5862" y="331"/>
                    </a:cubicBezTo>
                    <a:lnTo>
                      <a:pt x="5862" y="331"/>
                    </a:lnTo>
                    <a:cubicBezTo>
                      <a:pt x="5889" y="322"/>
                      <a:pt x="5916" y="322"/>
                      <a:pt x="5942" y="322"/>
                    </a:cubicBezTo>
                    <a:lnTo>
                      <a:pt x="5942" y="322"/>
                    </a:lnTo>
                    <a:cubicBezTo>
                      <a:pt x="6023" y="313"/>
                      <a:pt x="6103" y="304"/>
                      <a:pt x="6174" y="295"/>
                    </a:cubicBezTo>
                    <a:lnTo>
                      <a:pt x="6174" y="295"/>
                    </a:lnTo>
                    <a:cubicBezTo>
                      <a:pt x="6406" y="269"/>
                      <a:pt x="6647" y="242"/>
                      <a:pt x="6870" y="304"/>
                    </a:cubicBezTo>
                    <a:lnTo>
                      <a:pt x="6870" y="304"/>
                    </a:lnTo>
                    <a:cubicBezTo>
                      <a:pt x="6906" y="313"/>
                      <a:pt x="6933" y="322"/>
                      <a:pt x="6959" y="331"/>
                    </a:cubicBezTo>
                    <a:lnTo>
                      <a:pt x="6959" y="331"/>
                    </a:lnTo>
                    <a:cubicBezTo>
                      <a:pt x="6950" y="349"/>
                      <a:pt x="6950" y="358"/>
                      <a:pt x="6959" y="367"/>
                    </a:cubicBezTo>
                    <a:lnTo>
                      <a:pt x="6959" y="367"/>
                    </a:lnTo>
                    <a:cubicBezTo>
                      <a:pt x="7022" y="429"/>
                      <a:pt x="7066" y="509"/>
                      <a:pt x="7075" y="599"/>
                    </a:cubicBezTo>
                    <a:lnTo>
                      <a:pt x="7075" y="599"/>
                    </a:lnTo>
                    <a:cubicBezTo>
                      <a:pt x="7075" y="616"/>
                      <a:pt x="7093" y="625"/>
                      <a:pt x="7111" y="625"/>
                    </a:cubicBezTo>
                    <a:lnTo>
                      <a:pt x="7111" y="625"/>
                    </a:lnTo>
                    <a:cubicBezTo>
                      <a:pt x="7111" y="625"/>
                      <a:pt x="7111" y="625"/>
                      <a:pt x="7111" y="625"/>
                    </a:cubicBezTo>
                    <a:lnTo>
                      <a:pt x="7111" y="625"/>
                    </a:lnTo>
                    <a:cubicBezTo>
                      <a:pt x="7129" y="625"/>
                      <a:pt x="7138" y="608"/>
                      <a:pt x="7138" y="590"/>
                    </a:cubicBezTo>
                    <a:lnTo>
                      <a:pt x="7138" y="590"/>
                    </a:lnTo>
                    <a:cubicBezTo>
                      <a:pt x="7129" y="518"/>
                      <a:pt x="7102" y="447"/>
                      <a:pt x="7057" y="385"/>
                    </a:cubicBezTo>
                    <a:lnTo>
                      <a:pt x="7057" y="385"/>
                    </a:lnTo>
                    <a:cubicBezTo>
                      <a:pt x="7263" y="500"/>
                      <a:pt x="7441" y="706"/>
                      <a:pt x="7584" y="1009"/>
                    </a:cubicBezTo>
                    <a:lnTo>
                      <a:pt x="7584" y="1009"/>
                    </a:lnTo>
                    <a:cubicBezTo>
                      <a:pt x="7602" y="1045"/>
                      <a:pt x="7619" y="1071"/>
                      <a:pt x="7637" y="1098"/>
                    </a:cubicBezTo>
                    <a:lnTo>
                      <a:pt x="7637" y="1098"/>
                    </a:lnTo>
                    <a:cubicBezTo>
                      <a:pt x="7664" y="1161"/>
                      <a:pt x="7691" y="1205"/>
                      <a:pt x="7718" y="1277"/>
                    </a:cubicBezTo>
                    <a:lnTo>
                      <a:pt x="7718" y="1277"/>
                    </a:lnTo>
                    <a:cubicBezTo>
                      <a:pt x="7664" y="1294"/>
                      <a:pt x="7611" y="1303"/>
                      <a:pt x="7557" y="1321"/>
                    </a:cubicBezTo>
                    <a:lnTo>
                      <a:pt x="7557" y="1321"/>
                    </a:lnTo>
                    <a:cubicBezTo>
                      <a:pt x="7414" y="1366"/>
                      <a:pt x="7280" y="1294"/>
                      <a:pt x="7138" y="1223"/>
                    </a:cubicBezTo>
                    <a:lnTo>
                      <a:pt x="7138" y="1223"/>
                    </a:lnTo>
                    <a:cubicBezTo>
                      <a:pt x="7013" y="1161"/>
                      <a:pt x="6888" y="1098"/>
                      <a:pt x="6736" y="1107"/>
                    </a:cubicBezTo>
                    <a:lnTo>
                      <a:pt x="6736" y="1107"/>
                    </a:lnTo>
                    <a:lnTo>
                      <a:pt x="6736" y="1107"/>
                    </a:lnTo>
                    <a:lnTo>
                      <a:pt x="6736" y="1107"/>
                    </a:lnTo>
                    <a:cubicBezTo>
                      <a:pt x="6727" y="1107"/>
                      <a:pt x="6718" y="1107"/>
                      <a:pt x="6710" y="1107"/>
                    </a:cubicBezTo>
                    <a:lnTo>
                      <a:pt x="6710" y="1107"/>
                    </a:lnTo>
                    <a:cubicBezTo>
                      <a:pt x="6558" y="1116"/>
                      <a:pt x="6397" y="1178"/>
                      <a:pt x="6246" y="1232"/>
                    </a:cubicBezTo>
                    <a:lnTo>
                      <a:pt x="6246" y="1232"/>
                    </a:lnTo>
                    <a:cubicBezTo>
                      <a:pt x="6040" y="1312"/>
                      <a:pt x="5826" y="1393"/>
                      <a:pt x="5630" y="1348"/>
                    </a:cubicBezTo>
                    <a:lnTo>
                      <a:pt x="5630" y="1348"/>
                    </a:lnTo>
                    <a:cubicBezTo>
                      <a:pt x="5166" y="1250"/>
                      <a:pt x="4818" y="1286"/>
                      <a:pt x="4560" y="1464"/>
                    </a:cubicBezTo>
                    <a:lnTo>
                      <a:pt x="4560" y="1464"/>
                    </a:lnTo>
                    <a:cubicBezTo>
                      <a:pt x="4461" y="1526"/>
                      <a:pt x="4337" y="1589"/>
                      <a:pt x="4212" y="1642"/>
                    </a:cubicBezTo>
                    <a:lnTo>
                      <a:pt x="4212" y="1642"/>
                    </a:lnTo>
                    <a:cubicBezTo>
                      <a:pt x="4238" y="1455"/>
                      <a:pt x="4221" y="1205"/>
                      <a:pt x="4140" y="1071"/>
                    </a:cubicBezTo>
                    <a:lnTo>
                      <a:pt x="4140" y="1071"/>
                    </a:lnTo>
                    <a:cubicBezTo>
                      <a:pt x="4042" y="920"/>
                      <a:pt x="3873" y="813"/>
                      <a:pt x="3703" y="777"/>
                    </a:cubicBezTo>
                    <a:lnTo>
                      <a:pt x="3703" y="777"/>
                    </a:lnTo>
                    <a:cubicBezTo>
                      <a:pt x="3667" y="777"/>
                      <a:pt x="3623" y="768"/>
                      <a:pt x="3596" y="768"/>
                    </a:cubicBezTo>
                    <a:lnTo>
                      <a:pt x="3596" y="768"/>
                    </a:lnTo>
                    <a:cubicBezTo>
                      <a:pt x="3543" y="768"/>
                      <a:pt x="3489" y="759"/>
                      <a:pt x="3444" y="750"/>
                    </a:cubicBezTo>
                    <a:lnTo>
                      <a:pt x="3444" y="750"/>
                    </a:lnTo>
                    <a:cubicBezTo>
                      <a:pt x="3364" y="724"/>
                      <a:pt x="3293" y="670"/>
                      <a:pt x="3284" y="599"/>
                    </a:cubicBezTo>
                    <a:lnTo>
                      <a:pt x="3284" y="599"/>
                    </a:lnTo>
                    <a:cubicBezTo>
                      <a:pt x="3284" y="581"/>
                      <a:pt x="3266" y="572"/>
                      <a:pt x="3257" y="572"/>
                    </a:cubicBezTo>
                    <a:lnTo>
                      <a:pt x="3257" y="572"/>
                    </a:lnTo>
                    <a:cubicBezTo>
                      <a:pt x="3239" y="572"/>
                      <a:pt x="3221" y="590"/>
                      <a:pt x="3221" y="608"/>
                    </a:cubicBezTo>
                    <a:lnTo>
                      <a:pt x="3221" y="608"/>
                    </a:lnTo>
                    <a:cubicBezTo>
                      <a:pt x="3230" y="706"/>
                      <a:pt x="3328" y="786"/>
                      <a:pt x="3427" y="804"/>
                    </a:cubicBezTo>
                    <a:lnTo>
                      <a:pt x="3427" y="804"/>
                    </a:lnTo>
                    <a:cubicBezTo>
                      <a:pt x="3480" y="822"/>
                      <a:pt x="3534" y="831"/>
                      <a:pt x="3587" y="831"/>
                    </a:cubicBezTo>
                    <a:lnTo>
                      <a:pt x="3587" y="831"/>
                    </a:lnTo>
                    <a:cubicBezTo>
                      <a:pt x="3623" y="831"/>
                      <a:pt x="3659" y="839"/>
                      <a:pt x="3685" y="839"/>
                    </a:cubicBezTo>
                    <a:lnTo>
                      <a:pt x="3685" y="839"/>
                    </a:lnTo>
                    <a:cubicBezTo>
                      <a:pt x="3846" y="866"/>
                      <a:pt x="3998" y="964"/>
                      <a:pt x="4087" y="1098"/>
                    </a:cubicBezTo>
                    <a:lnTo>
                      <a:pt x="4087" y="1098"/>
                    </a:lnTo>
                    <a:cubicBezTo>
                      <a:pt x="4167" y="1232"/>
                      <a:pt x="4176" y="1500"/>
                      <a:pt x="4140" y="1669"/>
                    </a:cubicBezTo>
                    <a:lnTo>
                      <a:pt x="4140" y="1669"/>
                    </a:lnTo>
                    <a:cubicBezTo>
                      <a:pt x="4131" y="1669"/>
                      <a:pt x="4122" y="1678"/>
                      <a:pt x="4114" y="1678"/>
                    </a:cubicBezTo>
                    <a:lnTo>
                      <a:pt x="4114" y="1678"/>
                    </a:lnTo>
                    <a:cubicBezTo>
                      <a:pt x="3971" y="1732"/>
                      <a:pt x="3828" y="1794"/>
                      <a:pt x="3712" y="1865"/>
                    </a:cubicBezTo>
                    <a:lnTo>
                      <a:pt x="3712" y="1865"/>
                    </a:lnTo>
                    <a:cubicBezTo>
                      <a:pt x="3676" y="1865"/>
                      <a:pt x="3650" y="1874"/>
                      <a:pt x="3632" y="1883"/>
                    </a:cubicBezTo>
                    <a:lnTo>
                      <a:pt x="3632" y="1883"/>
                    </a:lnTo>
                    <a:cubicBezTo>
                      <a:pt x="3623" y="1883"/>
                      <a:pt x="3623" y="1883"/>
                      <a:pt x="3623" y="1883"/>
                    </a:cubicBezTo>
                    <a:lnTo>
                      <a:pt x="3623" y="1883"/>
                    </a:lnTo>
                    <a:cubicBezTo>
                      <a:pt x="3632" y="1874"/>
                      <a:pt x="3623" y="1856"/>
                      <a:pt x="3614" y="1848"/>
                    </a:cubicBezTo>
                    <a:lnTo>
                      <a:pt x="3614" y="1848"/>
                    </a:lnTo>
                    <a:cubicBezTo>
                      <a:pt x="3507" y="1767"/>
                      <a:pt x="3364" y="1740"/>
                      <a:pt x="3230" y="1776"/>
                    </a:cubicBezTo>
                    <a:lnTo>
                      <a:pt x="3230" y="1776"/>
                    </a:lnTo>
                    <a:cubicBezTo>
                      <a:pt x="3105" y="1803"/>
                      <a:pt x="2989" y="1892"/>
                      <a:pt x="2927" y="2008"/>
                    </a:cubicBezTo>
                    <a:lnTo>
                      <a:pt x="2927" y="2008"/>
                    </a:lnTo>
                    <a:cubicBezTo>
                      <a:pt x="2927" y="2026"/>
                      <a:pt x="2927" y="2044"/>
                      <a:pt x="2945" y="2053"/>
                    </a:cubicBezTo>
                    <a:lnTo>
                      <a:pt x="2945" y="2053"/>
                    </a:lnTo>
                    <a:cubicBezTo>
                      <a:pt x="2945" y="2053"/>
                      <a:pt x="2954" y="2062"/>
                      <a:pt x="2963" y="2062"/>
                    </a:cubicBezTo>
                    <a:lnTo>
                      <a:pt x="2963" y="2062"/>
                    </a:lnTo>
                    <a:cubicBezTo>
                      <a:pt x="2972" y="2062"/>
                      <a:pt x="2981" y="2053"/>
                      <a:pt x="2981" y="2044"/>
                    </a:cubicBezTo>
                    <a:lnTo>
                      <a:pt x="2981" y="2044"/>
                    </a:lnTo>
                    <a:lnTo>
                      <a:pt x="3025" y="1999"/>
                    </a:lnTo>
                    <a:cubicBezTo>
                      <a:pt x="3025" y="1999"/>
                      <a:pt x="3025" y="1981"/>
                      <a:pt x="3025" y="1972"/>
                    </a:cubicBezTo>
                    <a:lnTo>
                      <a:pt x="3025" y="1972"/>
                    </a:lnTo>
                    <a:cubicBezTo>
                      <a:pt x="3079" y="1910"/>
                      <a:pt x="3159" y="1856"/>
                      <a:pt x="3248" y="1830"/>
                    </a:cubicBezTo>
                    <a:lnTo>
                      <a:pt x="3248" y="1830"/>
                    </a:lnTo>
                    <a:cubicBezTo>
                      <a:pt x="3355" y="1803"/>
                      <a:pt x="3480" y="1830"/>
                      <a:pt x="3578" y="1892"/>
                    </a:cubicBezTo>
                    <a:lnTo>
                      <a:pt x="3578" y="1892"/>
                    </a:lnTo>
                    <a:cubicBezTo>
                      <a:pt x="3587" y="1901"/>
                      <a:pt x="3596" y="1901"/>
                      <a:pt x="3614" y="1901"/>
                    </a:cubicBezTo>
                    <a:lnTo>
                      <a:pt x="3614" y="1901"/>
                    </a:lnTo>
                    <a:cubicBezTo>
                      <a:pt x="3605" y="1901"/>
                      <a:pt x="3605" y="1910"/>
                      <a:pt x="3605" y="1919"/>
                    </a:cubicBezTo>
                    <a:lnTo>
                      <a:pt x="3605" y="1919"/>
                    </a:lnTo>
                    <a:cubicBezTo>
                      <a:pt x="3614" y="1919"/>
                      <a:pt x="3614" y="1919"/>
                      <a:pt x="3614" y="1919"/>
                    </a:cubicBezTo>
                    <a:lnTo>
                      <a:pt x="3614" y="1919"/>
                    </a:lnTo>
                    <a:cubicBezTo>
                      <a:pt x="3569" y="1955"/>
                      <a:pt x="3534" y="1981"/>
                      <a:pt x="3498" y="2008"/>
                    </a:cubicBezTo>
                    <a:lnTo>
                      <a:pt x="3498" y="2008"/>
                    </a:lnTo>
                    <a:cubicBezTo>
                      <a:pt x="3382" y="2133"/>
                      <a:pt x="3311" y="2267"/>
                      <a:pt x="3239" y="2392"/>
                    </a:cubicBezTo>
                    <a:lnTo>
                      <a:pt x="3239" y="2392"/>
                    </a:lnTo>
                    <a:cubicBezTo>
                      <a:pt x="3132" y="2561"/>
                      <a:pt x="3043" y="2731"/>
                      <a:pt x="2829" y="2829"/>
                    </a:cubicBezTo>
                    <a:lnTo>
                      <a:pt x="2829" y="2829"/>
                    </a:lnTo>
                    <a:cubicBezTo>
                      <a:pt x="2731" y="2882"/>
                      <a:pt x="2624" y="2945"/>
                      <a:pt x="2526" y="3007"/>
                    </a:cubicBezTo>
                    <a:lnTo>
                      <a:pt x="2526" y="3007"/>
                    </a:lnTo>
                    <a:cubicBezTo>
                      <a:pt x="2552" y="2900"/>
                      <a:pt x="2534" y="2775"/>
                      <a:pt x="2481" y="2677"/>
                    </a:cubicBezTo>
                    <a:lnTo>
                      <a:pt x="2481" y="2677"/>
                    </a:lnTo>
                    <a:cubicBezTo>
                      <a:pt x="2419" y="2552"/>
                      <a:pt x="2294" y="2463"/>
                      <a:pt x="2124" y="2401"/>
                    </a:cubicBezTo>
                    <a:lnTo>
                      <a:pt x="2124" y="2401"/>
                    </a:lnTo>
                    <a:cubicBezTo>
                      <a:pt x="2008" y="2374"/>
                      <a:pt x="1892" y="2356"/>
                      <a:pt x="1785" y="2338"/>
                    </a:cubicBezTo>
                    <a:lnTo>
                      <a:pt x="1785" y="2338"/>
                    </a:lnTo>
                    <a:cubicBezTo>
                      <a:pt x="1749" y="2338"/>
                      <a:pt x="1714" y="2329"/>
                      <a:pt x="1678" y="2329"/>
                    </a:cubicBezTo>
                    <a:lnTo>
                      <a:pt x="1678" y="2329"/>
                    </a:lnTo>
                    <a:cubicBezTo>
                      <a:pt x="1633" y="2320"/>
                      <a:pt x="1580" y="2311"/>
                      <a:pt x="1544" y="2285"/>
                    </a:cubicBezTo>
                    <a:lnTo>
                      <a:pt x="1544" y="2285"/>
                    </a:lnTo>
                    <a:cubicBezTo>
                      <a:pt x="1509" y="2267"/>
                      <a:pt x="1482" y="2231"/>
                      <a:pt x="1482" y="2187"/>
                    </a:cubicBezTo>
                    <a:lnTo>
                      <a:pt x="1482" y="2187"/>
                    </a:lnTo>
                    <a:cubicBezTo>
                      <a:pt x="1491" y="2169"/>
                      <a:pt x="1500" y="2151"/>
                      <a:pt x="1517" y="2142"/>
                    </a:cubicBezTo>
                    <a:lnTo>
                      <a:pt x="1517" y="2142"/>
                    </a:lnTo>
                    <a:cubicBezTo>
                      <a:pt x="1526" y="2133"/>
                      <a:pt x="1535" y="2133"/>
                      <a:pt x="1553" y="2133"/>
                    </a:cubicBezTo>
                    <a:lnTo>
                      <a:pt x="1553" y="2133"/>
                    </a:lnTo>
                    <a:cubicBezTo>
                      <a:pt x="1571" y="2142"/>
                      <a:pt x="1589" y="2133"/>
                      <a:pt x="1589" y="2115"/>
                    </a:cubicBezTo>
                    <a:lnTo>
                      <a:pt x="1589" y="2115"/>
                    </a:lnTo>
                    <a:cubicBezTo>
                      <a:pt x="1598" y="2097"/>
                      <a:pt x="1589" y="2079"/>
                      <a:pt x="1571" y="2079"/>
                    </a:cubicBezTo>
                    <a:lnTo>
                      <a:pt x="1571" y="2079"/>
                    </a:lnTo>
                    <a:cubicBezTo>
                      <a:pt x="1544" y="2062"/>
                      <a:pt x="1509" y="2071"/>
                      <a:pt x="1482" y="2088"/>
                    </a:cubicBezTo>
                    <a:lnTo>
                      <a:pt x="1482" y="2088"/>
                    </a:lnTo>
                    <a:cubicBezTo>
                      <a:pt x="1446" y="2106"/>
                      <a:pt x="1428" y="2142"/>
                      <a:pt x="1419" y="2187"/>
                    </a:cubicBezTo>
                    <a:lnTo>
                      <a:pt x="1419" y="2187"/>
                    </a:lnTo>
                    <a:cubicBezTo>
                      <a:pt x="1419" y="2240"/>
                      <a:pt x="1455" y="2303"/>
                      <a:pt x="1509" y="2338"/>
                    </a:cubicBezTo>
                    <a:lnTo>
                      <a:pt x="1509" y="2338"/>
                    </a:lnTo>
                    <a:cubicBezTo>
                      <a:pt x="1562" y="2374"/>
                      <a:pt x="1616" y="2383"/>
                      <a:pt x="1669" y="2392"/>
                    </a:cubicBezTo>
                    <a:lnTo>
                      <a:pt x="1669" y="2392"/>
                    </a:lnTo>
                    <a:cubicBezTo>
                      <a:pt x="1705" y="2392"/>
                      <a:pt x="1741" y="2401"/>
                      <a:pt x="1776" y="2401"/>
                    </a:cubicBezTo>
                    <a:lnTo>
                      <a:pt x="1776" y="2401"/>
                    </a:lnTo>
                    <a:cubicBezTo>
                      <a:pt x="1883" y="2418"/>
                      <a:pt x="1999" y="2427"/>
                      <a:pt x="2097" y="2463"/>
                    </a:cubicBezTo>
                    <a:lnTo>
                      <a:pt x="2097" y="2463"/>
                    </a:lnTo>
                    <a:cubicBezTo>
                      <a:pt x="2258" y="2517"/>
                      <a:pt x="2374" y="2597"/>
                      <a:pt x="2427" y="2713"/>
                    </a:cubicBezTo>
                    <a:lnTo>
                      <a:pt x="2427" y="2713"/>
                    </a:lnTo>
                    <a:cubicBezTo>
                      <a:pt x="2490" y="2838"/>
                      <a:pt x="2499" y="3016"/>
                      <a:pt x="2410" y="3088"/>
                    </a:cubicBezTo>
                    <a:lnTo>
                      <a:pt x="2410" y="3088"/>
                    </a:lnTo>
                    <a:cubicBezTo>
                      <a:pt x="2410" y="3088"/>
                      <a:pt x="2410" y="3088"/>
                      <a:pt x="2410" y="3088"/>
                    </a:cubicBezTo>
                    <a:lnTo>
                      <a:pt x="2410" y="3088"/>
                    </a:lnTo>
                    <a:cubicBezTo>
                      <a:pt x="2178" y="3248"/>
                      <a:pt x="1990" y="3435"/>
                      <a:pt x="1830" y="3641"/>
                    </a:cubicBezTo>
                    <a:lnTo>
                      <a:pt x="1830" y="3641"/>
                    </a:lnTo>
                    <a:cubicBezTo>
                      <a:pt x="1856" y="3435"/>
                      <a:pt x="1776" y="3221"/>
                      <a:pt x="1598" y="3088"/>
                    </a:cubicBezTo>
                    <a:lnTo>
                      <a:pt x="1598" y="3088"/>
                    </a:lnTo>
                    <a:cubicBezTo>
                      <a:pt x="1589" y="3079"/>
                      <a:pt x="1571" y="3079"/>
                      <a:pt x="1562" y="3096"/>
                    </a:cubicBezTo>
                    <a:lnTo>
                      <a:pt x="1562" y="3096"/>
                    </a:lnTo>
                    <a:cubicBezTo>
                      <a:pt x="1544" y="3105"/>
                      <a:pt x="1553" y="3123"/>
                      <a:pt x="1562" y="3132"/>
                    </a:cubicBezTo>
                    <a:lnTo>
                      <a:pt x="1562" y="3132"/>
                    </a:lnTo>
                    <a:cubicBezTo>
                      <a:pt x="1767" y="3293"/>
                      <a:pt x="1830" y="3578"/>
                      <a:pt x="1714" y="3801"/>
                    </a:cubicBezTo>
                    <a:lnTo>
                      <a:pt x="1714" y="3801"/>
                    </a:lnTo>
                    <a:cubicBezTo>
                      <a:pt x="1714" y="3801"/>
                      <a:pt x="1714" y="3801"/>
                      <a:pt x="1714" y="3801"/>
                    </a:cubicBezTo>
                    <a:lnTo>
                      <a:pt x="1714" y="3801"/>
                    </a:lnTo>
                    <a:cubicBezTo>
                      <a:pt x="1669" y="3864"/>
                      <a:pt x="1633" y="3935"/>
                      <a:pt x="1598" y="3998"/>
                    </a:cubicBezTo>
                    <a:lnTo>
                      <a:pt x="1598" y="3998"/>
                    </a:lnTo>
                    <a:cubicBezTo>
                      <a:pt x="1598" y="3998"/>
                      <a:pt x="1598" y="3998"/>
                      <a:pt x="1598" y="4006"/>
                    </a:cubicBezTo>
                    <a:lnTo>
                      <a:pt x="1598" y="4006"/>
                    </a:lnTo>
                    <a:cubicBezTo>
                      <a:pt x="1509" y="4167"/>
                      <a:pt x="1446" y="4345"/>
                      <a:pt x="1410" y="4524"/>
                    </a:cubicBezTo>
                    <a:lnTo>
                      <a:pt x="1410" y="4524"/>
                    </a:lnTo>
                    <a:cubicBezTo>
                      <a:pt x="1330" y="4899"/>
                      <a:pt x="1375" y="5273"/>
                      <a:pt x="1509" y="5603"/>
                    </a:cubicBezTo>
                    <a:lnTo>
                      <a:pt x="1509" y="5603"/>
                    </a:lnTo>
                    <a:cubicBezTo>
                      <a:pt x="1500" y="5594"/>
                      <a:pt x="1491" y="5594"/>
                      <a:pt x="1482" y="5594"/>
                    </a:cubicBezTo>
                    <a:lnTo>
                      <a:pt x="1482" y="5594"/>
                    </a:lnTo>
                    <a:cubicBezTo>
                      <a:pt x="1178" y="5514"/>
                      <a:pt x="902" y="5380"/>
                      <a:pt x="688" y="5193"/>
                    </a:cubicBezTo>
                    <a:lnTo>
                      <a:pt x="688" y="5193"/>
                    </a:lnTo>
                    <a:cubicBezTo>
                      <a:pt x="688" y="5193"/>
                      <a:pt x="688" y="5193"/>
                      <a:pt x="688" y="5193"/>
                    </a:cubicBezTo>
                    <a:lnTo>
                      <a:pt x="688" y="5193"/>
                    </a:lnTo>
                    <a:cubicBezTo>
                      <a:pt x="697" y="5175"/>
                      <a:pt x="679" y="5157"/>
                      <a:pt x="670" y="5157"/>
                    </a:cubicBezTo>
                    <a:lnTo>
                      <a:pt x="670" y="5157"/>
                    </a:lnTo>
                    <a:cubicBezTo>
                      <a:pt x="625" y="5139"/>
                      <a:pt x="608" y="5095"/>
                      <a:pt x="616" y="5050"/>
                    </a:cubicBezTo>
                    <a:lnTo>
                      <a:pt x="616" y="5050"/>
                    </a:lnTo>
                    <a:cubicBezTo>
                      <a:pt x="625" y="5006"/>
                      <a:pt x="661" y="4952"/>
                      <a:pt x="688" y="4916"/>
                    </a:cubicBezTo>
                    <a:lnTo>
                      <a:pt x="688" y="4916"/>
                    </a:lnTo>
                    <a:lnTo>
                      <a:pt x="947" y="4568"/>
                    </a:lnTo>
                    <a:cubicBezTo>
                      <a:pt x="955" y="4551"/>
                      <a:pt x="955" y="4533"/>
                      <a:pt x="938" y="4524"/>
                    </a:cubicBezTo>
                    <a:lnTo>
                      <a:pt x="938" y="4524"/>
                    </a:lnTo>
                    <a:cubicBezTo>
                      <a:pt x="929" y="4506"/>
                      <a:pt x="911" y="4515"/>
                      <a:pt x="893" y="4524"/>
                    </a:cubicBezTo>
                    <a:lnTo>
                      <a:pt x="893" y="4524"/>
                    </a:lnTo>
                    <a:lnTo>
                      <a:pt x="634" y="4881"/>
                    </a:lnTo>
                    <a:cubicBezTo>
                      <a:pt x="608" y="4925"/>
                      <a:pt x="563" y="4979"/>
                      <a:pt x="554" y="5041"/>
                    </a:cubicBezTo>
                    <a:lnTo>
                      <a:pt x="554" y="5041"/>
                    </a:lnTo>
                    <a:cubicBezTo>
                      <a:pt x="554" y="5050"/>
                      <a:pt x="554" y="5059"/>
                      <a:pt x="554" y="5068"/>
                    </a:cubicBezTo>
                    <a:lnTo>
                      <a:pt x="554" y="5068"/>
                    </a:lnTo>
                    <a:cubicBezTo>
                      <a:pt x="545" y="5059"/>
                      <a:pt x="545" y="5050"/>
                      <a:pt x="536" y="5050"/>
                    </a:cubicBezTo>
                    <a:lnTo>
                      <a:pt x="536" y="5050"/>
                    </a:lnTo>
                    <a:cubicBezTo>
                      <a:pt x="161" y="4622"/>
                      <a:pt x="72" y="3998"/>
                      <a:pt x="331" y="3560"/>
                    </a:cubicBezTo>
                    <a:lnTo>
                      <a:pt x="331" y="3560"/>
                    </a:lnTo>
                    <a:cubicBezTo>
                      <a:pt x="331" y="3551"/>
                      <a:pt x="340" y="3543"/>
                      <a:pt x="340" y="3534"/>
                    </a:cubicBezTo>
                    <a:lnTo>
                      <a:pt x="340" y="3534"/>
                    </a:lnTo>
                    <a:cubicBezTo>
                      <a:pt x="349" y="3623"/>
                      <a:pt x="385" y="3712"/>
                      <a:pt x="465" y="3792"/>
                    </a:cubicBezTo>
                    <a:lnTo>
                      <a:pt x="465" y="3792"/>
                    </a:lnTo>
                    <a:cubicBezTo>
                      <a:pt x="563" y="3882"/>
                      <a:pt x="697" y="3935"/>
                      <a:pt x="839" y="3935"/>
                    </a:cubicBezTo>
                    <a:lnTo>
                      <a:pt x="839" y="3935"/>
                    </a:lnTo>
                    <a:cubicBezTo>
                      <a:pt x="857" y="3935"/>
                      <a:pt x="884" y="3935"/>
                      <a:pt x="911" y="3926"/>
                    </a:cubicBezTo>
                    <a:lnTo>
                      <a:pt x="911" y="3926"/>
                    </a:lnTo>
                    <a:cubicBezTo>
                      <a:pt x="929" y="3926"/>
                      <a:pt x="947" y="3908"/>
                      <a:pt x="938" y="3890"/>
                    </a:cubicBezTo>
                    <a:lnTo>
                      <a:pt x="938" y="3890"/>
                    </a:lnTo>
                    <a:cubicBezTo>
                      <a:pt x="938" y="3873"/>
                      <a:pt x="920" y="3864"/>
                      <a:pt x="902" y="3864"/>
                    </a:cubicBezTo>
                    <a:lnTo>
                      <a:pt x="902" y="3864"/>
                    </a:lnTo>
                    <a:cubicBezTo>
                      <a:pt x="759" y="3890"/>
                      <a:pt x="608" y="3846"/>
                      <a:pt x="509" y="3748"/>
                    </a:cubicBezTo>
                    <a:lnTo>
                      <a:pt x="509" y="3748"/>
                    </a:lnTo>
                    <a:cubicBezTo>
                      <a:pt x="402" y="3650"/>
                      <a:pt x="393" y="3534"/>
                      <a:pt x="402" y="3391"/>
                    </a:cubicBezTo>
                    <a:lnTo>
                      <a:pt x="402" y="3391"/>
                    </a:lnTo>
                    <a:cubicBezTo>
                      <a:pt x="474" y="3195"/>
                      <a:pt x="474" y="2998"/>
                      <a:pt x="474" y="2802"/>
                    </a:cubicBezTo>
                    <a:lnTo>
                      <a:pt x="474" y="2802"/>
                    </a:lnTo>
                    <a:cubicBezTo>
                      <a:pt x="474" y="2650"/>
                      <a:pt x="465" y="2499"/>
                      <a:pt x="500" y="2356"/>
                    </a:cubicBezTo>
                    <a:lnTo>
                      <a:pt x="500" y="2356"/>
                    </a:lnTo>
                    <a:cubicBezTo>
                      <a:pt x="500" y="2418"/>
                      <a:pt x="518" y="2481"/>
                      <a:pt x="545" y="2534"/>
                    </a:cubicBezTo>
                    <a:lnTo>
                      <a:pt x="545" y="2534"/>
                    </a:lnTo>
                    <a:cubicBezTo>
                      <a:pt x="634" y="2722"/>
                      <a:pt x="822" y="2847"/>
                      <a:pt x="1027" y="2865"/>
                    </a:cubicBezTo>
                    <a:lnTo>
                      <a:pt x="1027" y="2865"/>
                    </a:lnTo>
                    <a:lnTo>
                      <a:pt x="1027" y="2865"/>
                    </a:lnTo>
                    <a:lnTo>
                      <a:pt x="1027" y="2865"/>
                    </a:lnTo>
                    <a:cubicBezTo>
                      <a:pt x="1045" y="2865"/>
                      <a:pt x="1054" y="2847"/>
                      <a:pt x="1063" y="2838"/>
                    </a:cubicBezTo>
                    <a:lnTo>
                      <a:pt x="1063" y="2838"/>
                    </a:lnTo>
                    <a:cubicBezTo>
                      <a:pt x="1063" y="2820"/>
                      <a:pt x="1045" y="2802"/>
                      <a:pt x="1027" y="2802"/>
                    </a:cubicBezTo>
                    <a:lnTo>
                      <a:pt x="1027" y="2802"/>
                    </a:lnTo>
                    <a:cubicBezTo>
                      <a:pt x="848" y="2784"/>
                      <a:pt x="679" y="2668"/>
                      <a:pt x="608" y="2508"/>
                    </a:cubicBezTo>
                    <a:lnTo>
                      <a:pt x="608" y="2508"/>
                    </a:lnTo>
                    <a:cubicBezTo>
                      <a:pt x="527" y="2347"/>
                      <a:pt x="545" y="2142"/>
                      <a:pt x="652" y="1999"/>
                    </a:cubicBezTo>
                    <a:lnTo>
                      <a:pt x="652" y="1999"/>
                    </a:lnTo>
                    <a:cubicBezTo>
                      <a:pt x="652" y="1999"/>
                      <a:pt x="652" y="1999"/>
                      <a:pt x="652" y="1999"/>
                    </a:cubicBezTo>
                    <a:lnTo>
                      <a:pt x="652" y="1999"/>
                    </a:lnTo>
                    <a:cubicBezTo>
                      <a:pt x="768" y="1848"/>
                      <a:pt x="947" y="1714"/>
                      <a:pt x="1125" y="1580"/>
                    </a:cubicBezTo>
                    <a:lnTo>
                      <a:pt x="1125" y="1580"/>
                    </a:lnTo>
                    <a:cubicBezTo>
                      <a:pt x="1303" y="1446"/>
                      <a:pt x="1500" y="1312"/>
                      <a:pt x="1616" y="1152"/>
                    </a:cubicBezTo>
                    <a:lnTo>
                      <a:pt x="1616" y="1152"/>
                    </a:lnTo>
                    <a:cubicBezTo>
                      <a:pt x="1767" y="1152"/>
                      <a:pt x="1919" y="1232"/>
                      <a:pt x="2008" y="1357"/>
                    </a:cubicBezTo>
                    <a:lnTo>
                      <a:pt x="2008" y="1357"/>
                    </a:lnTo>
                    <a:cubicBezTo>
                      <a:pt x="2097" y="1491"/>
                      <a:pt x="2115" y="1678"/>
                      <a:pt x="2044" y="1821"/>
                    </a:cubicBezTo>
                    <a:lnTo>
                      <a:pt x="2044" y="1821"/>
                    </a:lnTo>
                    <a:cubicBezTo>
                      <a:pt x="2035" y="1839"/>
                      <a:pt x="2044" y="1856"/>
                      <a:pt x="2062" y="1865"/>
                    </a:cubicBezTo>
                    <a:lnTo>
                      <a:pt x="2062" y="1865"/>
                    </a:lnTo>
                    <a:cubicBezTo>
                      <a:pt x="2062" y="1865"/>
                      <a:pt x="2071" y="1865"/>
                      <a:pt x="2071" y="1865"/>
                    </a:cubicBezTo>
                    <a:lnTo>
                      <a:pt x="2071" y="1865"/>
                    </a:lnTo>
                    <a:cubicBezTo>
                      <a:pt x="2088" y="1865"/>
                      <a:pt x="2097" y="1856"/>
                      <a:pt x="2097" y="1848"/>
                    </a:cubicBezTo>
                    <a:lnTo>
                      <a:pt x="2097" y="1848"/>
                    </a:lnTo>
                    <a:cubicBezTo>
                      <a:pt x="2178" y="1687"/>
                      <a:pt x="2160" y="1473"/>
                      <a:pt x="2062" y="1321"/>
                    </a:cubicBezTo>
                    <a:lnTo>
                      <a:pt x="2062" y="1321"/>
                    </a:lnTo>
                    <a:cubicBezTo>
                      <a:pt x="1972" y="1187"/>
                      <a:pt x="1821" y="1098"/>
                      <a:pt x="1660" y="1089"/>
                    </a:cubicBezTo>
                    <a:lnTo>
                      <a:pt x="1660" y="1089"/>
                    </a:lnTo>
                    <a:cubicBezTo>
                      <a:pt x="1678" y="1054"/>
                      <a:pt x="1696" y="1018"/>
                      <a:pt x="1714" y="982"/>
                    </a:cubicBezTo>
                    <a:lnTo>
                      <a:pt x="1714" y="982"/>
                    </a:lnTo>
                    <a:cubicBezTo>
                      <a:pt x="1821" y="706"/>
                      <a:pt x="2062" y="456"/>
                      <a:pt x="2365" y="295"/>
                    </a:cubicBezTo>
                    <a:lnTo>
                      <a:pt x="2365" y="295"/>
                    </a:lnTo>
                    <a:cubicBezTo>
                      <a:pt x="2303" y="474"/>
                      <a:pt x="2338" y="679"/>
                      <a:pt x="2445" y="848"/>
                    </a:cubicBezTo>
                    <a:lnTo>
                      <a:pt x="2445" y="848"/>
                    </a:lnTo>
                    <a:cubicBezTo>
                      <a:pt x="2472" y="884"/>
                      <a:pt x="2508" y="920"/>
                      <a:pt x="2552" y="947"/>
                    </a:cubicBezTo>
                    <a:lnTo>
                      <a:pt x="2552" y="947"/>
                    </a:lnTo>
                    <a:cubicBezTo>
                      <a:pt x="2570" y="947"/>
                      <a:pt x="2579" y="947"/>
                      <a:pt x="2597" y="947"/>
                    </a:cubicBezTo>
                    <a:lnTo>
                      <a:pt x="2597" y="947"/>
                    </a:lnTo>
                    <a:cubicBezTo>
                      <a:pt x="2642" y="947"/>
                      <a:pt x="2686" y="929"/>
                      <a:pt x="2704" y="893"/>
                    </a:cubicBezTo>
                    <a:lnTo>
                      <a:pt x="2704" y="893"/>
                    </a:lnTo>
                    <a:cubicBezTo>
                      <a:pt x="2713" y="875"/>
                      <a:pt x="2704" y="857"/>
                      <a:pt x="2686" y="848"/>
                    </a:cubicBezTo>
                    <a:lnTo>
                      <a:pt x="2686" y="848"/>
                    </a:lnTo>
                    <a:cubicBezTo>
                      <a:pt x="2668" y="839"/>
                      <a:pt x="2650" y="848"/>
                      <a:pt x="2642" y="866"/>
                    </a:cubicBezTo>
                    <a:lnTo>
                      <a:pt x="2642" y="866"/>
                    </a:lnTo>
                    <a:cubicBezTo>
                      <a:pt x="2642" y="875"/>
                      <a:pt x="2615" y="884"/>
                      <a:pt x="2597" y="884"/>
                    </a:cubicBezTo>
                    <a:lnTo>
                      <a:pt x="2597" y="884"/>
                    </a:lnTo>
                    <a:cubicBezTo>
                      <a:pt x="2588" y="884"/>
                      <a:pt x="2579" y="884"/>
                      <a:pt x="2579" y="884"/>
                    </a:cubicBezTo>
                    <a:moveTo>
                      <a:pt x="6701" y="1589"/>
                    </a:moveTo>
                    <a:cubicBezTo>
                      <a:pt x="6710" y="1571"/>
                      <a:pt x="6710" y="1553"/>
                      <a:pt x="6701" y="1544"/>
                    </a:cubicBezTo>
                    <a:lnTo>
                      <a:pt x="6701" y="1544"/>
                    </a:lnTo>
                    <a:cubicBezTo>
                      <a:pt x="6656" y="1500"/>
                      <a:pt x="6594" y="1286"/>
                      <a:pt x="6611" y="1250"/>
                    </a:cubicBezTo>
                    <a:lnTo>
                      <a:pt x="6611" y="1250"/>
                    </a:lnTo>
                    <a:cubicBezTo>
                      <a:pt x="6629" y="1205"/>
                      <a:pt x="6683" y="1170"/>
                      <a:pt x="6736" y="1170"/>
                    </a:cubicBezTo>
                    <a:lnTo>
                      <a:pt x="6736" y="1170"/>
                    </a:lnTo>
                    <a:cubicBezTo>
                      <a:pt x="6736" y="1170"/>
                      <a:pt x="6736" y="1170"/>
                      <a:pt x="6745" y="1170"/>
                    </a:cubicBezTo>
                    <a:lnTo>
                      <a:pt x="6745" y="1170"/>
                    </a:lnTo>
                    <a:cubicBezTo>
                      <a:pt x="6870" y="1161"/>
                      <a:pt x="6995" y="1223"/>
                      <a:pt x="7111" y="1286"/>
                    </a:cubicBezTo>
                    <a:lnTo>
                      <a:pt x="7111" y="1286"/>
                    </a:lnTo>
                    <a:cubicBezTo>
                      <a:pt x="7254" y="1357"/>
                      <a:pt x="7405" y="1437"/>
                      <a:pt x="7575" y="1384"/>
                    </a:cubicBezTo>
                    <a:lnTo>
                      <a:pt x="7575" y="1384"/>
                    </a:lnTo>
                    <a:cubicBezTo>
                      <a:pt x="7843" y="1303"/>
                      <a:pt x="8155" y="1232"/>
                      <a:pt x="8449" y="1303"/>
                    </a:cubicBezTo>
                    <a:lnTo>
                      <a:pt x="8449" y="1303"/>
                    </a:lnTo>
                    <a:cubicBezTo>
                      <a:pt x="8467" y="1303"/>
                      <a:pt x="8494" y="1312"/>
                      <a:pt x="8521" y="1321"/>
                    </a:cubicBezTo>
                    <a:lnTo>
                      <a:pt x="8521" y="1321"/>
                    </a:lnTo>
                    <a:cubicBezTo>
                      <a:pt x="8592" y="1410"/>
                      <a:pt x="8628" y="1535"/>
                      <a:pt x="8601" y="1642"/>
                    </a:cubicBezTo>
                    <a:lnTo>
                      <a:pt x="8601" y="1642"/>
                    </a:lnTo>
                    <a:cubicBezTo>
                      <a:pt x="8574" y="1749"/>
                      <a:pt x="8494" y="1848"/>
                      <a:pt x="8387" y="1892"/>
                    </a:cubicBezTo>
                    <a:lnTo>
                      <a:pt x="8387" y="1892"/>
                    </a:lnTo>
                    <a:cubicBezTo>
                      <a:pt x="8378" y="1901"/>
                      <a:pt x="8369" y="1919"/>
                      <a:pt x="8378" y="1937"/>
                    </a:cubicBezTo>
                    <a:lnTo>
                      <a:pt x="8378" y="1937"/>
                    </a:lnTo>
                    <a:cubicBezTo>
                      <a:pt x="8378" y="1946"/>
                      <a:pt x="8387" y="1955"/>
                      <a:pt x="8405" y="1955"/>
                    </a:cubicBezTo>
                    <a:lnTo>
                      <a:pt x="8405" y="1955"/>
                    </a:lnTo>
                    <a:cubicBezTo>
                      <a:pt x="8405" y="1955"/>
                      <a:pt x="8413" y="1955"/>
                      <a:pt x="8413" y="1955"/>
                    </a:cubicBezTo>
                    <a:lnTo>
                      <a:pt x="8413" y="1955"/>
                    </a:lnTo>
                    <a:cubicBezTo>
                      <a:pt x="8538" y="1901"/>
                      <a:pt x="8636" y="1785"/>
                      <a:pt x="8663" y="1651"/>
                    </a:cubicBezTo>
                    <a:lnTo>
                      <a:pt x="8663" y="1651"/>
                    </a:lnTo>
                    <a:cubicBezTo>
                      <a:pt x="8681" y="1562"/>
                      <a:pt x="8672" y="1464"/>
                      <a:pt x="8628" y="1375"/>
                    </a:cubicBezTo>
                    <a:lnTo>
                      <a:pt x="8628" y="1375"/>
                    </a:lnTo>
                    <a:cubicBezTo>
                      <a:pt x="9011" y="1607"/>
                      <a:pt x="9243" y="2195"/>
                      <a:pt x="9270" y="2677"/>
                    </a:cubicBezTo>
                    <a:lnTo>
                      <a:pt x="9270" y="2677"/>
                    </a:lnTo>
                    <a:cubicBezTo>
                      <a:pt x="9199" y="2775"/>
                      <a:pt x="9047" y="2784"/>
                      <a:pt x="8931" y="2757"/>
                    </a:cubicBezTo>
                    <a:lnTo>
                      <a:pt x="8931" y="2757"/>
                    </a:lnTo>
                    <a:cubicBezTo>
                      <a:pt x="8886" y="2749"/>
                      <a:pt x="8833" y="2731"/>
                      <a:pt x="8788" y="2713"/>
                    </a:cubicBezTo>
                    <a:lnTo>
                      <a:pt x="8788" y="2713"/>
                    </a:lnTo>
                    <a:cubicBezTo>
                      <a:pt x="8699" y="2686"/>
                      <a:pt x="8610" y="2659"/>
                      <a:pt x="8521" y="2650"/>
                    </a:cubicBezTo>
                    <a:lnTo>
                      <a:pt x="8521" y="2650"/>
                    </a:lnTo>
                    <a:cubicBezTo>
                      <a:pt x="8351" y="2642"/>
                      <a:pt x="8182" y="2731"/>
                      <a:pt x="8083" y="2865"/>
                    </a:cubicBezTo>
                    <a:lnTo>
                      <a:pt x="8083" y="2865"/>
                    </a:lnTo>
                    <a:cubicBezTo>
                      <a:pt x="8074" y="2882"/>
                      <a:pt x="8074" y="2900"/>
                      <a:pt x="8092" y="2909"/>
                    </a:cubicBezTo>
                    <a:lnTo>
                      <a:pt x="8092" y="2909"/>
                    </a:lnTo>
                    <a:cubicBezTo>
                      <a:pt x="8101" y="2918"/>
                      <a:pt x="8101" y="2918"/>
                      <a:pt x="8110" y="2918"/>
                    </a:cubicBezTo>
                    <a:lnTo>
                      <a:pt x="8110" y="2918"/>
                    </a:lnTo>
                    <a:cubicBezTo>
                      <a:pt x="8119" y="2918"/>
                      <a:pt x="8128" y="2909"/>
                      <a:pt x="8137" y="2900"/>
                    </a:cubicBezTo>
                    <a:lnTo>
                      <a:pt x="8137" y="2900"/>
                    </a:lnTo>
                    <a:cubicBezTo>
                      <a:pt x="8217" y="2784"/>
                      <a:pt x="8369" y="2713"/>
                      <a:pt x="8521" y="2713"/>
                    </a:cubicBezTo>
                    <a:lnTo>
                      <a:pt x="8521" y="2713"/>
                    </a:lnTo>
                    <a:cubicBezTo>
                      <a:pt x="8601" y="2722"/>
                      <a:pt x="8681" y="2749"/>
                      <a:pt x="8761" y="2775"/>
                    </a:cubicBezTo>
                    <a:lnTo>
                      <a:pt x="8761" y="2775"/>
                    </a:lnTo>
                    <a:cubicBezTo>
                      <a:pt x="8815" y="2784"/>
                      <a:pt x="8868" y="2802"/>
                      <a:pt x="8922" y="2820"/>
                    </a:cubicBezTo>
                    <a:lnTo>
                      <a:pt x="8922" y="2820"/>
                    </a:lnTo>
                    <a:cubicBezTo>
                      <a:pt x="9029" y="2847"/>
                      <a:pt x="9172" y="2838"/>
                      <a:pt x="9270" y="2757"/>
                    </a:cubicBezTo>
                    <a:lnTo>
                      <a:pt x="9270" y="2757"/>
                    </a:lnTo>
                    <a:cubicBezTo>
                      <a:pt x="9270" y="2820"/>
                      <a:pt x="9270" y="2882"/>
                      <a:pt x="9261" y="2945"/>
                    </a:cubicBezTo>
                    <a:lnTo>
                      <a:pt x="9261" y="2945"/>
                    </a:lnTo>
                    <a:cubicBezTo>
                      <a:pt x="9199" y="3400"/>
                      <a:pt x="8904" y="3792"/>
                      <a:pt x="8645" y="4140"/>
                    </a:cubicBezTo>
                    <a:lnTo>
                      <a:pt x="8645" y="4140"/>
                    </a:lnTo>
                    <a:cubicBezTo>
                      <a:pt x="8574" y="4229"/>
                      <a:pt x="8503" y="4319"/>
                      <a:pt x="8431" y="4408"/>
                    </a:cubicBezTo>
                    <a:lnTo>
                      <a:pt x="8431" y="4408"/>
                    </a:lnTo>
                    <a:cubicBezTo>
                      <a:pt x="8396" y="4212"/>
                      <a:pt x="8262" y="3962"/>
                      <a:pt x="8119" y="3864"/>
                    </a:cubicBezTo>
                    <a:lnTo>
                      <a:pt x="8119" y="3864"/>
                    </a:lnTo>
                    <a:cubicBezTo>
                      <a:pt x="7950" y="3757"/>
                      <a:pt x="7727" y="3730"/>
                      <a:pt x="7530" y="3801"/>
                    </a:cubicBezTo>
                    <a:lnTo>
                      <a:pt x="7530" y="3801"/>
                    </a:lnTo>
                    <a:cubicBezTo>
                      <a:pt x="7530" y="3801"/>
                      <a:pt x="7521" y="3810"/>
                      <a:pt x="7512" y="3819"/>
                    </a:cubicBezTo>
                    <a:lnTo>
                      <a:pt x="7512" y="3819"/>
                    </a:lnTo>
                    <a:cubicBezTo>
                      <a:pt x="7512" y="3828"/>
                      <a:pt x="7512" y="3837"/>
                      <a:pt x="7512" y="3846"/>
                    </a:cubicBezTo>
                    <a:lnTo>
                      <a:pt x="7512" y="3846"/>
                    </a:lnTo>
                    <a:cubicBezTo>
                      <a:pt x="7539" y="3899"/>
                      <a:pt x="7611" y="3926"/>
                      <a:pt x="7664" y="3908"/>
                    </a:cubicBezTo>
                    <a:lnTo>
                      <a:pt x="7664" y="3908"/>
                    </a:lnTo>
                    <a:cubicBezTo>
                      <a:pt x="7682" y="3899"/>
                      <a:pt x="7691" y="3882"/>
                      <a:pt x="7682" y="3864"/>
                    </a:cubicBezTo>
                    <a:lnTo>
                      <a:pt x="7682" y="3864"/>
                    </a:lnTo>
                    <a:cubicBezTo>
                      <a:pt x="7673" y="3846"/>
                      <a:pt x="7655" y="3837"/>
                      <a:pt x="7637" y="3846"/>
                    </a:cubicBezTo>
                    <a:lnTo>
                      <a:pt x="7637" y="3846"/>
                    </a:lnTo>
                    <a:cubicBezTo>
                      <a:pt x="7628" y="3846"/>
                      <a:pt x="7619" y="3846"/>
                      <a:pt x="7611" y="3846"/>
                    </a:cubicBezTo>
                    <a:lnTo>
                      <a:pt x="7611" y="3846"/>
                    </a:lnTo>
                    <a:cubicBezTo>
                      <a:pt x="7762" y="3801"/>
                      <a:pt x="7941" y="3828"/>
                      <a:pt x="8083" y="3917"/>
                    </a:cubicBezTo>
                    <a:lnTo>
                      <a:pt x="8083" y="3917"/>
                    </a:lnTo>
                    <a:cubicBezTo>
                      <a:pt x="8226" y="4015"/>
                      <a:pt x="8360" y="4292"/>
                      <a:pt x="8378" y="4479"/>
                    </a:cubicBezTo>
                    <a:lnTo>
                      <a:pt x="8378" y="4479"/>
                    </a:lnTo>
                    <a:cubicBezTo>
                      <a:pt x="8280" y="4595"/>
                      <a:pt x="8173" y="4720"/>
                      <a:pt x="8048" y="4818"/>
                    </a:cubicBezTo>
                    <a:lnTo>
                      <a:pt x="8048" y="4818"/>
                    </a:lnTo>
                    <a:cubicBezTo>
                      <a:pt x="7869" y="4979"/>
                      <a:pt x="7664" y="5104"/>
                      <a:pt x="7459" y="5229"/>
                    </a:cubicBezTo>
                    <a:lnTo>
                      <a:pt x="7459" y="5229"/>
                    </a:lnTo>
                    <a:cubicBezTo>
                      <a:pt x="7423" y="5246"/>
                      <a:pt x="7396" y="5273"/>
                      <a:pt x="7361" y="5291"/>
                    </a:cubicBezTo>
                    <a:lnTo>
                      <a:pt x="7361" y="5291"/>
                    </a:lnTo>
                    <a:cubicBezTo>
                      <a:pt x="7396" y="4881"/>
                      <a:pt x="7120" y="4470"/>
                      <a:pt x="6718" y="4372"/>
                    </a:cubicBezTo>
                    <a:lnTo>
                      <a:pt x="6718" y="4372"/>
                    </a:lnTo>
                    <a:cubicBezTo>
                      <a:pt x="6576" y="4328"/>
                      <a:pt x="6424" y="4328"/>
                      <a:pt x="6272" y="4328"/>
                    </a:cubicBezTo>
                    <a:lnTo>
                      <a:pt x="6272" y="4328"/>
                    </a:lnTo>
                    <a:cubicBezTo>
                      <a:pt x="6049" y="4328"/>
                      <a:pt x="5844" y="4328"/>
                      <a:pt x="5675" y="4212"/>
                    </a:cubicBezTo>
                    <a:lnTo>
                      <a:pt x="5675" y="4212"/>
                    </a:lnTo>
                    <a:cubicBezTo>
                      <a:pt x="5657" y="4203"/>
                      <a:pt x="5639" y="4203"/>
                      <a:pt x="5630" y="4221"/>
                    </a:cubicBezTo>
                    <a:lnTo>
                      <a:pt x="5630" y="4221"/>
                    </a:lnTo>
                    <a:cubicBezTo>
                      <a:pt x="5621" y="4229"/>
                      <a:pt x="5621" y="4256"/>
                      <a:pt x="5639" y="4265"/>
                    </a:cubicBezTo>
                    <a:lnTo>
                      <a:pt x="5639" y="4265"/>
                    </a:lnTo>
                    <a:cubicBezTo>
                      <a:pt x="5826" y="4390"/>
                      <a:pt x="6049" y="4390"/>
                      <a:pt x="6272" y="4390"/>
                    </a:cubicBezTo>
                    <a:lnTo>
                      <a:pt x="6272" y="4390"/>
                    </a:lnTo>
                    <a:cubicBezTo>
                      <a:pt x="6415" y="4390"/>
                      <a:pt x="6567" y="4390"/>
                      <a:pt x="6701" y="4435"/>
                    </a:cubicBezTo>
                    <a:lnTo>
                      <a:pt x="6701" y="4435"/>
                    </a:lnTo>
                    <a:cubicBezTo>
                      <a:pt x="7075" y="4533"/>
                      <a:pt x="7343" y="4934"/>
                      <a:pt x="7298" y="5318"/>
                    </a:cubicBezTo>
                    <a:lnTo>
                      <a:pt x="7298" y="5318"/>
                    </a:lnTo>
                    <a:cubicBezTo>
                      <a:pt x="7289" y="5318"/>
                      <a:pt x="7298" y="5327"/>
                      <a:pt x="7298" y="5327"/>
                    </a:cubicBezTo>
                    <a:lnTo>
                      <a:pt x="7298" y="5327"/>
                    </a:lnTo>
                    <a:cubicBezTo>
                      <a:pt x="7227" y="5371"/>
                      <a:pt x="7156" y="5416"/>
                      <a:pt x="7084" y="5469"/>
                    </a:cubicBezTo>
                    <a:lnTo>
                      <a:pt x="7084" y="5469"/>
                    </a:lnTo>
                    <a:cubicBezTo>
                      <a:pt x="6843" y="5639"/>
                      <a:pt x="6620" y="5835"/>
                      <a:pt x="6406" y="6031"/>
                    </a:cubicBezTo>
                    <a:lnTo>
                      <a:pt x="6406" y="6031"/>
                    </a:lnTo>
                    <a:cubicBezTo>
                      <a:pt x="6397" y="6040"/>
                      <a:pt x="6379" y="6049"/>
                      <a:pt x="6371" y="6058"/>
                    </a:cubicBezTo>
                    <a:lnTo>
                      <a:pt x="6371" y="6058"/>
                    </a:lnTo>
                    <a:cubicBezTo>
                      <a:pt x="6379" y="5898"/>
                      <a:pt x="6299" y="5737"/>
                      <a:pt x="6139" y="5585"/>
                    </a:cubicBezTo>
                    <a:lnTo>
                      <a:pt x="6139" y="5585"/>
                    </a:lnTo>
                    <a:cubicBezTo>
                      <a:pt x="5987" y="5434"/>
                      <a:pt x="5791" y="5345"/>
                      <a:pt x="5612" y="5273"/>
                    </a:cubicBezTo>
                    <a:lnTo>
                      <a:pt x="5612" y="5273"/>
                    </a:lnTo>
                    <a:cubicBezTo>
                      <a:pt x="5568" y="5255"/>
                      <a:pt x="5523" y="5238"/>
                      <a:pt x="5470" y="5229"/>
                    </a:cubicBezTo>
                    <a:lnTo>
                      <a:pt x="5470" y="5229"/>
                    </a:lnTo>
                    <a:cubicBezTo>
                      <a:pt x="5336" y="5175"/>
                      <a:pt x="5193" y="5122"/>
                      <a:pt x="5059" y="5050"/>
                    </a:cubicBezTo>
                    <a:lnTo>
                      <a:pt x="5059" y="5050"/>
                    </a:lnTo>
                    <a:cubicBezTo>
                      <a:pt x="5006" y="5023"/>
                      <a:pt x="4943" y="4979"/>
                      <a:pt x="4907" y="4925"/>
                    </a:cubicBezTo>
                    <a:lnTo>
                      <a:pt x="4907" y="4925"/>
                    </a:lnTo>
                    <a:cubicBezTo>
                      <a:pt x="4881" y="4881"/>
                      <a:pt x="4863" y="4809"/>
                      <a:pt x="4899" y="4765"/>
                    </a:cubicBezTo>
                    <a:lnTo>
                      <a:pt x="4899" y="4765"/>
                    </a:lnTo>
                    <a:cubicBezTo>
                      <a:pt x="4916" y="4738"/>
                      <a:pt x="4943" y="4720"/>
                      <a:pt x="4970" y="4720"/>
                    </a:cubicBezTo>
                    <a:lnTo>
                      <a:pt x="4970" y="4720"/>
                    </a:lnTo>
                    <a:cubicBezTo>
                      <a:pt x="4988" y="4720"/>
                      <a:pt x="5015" y="4720"/>
                      <a:pt x="5032" y="4738"/>
                    </a:cubicBezTo>
                    <a:lnTo>
                      <a:pt x="5032" y="4738"/>
                    </a:lnTo>
                    <a:cubicBezTo>
                      <a:pt x="5041" y="4756"/>
                      <a:pt x="5059" y="4756"/>
                      <a:pt x="5077" y="4747"/>
                    </a:cubicBezTo>
                    <a:lnTo>
                      <a:pt x="5077" y="4747"/>
                    </a:lnTo>
                    <a:cubicBezTo>
                      <a:pt x="5086" y="4729"/>
                      <a:pt x="5086" y="4711"/>
                      <a:pt x="5077" y="4702"/>
                    </a:cubicBezTo>
                    <a:lnTo>
                      <a:pt x="5077" y="4702"/>
                    </a:lnTo>
                    <a:cubicBezTo>
                      <a:pt x="5050" y="4667"/>
                      <a:pt x="5015" y="4658"/>
                      <a:pt x="4970" y="4658"/>
                    </a:cubicBezTo>
                    <a:lnTo>
                      <a:pt x="4970" y="4658"/>
                    </a:lnTo>
                    <a:cubicBezTo>
                      <a:pt x="4916" y="4658"/>
                      <a:pt x="4872" y="4684"/>
                      <a:pt x="4845" y="4729"/>
                    </a:cubicBezTo>
                    <a:lnTo>
                      <a:pt x="4845" y="4729"/>
                    </a:lnTo>
                    <a:cubicBezTo>
                      <a:pt x="4800" y="4800"/>
                      <a:pt x="4818" y="4899"/>
                      <a:pt x="4854" y="4961"/>
                    </a:cubicBezTo>
                    <a:lnTo>
                      <a:pt x="4854" y="4961"/>
                    </a:lnTo>
                    <a:cubicBezTo>
                      <a:pt x="4899" y="5023"/>
                      <a:pt x="4970" y="5068"/>
                      <a:pt x="5032" y="5104"/>
                    </a:cubicBezTo>
                    <a:lnTo>
                      <a:pt x="5032" y="5104"/>
                    </a:lnTo>
                    <a:cubicBezTo>
                      <a:pt x="5166" y="5175"/>
                      <a:pt x="5309" y="5229"/>
                      <a:pt x="5452" y="5282"/>
                    </a:cubicBezTo>
                    <a:lnTo>
                      <a:pt x="5452" y="5282"/>
                    </a:lnTo>
                    <a:cubicBezTo>
                      <a:pt x="5496" y="5300"/>
                      <a:pt x="5541" y="5318"/>
                      <a:pt x="5594" y="5336"/>
                    </a:cubicBezTo>
                    <a:lnTo>
                      <a:pt x="5594" y="5336"/>
                    </a:lnTo>
                    <a:cubicBezTo>
                      <a:pt x="5755" y="5398"/>
                      <a:pt x="5951" y="5487"/>
                      <a:pt x="6094" y="5630"/>
                    </a:cubicBezTo>
                    <a:lnTo>
                      <a:pt x="6094" y="5630"/>
                    </a:lnTo>
                    <a:cubicBezTo>
                      <a:pt x="6263" y="5782"/>
                      <a:pt x="6326" y="5951"/>
                      <a:pt x="6308" y="6112"/>
                    </a:cubicBezTo>
                    <a:lnTo>
                      <a:pt x="6308" y="6112"/>
                    </a:lnTo>
                    <a:cubicBezTo>
                      <a:pt x="6308" y="6112"/>
                      <a:pt x="6308" y="6112"/>
                      <a:pt x="6308" y="6121"/>
                    </a:cubicBezTo>
                    <a:lnTo>
                      <a:pt x="6308" y="6121"/>
                    </a:lnTo>
                    <a:cubicBezTo>
                      <a:pt x="6156" y="6255"/>
                      <a:pt x="5996" y="6388"/>
                      <a:pt x="5835" y="6513"/>
                    </a:cubicBezTo>
                    <a:lnTo>
                      <a:pt x="5835" y="6513"/>
                    </a:lnTo>
                    <a:cubicBezTo>
                      <a:pt x="5505" y="6754"/>
                      <a:pt x="5006" y="7031"/>
                      <a:pt x="4479" y="7013"/>
                    </a:cubicBezTo>
                    <a:lnTo>
                      <a:pt x="4479" y="7013"/>
                    </a:lnTo>
                    <a:cubicBezTo>
                      <a:pt x="4702" y="6897"/>
                      <a:pt x="4854" y="6692"/>
                      <a:pt x="4890" y="6442"/>
                    </a:cubicBezTo>
                    <a:lnTo>
                      <a:pt x="4890" y="6442"/>
                    </a:lnTo>
                    <a:cubicBezTo>
                      <a:pt x="4934" y="6147"/>
                      <a:pt x="4792" y="5826"/>
                      <a:pt x="4542" y="5666"/>
                    </a:cubicBezTo>
                    <a:lnTo>
                      <a:pt x="4542" y="5666"/>
                    </a:lnTo>
                    <a:cubicBezTo>
                      <a:pt x="4524" y="5657"/>
                      <a:pt x="4506" y="5657"/>
                      <a:pt x="4497" y="5675"/>
                    </a:cubicBezTo>
                    <a:lnTo>
                      <a:pt x="4497" y="5675"/>
                    </a:lnTo>
                    <a:cubicBezTo>
                      <a:pt x="4488" y="5684"/>
                      <a:pt x="4497" y="5710"/>
                      <a:pt x="4506" y="5719"/>
                    </a:cubicBezTo>
                    <a:lnTo>
                      <a:pt x="4506" y="5719"/>
                    </a:lnTo>
                    <a:cubicBezTo>
                      <a:pt x="4738" y="5862"/>
                      <a:pt x="4872" y="6156"/>
                      <a:pt x="4827" y="6433"/>
                    </a:cubicBezTo>
                    <a:lnTo>
                      <a:pt x="4827" y="6433"/>
                    </a:lnTo>
                    <a:cubicBezTo>
                      <a:pt x="4792" y="6701"/>
                      <a:pt x="4604" y="6915"/>
                      <a:pt x="4345" y="6995"/>
                    </a:cubicBezTo>
                    <a:lnTo>
                      <a:pt x="4345" y="6995"/>
                    </a:lnTo>
                    <a:cubicBezTo>
                      <a:pt x="4149" y="6968"/>
                      <a:pt x="3962" y="6897"/>
                      <a:pt x="3783" y="6825"/>
                    </a:cubicBezTo>
                    <a:lnTo>
                      <a:pt x="3783" y="6825"/>
                    </a:lnTo>
                    <a:cubicBezTo>
                      <a:pt x="3676" y="6781"/>
                      <a:pt x="3560" y="6736"/>
                      <a:pt x="3444" y="6701"/>
                    </a:cubicBezTo>
                    <a:lnTo>
                      <a:pt x="3444" y="6701"/>
                    </a:lnTo>
                    <a:cubicBezTo>
                      <a:pt x="3293" y="6656"/>
                      <a:pt x="3141" y="6629"/>
                      <a:pt x="2998" y="6602"/>
                    </a:cubicBezTo>
                    <a:lnTo>
                      <a:pt x="2998" y="6602"/>
                    </a:lnTo>
                    <a:cubicBezTo>
                      <a:pt x="3097" y="6576"/>
                      <a:pt x="3186" y="6540"/>
                      <a:pt x="3266" y="6478"/>
                    </a:cubicBezTo>
                    <a:lnTo>
                      <a:pt x="3266" y="6478"/>
                    </a:lnTo>
                    <a:cubicBezTo>
                      <a:pt x="3409" y="6370"/>
                      <a:pt x="3507" y="6192"/>
                      <a:pt x="3516" y="6014"/>
                    </a:cubicBezTo>
                    <a:lnTo>
                      <a:pt x="3516" y="6014"/>
                    </a:lnTo>
                    <a:cubicBezTo>
                      <a:pt x="3516" y="5996"/>
                      <a:pt x="3507" y="5978"/>
                      <a:pt x="3489" y="5978"/>
                    </a:cubicBezTo>
                    <a:lnTo>
                      <a:pt x="3489" y="5978"/>
                    </a:lnTo>
                    <a:cubicBezTo>
                      <a:pt x="3471" y="5978"/>
                      <a:pt x="3453" y="5987"/>
                      <a:pt x="3453" y="6005"/>
                    </a:cubicBezTo>
                    <a:lnTo>
                      <a:pt x="3453" y="6005"/>
                    </a:lnTo>
                    <a:cubicBezTo>
                      <a:pt x="3444" y="6165"/>
                      <a:pt x="3355" y="6326"/>
                      <a:pt x="3221" y="6424"/>
                    </a:cubicBezTo>
                    <a:lnTo>
                      <a:pt x="3221" y="6424"/>
                    </a:lnTo>
                    <a:cubicBezTo>
                      <a:pt x="3097" y="6531"/>
                      <a:pt x="2918" y="6576"/>
                      <a:pt x="2758" y="6549"/>
                    </a:cubicBezTo>
                    <a:lnTo>
                      <a:pt x="2758" y="6549"/>
                    </a:lnTo>
                    <a:cubicBezTo>
                      <a:pt x="2749" y="6549"/>
                      <a:pt x="2749" y="6549"/>
                      <a:pt x="2740" y="6549"/>
                    </a:cubicBezTo>
                    <a:lnTo>
                      <a:pt x="2740" y="6549"/>
                    </a:lnTo>
                    <a:cubicBezTo>
                      <a:pt x="2597" y="6513"/>
                      <a:pt x="2454" y="6478"/>
                      <a:pt x="2320" y="6415"/>
                    </a:cubicBezTo>
                    <a:lnTo>
                      <a:pt x="2320" y="6415"/>
                    </a:lnTo>
                    <a:cubicBezTo>
                      <a:pt x="2106" y="6308"/>
                      <a:pt x="1919" y="6147"/>
                      <a:pt x="1776" y="5951"/>
                    </a:cubicBezTo>
                    <a:lnTo>
                      <a:pt x="1776" y="5951"/>
                    </a:lnTo>
                    <a:cubicBezTo>
                      <a:pt x="1812" y="5960"/>
                      <a:pt x="1856" y="5969"/>
                      <a:pt x="1892" y="5969"/>
                    </a:cubicBezTo>
                    <a:lnTo>
                      <a:pt x="1892" y="5969"/>
                    </a:lnTo>
                    <a:cubicBezTo>
                      <a:pt x="1990" y="5969"/>
                      <a:pt x="2080" y="5933"/>
                      <a:pt x="2160" y="5880"/>
                    </a:cubicBezTo>
                    <a:lnTo>
                      <a:pt x="2160" y="5880"/>
                    </a:lnTo>
                    <a:cubicBezTo>
                      <a:pt x="2267" y="5800"/>
                      <a:pt x="2338" y="5657"/>
                      <a:pt x="2338" y="5514"/>
                    </a:cubicBezTo>
                    <a:lnTo>
                      <a:pt x="2338" y="5514"/>
                    </a:lnTo>
                    <a:cubicBezTo>
                      <a:pt x="2329" y="5496"/>
                      <a:pt x="2320" y="5478"/>
                      <a:pt x="2303" y="5487"/>
                    </a:cubicBezTo>
                    <a:lnTo>
                      <a:pt x="2303" y="5487"/>
                    </a:lnTo>
                    <a:cubicBezTo>
                      <a:pt x="2285" y="5487"/>
                      <a:pt x="2267" y="5496"/>
                      <a:pt x="2267" y="5514"/>
                    </a:cubicBezTo>
                    <a:lnTo>
                      <a:pt x="2267" y="5514"/>
                    </a:lnTo>
                    <a:cubicBezTo>
                      <a:pt x="2276" y="5639"/>
                      <a:pt x="2213" y="5755"/>
                      <a:pt x="2115" y="5826"/>
                    </a:cubicBezTo>
                    <a:lnTo>
                      <a:pt x="2115" y="5826"/>
                    </a:lnTo>
                    <a:cubicBezTo>
                      <a:pt x="2017" y="5907"/>
                      <a:pt x="1892" y="5924"/>
                      <a:pt x="1776" y="5880"/>
                    </a:cubicBezTo>
                    <a:lnTo>
                      <a:pt x="1776" y="5880"/>
                    </a:lnTo>
                    <a:cubicBezTo>
                      <a:pt x="1758" y="5880"/>
                      <a:pt x="1741" y="5880"/>
                      <a:pt x="1741" y="5898"/>
                    </a:cubicBezTo>
                    <a:lnTo>
                      <a:pt x="1741" y="5898"/>
                    </a:lnTo>
                    <a:cubicBezTo>
                      <a:pt x="1482" y="5514"/>
                      <a:pt x="1366" y="5015"/>
                      <a:pt x="1473" y="4542"/>
                    </a:cubicBezTo>
                    <a:lnTo>
                      <a:pt x="1473" y="4542"/>
                    </a:lnTo>
                    <a:cubicBezTo>
                      <a:pt x="1500" y="4399"/>
                      <a:pt x="1544" y="4265"/>
                      <a:pt x="1607" y="4131"/>
                    </a:cubicBezTo>
                    <a:lnTo>
                      <a:pt x="1607" y="4131"/>
                    </a:lnTo>
                    <a:cubicBezTo>
                      <a:pt x="1616" y="4194"/>
                      <a:pt x="1642" y="4247"/>
                      <a:pt x="1714" y="4292"/>
                    </a:cubicBezTo>
                    <a:lnTo>
                      <a:pt x="1714" y="4292"/>
                    </a:lnTo>
                    <a:cubicBezTo>
                      <a:pt x="1776" y="4337"/>
                      <a:pt x="1856" y="4363"/>
                      <a:pt x="1928" y="4363"/>
                    </a:cubicBezTo>
                    <a:lnTo>
                      <a:pt x="1928" y="4363"/>
                    </a:lnTo>
                    <a:cubicBezTo>
                      <a:pt x="1972" y="4363"/>
                      <a:pt x="2017" y="4354"/>
                      <a:pt x="2053" y="4337"/>
                    </a:cubicBezTo>
                    <a:lnTo>
                      <a:pt x="2053" y="4337"/>
                    </a:lnTo>
                    <a:cubicBezTo>
                      <a:pt x="2071" y="4337"/>
                      <a:pt x="2080" y="4319"/>
                      <a:pt x="2071" y="4301"/>
                    </a:cubicBezTo>
                    <a:lnTo>
                      <a:pt x="2071" y="4301"/>
                    </a:lnTo>
                    <a:cubicBezTo>
                      <a:pt x="2071" y="4283"/>
                      <a:pt x="2053" y="4274"/>
                      <a:pt x="2035" y="4283"/>
                    </a:cubicBezTo>
                    <a:lnTo>
                      <a:pt x="2035" y="4283"/>
                    </a:lnTo>
                    <a:cubicBezTo>
                      <a:pt x="1937" y="4319"/>
                      <a:pt x="1830" y="4301"/>
                      <a:pt x="1749" y="4238"/>
                    </a:cubicBezTo>
                    <a:lnTo>
                      <a:pt x="1749" y="4238"/>
                    </a:lnTo>
                    <a:cubicBezTo>
                      <a:pt x="1669" y="4194"/>
                      <a:pt x="1660" y="4122"/>
                      <a:pt x="1660" y="4024"/>
                    </a:cubicBezTo>
                    <a:lnTo>
                      <a:pt x="1660" y="4024"/>
                    </a:lnTo>
                    <a:cubicBezTo>
                      <a:pt x="1830" y="3685"/>
                      <a:pt x="2106" y="3382"/>
                      <a:pt x="2445" y="3141"/>
                    </a:cubicBezTo>
                    <a:lnTo>
                      <a:pt x="2445" y="3141"/>
                    </a:lnTo>
                    <a:lnTo>
                      <a:pt x="2445" y="3141"/>
                    </a:lnTo>
                    <a:cubicBezTo>
                      <a:pt x="2570" y="3043"/>
                      <a:pt x="2713" y="2963"/>
                      <a:pt x="2865" y="2891"/>
                    </a:cubicBezTo>
                    <a:lnTo>
                      <a:pt x="2865" y="2891"/>
                    </a:lnTo>
                    <a:cubicBezTo>
                      <a:pt x="2936" y="2856"/>
                      <a:pt x="2989" y="2811"/>
                      <a:pt x="3043" y="2766"/>
                    </a:cubicBezTo>
                    <a:lnTo>
                      <a:pt x="3043" y="2766"/>
                    </a:lnTo>
                    <a:cubicBezTo>
                      <a:pt x="3230" y="2882"/>
                      <a:pt x="3346" y="3070"/>
                      <a:pt x="3400" y="3320"/>
                    </a:cubicBezTo>
                    <a:lnTo>
                      <a:pt x="3400" y="3320"/>
                    </a:lnTo>
                    <a:cubicBezTo>
                      <a:pt x="3444" y="3560"/>
                      <a:pt x="3391" y="3819"/>
                      <a:pt x="3248" y="4015"/>
                    </a:cubicBezTo>
                    <a:lnTo>
                      <a:pt x="3248" y="4015"/>
                    </a:lnTo>
                    <a:cubicBezTo>
                      <a:pt x="3186" y="4105"/>
                      <a:pt x="3114" y="4176"/>
                      <a:pt x="3043" y="4247"/>
                    </a:cubicBezTo>
                    <a:lnTo>
                      <a:pt x="3043" y="4247"/>
                    </a:lnTo>
                    <a:cubicBezTo>
                      <a:pt x="2998" y="4292"/>
                      <a:pt x="2954" y="4337"/>
                      <a:pt x="2909" y="4390"/>
                    </a:cubicBezTo>
                    <a:lnTo>
                      <a:pt x="2909" y="4390"/>
                    </a:lnTo>
                    <a:cubicBezTo>
                      <a:pt x="2766" y="4551"/>
                      <a:pt x="2695" y="4702"/>
                      <a:pt x="2704" y="4854"/>
                    </a:cubicBezTo>
                    <a:lnTo>
                      <a:pt x="2704" y="4854"/>
                    </a:lnTo>
                    <a:cubicBezTo>
                      <a:pt x="2704" y="4961"/>
                      <a:pt x="2758" y="5068"/>
                      <a:pt x="2838" y="5130"/>
                    </a:cubicBezTo>
                    <a:lnTo>
                      <a:pt x="2838" y="5130"/>
                    </a:lnTo>
                    <a:cubicBezTo>
                      <a:pt x="2891" y="5175"/>
                      <a:pt x="2963" y="5202"/>
                      <a:pt x="3025" y="5202"/>
                    </a:cubicBezTo>
                    <a:lnTo>
                      <a:pt x="3025" y="5202"/>
                    </a:lnTo>
                    <a:cubicBezTo>
                      <a:pt x="3034" y="5202"/>
                      <a:pt x="3043" y="5202"/>
                      <a:pt x="3061" y="5202"/>
                    </a:cubicBezTo>
                    <a:lnTo>
                      <a:pt x="3061" y="5202"/>
                    </a:lnTo>
                    <a:cubicBezTo>
                      <a:pt x="3079" y="5202"/>
                      <a:pt x="3088" y="5184"/>
                      <a:pt x="3088" y="5166"/>
                    </a:cubicBezTo>
                    <a:lnTo>
                      <a:pt x="3088" y="5166"/>
                    </a:lnTo>
                    <a:cubicBezTo>
                      <a:pt x="3079" y="5148"/>
                      <a:pt x="3070" y="5139"/>
                      <a:pt x="3052" y="5139"/>
                    </a:cubicBezTo>
                    <a:lnTo>
                      <a:pt x="3052" y="5139"/>
                    </a:lnTo>
                    <a:cubicBezTo>
                      <a:pt x="2989" y="5148"/>
                      <a:pt x="2927" y="5130"/>
                      <a:pt x="2882" y="5086"/>
                    </a:cubicBezTo>
                    <a:lnTo>
                      <a:pt x="2882" y="5086"/>
                    </a:lnTo>
                    <a:cubicBezTo>
                      <a:pt x="2811" y="5023"/>
                      <a:pt x="2766" y="4943"/>
                      <a:pt x="2766" y="4854"/>
                    </a:cubicBezTo>
                    <a:lnTo>
                      <a:pt x="2766" y="4854"/>
                    </a:lnTo>
                    <a:cubicBezTo>
                      <a:pt x="2758" y="4720"/>
                      <a:pt x="2820" y="4577"/>
                      <a:pt x="2954" y="4426"/>
                    </a:cubicBezTo>
                    <a:lnTo>
                      <a:pt x="2954" y="4426"/>
                    </a:lnTo>
                    <a:cubicBezTo>
                      <a:pt x="2998" y="4381"/>
                      <a:pt x="3043" y="4337"/>
                      <a:pt x="3088" y="4292"/>
                    </a:cubicBezTo>
                    <a:lnTo>
                      <a:pt x="3088" y="4292"/>
                    </a:lnTo>
                    <a:cubicBezTo>
                      <a:pt x="3159" y="4221"/>
                      <a:pt x="3239" y="4140"/>
                      <a:pt x="3302" y="4060"/>
                    </a:cubicBezTo>
                    <a:lnTo>
                      <a:pt x="3302" y="4060"/>
                    </a:lnTo>
                    <a:cubicBezTo>
                      <a:pt x="3453" y="3846"/>
                      <a:pt x="3516" y="3560"/>
                      <a:pt x="3462" y="3302"/>
                    </a:cubicBezTo>
                    <a:lnTo>
                      <a:pt x="3462" y="3302"/>
                    </a:lnTo>
                    <a:cubicBezTo>
                      <a:pt x="3409" y="3043"/>
                      <a:pt x="3284" y="2847"/>
                      <a:pt x="3088" y="2722"/>
                    </a:cubicBezTo>
                    <a:lnTo>
                      <a:pt x="3088" y="2722"/>
                    </a:lnTo>
                    <a:cubicBezTo>
                      <a:pt x="3168" y="2633"/>
                      <a:pt x="3230" y="2526"/>
                      <a:pt x="3293" y="2418"/>
                    </a:cubicBezTo>
                    <a:lnTo>
                      <a:pt x="3293" y="2418"/>
                    </a:lnTo>
                    <a:cubicBezTo>
                      <a:pt x="3364" y="2294"/>
                      <a:pt x="3436" y="2169"/>
                      <a:pt x="3543" y="2053"/>
                    </a:cubicBezTo>
                    <a:lnTo>
                      <a:pt x="3543" y="2053"/>
                    </a:lnTo>
                    <a:cubicBezTo>
                      <a:pt x="3596" y="2008"/>
                      <a:pt x="3659" y="1964"/>
                      <a:pt x="3730" y="1919"/>
                    </a:cubicBezTo>
                    <a:lnTo>
                      <a:pt x="3730" y="1919"/>
                    </a:lnTo>
                    <a:cubicBezTo>
                      <a:pt x="3855" y="1910"/>
                      <a:pt x="3980" y="1972"/>
                      <a:pt x="4042" y="2017"/>
                    </a:cubicBezTo>
                    <a:lnTo>
                      <a:pt x="4042" y="2017"/>
                    </a:lnTo>
                    <a:cubicBezTo>
                      <a:pt x="4399" y="2240"/>
                      <a:pt x="4595" y="2659"/>
                      <a:pt x="4551" y="3070"/>
                    </a:cubicBezTo>
                    <a:lnTo>
                      <a:pt x="4551" y="3070"/>
                    </a:lnTo>
                    <a:cubicBezTo>
                      <a:pt x="4551" y="3079"/>
                      <a:pt x="4560" y="3096"/>
                      <a:pt x="4568" y="3096"/>
                    </a:cubicBezTo>
                    <a:lnTo>
                      <a:pt x="4568" y="3096"/>
                    </a:lnTo>
                    <a:cubicBezTo>
                      <a:pt x="4577" y="3105"/>
                      <a:pt x="4577" y="3105"/>
                      <a:pt x="4586" y="3105"/>
                    </a:cubicBezTo>
                    <a:lnTo>
                      <a:pt x="4586" y="3105"/>
                    </a:lnTo>
                    <a:cubicBezTo>
                      <a:pt x="4586" y="3105"/>
                      <a:pt x="4595" y="3105"/>
                      <a:pt x="4604" y="3096"/>
                    </a:cubicBezTo>
                    <a:lnTo>
                      <a:pt x="4604" y="3096"/>
                    </a:lnTo>
                    <a:lnTo>
                      <a:pt x="4667" y="3061"/>
                    </a:lnTo>
                    <a:cubicBezTo>
                      <a:pt x="4676" y="3052"/>
                      <a:pt x="4684" y="3034"/>
                      <a:pt x="4676" y="3016"/>
                    </a:cubicBezTo>
                    <a:lnTo>
                      <a:pt x="4676" y="3016"/>
                    </a:lnTo>
                    <a:cubicBezTo>
                      <a:pt x="4667" y="2998"/>
                      <a:pt x="4640" y="2998"/>
                      <a:pt x="4631" y="3007"/>
                    </a:cubicBezTo>
                    <a:lnTo>
                      <a:pt x="4631" y="3007"/>
                    </a:lnTo>
                    <a:lnTo>
                      <a:pt x="4622" y="3007"/>
                    </a:lnTo>
                    <a:cubicBezTo>
                      <a:pt x="4640" y="2597"/>
                      <a:pt x="4426" y="2187"/>
                      <a:pt x="4078" y="1964"/>
                    </a:cubicBezTo>
                    <a:lnTo>
                      <a:pt x="4078" y="1964"/>
                    </a:lnTo>
                    <a:cubicBezTo>
                      <a:pt x="3998" y="1910"/>
                      <a:pt x="3917" y="1883"/>
                      <a:pt x="3837" y="1865"/>
                    </a:cubicBezTo>
                    <a:lnTo>
                      <a:pt x="3837" y="1865"/>
                    </a:lnTo>
                    <a:cubicBezTo>
                      <a:pt x="3935" y="1821"/>
                      <a:pt x="4033" y="1776"/>
                      <a:pt x="4140" y="1732"/>
                    </a:cubicBezTo>
                    <a:lnTo>
                      <a:pt x="4140" y="1732"/>
                    </a:lnTo>
                    <a:cubicBezTo>
                      <a:pt x="4310" y="1669"/>
                      <a:pt x="4470" y="1598"/>
                      <a:pt x="4595" y="1517"/>
                    </a:cubicBezTo>
                    <a:lnTo>
                      <a:pt x="4595" y="1517"/>
                    </a:lnTo>
                    <a:cubicBezTo>
                      <a:pt x="4747" y="1410"/>
                      <a:pt x="4943" y="1357"/>
                      <a:pt x="5175" y="1357"/>
                    </a:cubicBezTo>
                    <a:lnTo>
                      <a:pt x="5175" y="1357"/>
                    </a:lnTo>
                    <a:cubicBezTo>
                      <a:pt x="5273" y="1357"/>
                      <a:pt x="5371" y="1366"/>
                      <a:pt x="5478" y="1384"/>
                    </a:cubicBezTo>
                    <a:lnTo>
                      <a:pt x="5478" y="1384"/>
                    </a:lnTo>
                    <a:cubicBezTo>
                      <a:pt x="5273" y="1491"/>
                      <a:pt x="5122" y="1705"/>
                      <a:pt x="5113" y="1937"/>
                    </a:cubicBezTo>
                    <a:lnTo>
                      <a:pt x="5113" y="1937"/>
                    </a:lnTo>
                    <a:cubicBezTo>
                      <a:pt x="5113" y="1955"/>
                      <a:pt x="5122" y="1972"/>
                      <a:pt x="5139" y="1972"/>
                    </a:cubicBezTo>
                    <a:lnTo>
                      <a:pt x="5139" y="1972"/>
                    </a:lnTo>
                    <a:lnTo>
                      <a:pt x="5202" y="1981"/>
                    </a:lnTo>
                    <a:cubicBezTo>
                      <a:pt x="5211" y="1981"/>
                      <a:pt x="5211" y="1981"/>
                      <a:pt x="5211" y="1981"/>
                    </a:cubicBezTo>
                    <a:lnTo>
                      <a:pt x="5211" y="1981"/>
                    </a:lnTo>
                    <a:cubicBezTo>
                      <a:pt x="5229" y="1981"/>
                      <a:pt x="5238" y="1972"/>
                      <a:pt x="5238" y="1955"/>
                    </a:cubicBezTo>
                    <a:lnTo>
                      <a:pt x="5238" y="1955"/>
                    </a:lnTo>
                    <a:cubicBezTo>
                      <a:pt x="5246" y="1937"/>
                      <a:pt x="5229" y="1919"/>
                      <a:pt x="5211" y="1919"/>
                    </a:cubicBezTo>
                    <a:lnTo>
                      <a:pt x="5211" y="1919"/>
                    </a:lnTo>
                    <a:lnTo>
                      <a:pt x="5175" y="1910"/>
                    </a:lnTo>
                    <a:cubicBezTo>
                      <a:pt x="5193" y="1714"/>
                      <a:pt x="5336" y="1517"/>
                      <a:pt x="5514" y="1437"/>
                    </a:cubicBezTo>
                    <a:lnTo>
                      <a:pt x="5514" y="1437"/>
                    </a:lnTo>
                    <a:cubicBezTo>
                      <a:pt x="5532" y="1428"/>
                      <a:pt x="5541" y="1410"/>
                      <a:pt x="5532" y="1393"/>
                    </a:cubicBezTo>
                    <a:lnTo>
                      <a:pt x="5532" y="1393"/>
                    </a:lnTo>
                    <a:cubicBezTo>
                      <a:pt x="5559" y="1401"/>
                      <a:pt x="5585" y="1401"/>
                      <a:pt x="5621" y="1410"/>
                    </a:cubicBezTo>
                    <a:lnTo>
                      <a:pt x="5621" y="1410"/>
                    </a:lnTo>
                    <a:cubicBezTo>
                      <a:pt x="5826" y="1455"/>
                      <a:pt x="6049" y="1375"/>
                      <a:pt x="6272" y="1294"/>
                    </a:cubicBezTo>
                    <a:lnTo>
                      <a:pt x="6272" y="1294"/>
                    </a:lnTo>
                    <a:cubicBezTo>
                      <a:pt x="6371" y="1250"/>
                      <a:pt x="6469" y="1214"/>
                      <a:pt x="6576" y="1187"/>
                    </a:cubicBezTo>
                    <a:lnTo>
                      <a:pt x="6576" y="1187"/>
                    </a:lnTo>
                    <a:cubicBezTo>
                      <a:pt x="6567" y="1205"/>
                      <a:pt x="6558" y="1214"/>
                      <a:pt x="6558" y="1223"/>
                    </a:cubicBezTo>
                    <a:lnTo>
                      <a:pt x="6558" y="1223"/>
                    </a:lnTo>
                    <a:cubicBezTo>
                      <a:pt x="6522" y="1294"/>
                      <a:pt x="6602" y="1535"/>
                      <a:pt x="6656" y="1589"/>
                    </a:cubicBezTo>
                    <a:lnTo>
                      <a:pt x="6656" y="1589"/>
                    </a:lnTo>
                    <a:cubicBezTo>
                      <a:pt x="6656" y="1589"/>
                      <a:pt x="6665" y="1598"/>
                      <a:pt x="6674" y="1598"/>
                    </a:cubicBezTo>
                    <a:lnTo>
                      <a:pt x="6674" y="1598"/>
                    </a:lnTo>
                    <a:cubicBezTo>
                      <a:pt x="6683" y="1598"/>
                      <a:pt x="6692" y="1589"/>
                      <a:pt x="6701" y="1589"/>
                    </a:cubicBezTo>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Google Shape;928;p48">
              <a:extLst>
                <a:ext uri="{FF2B5EF4-FFF2-40B4-BE49-F238E27FC236}">
                  <a16:creationId xmlns:a16="http://schemas.microsoft.com/office/drawing/2014/main" id="{88C3C0B1-DE49-413F-89F4-CB773D52ABE0}"/>
                </a:ext>
              </a:extLst>
            </p:cNvPr>
            <p:cNvSpPr/>
            <p:nvPr/>
          </p:nvSpPr>
          <p:spPr>
            <a:xfrm>
              <a:off x="3186425" y="4160625"/>
              <a:ext cx="533679" cy="414643"/>
            </a:xfrm>
            <a:custGeom>
              <a:avLst/>
              <a:gdLst/>
              <a:ahLst/>
              <a:cxnLst/>
              <a:rect l="l" t="t" r="r" b="b"/>
              <a:pathLst>
                <a:path w="11437" h="8886" extrusionOk="0">
                  <a:moveTo>
                    <a:pt x="2855" y="18"/>
                  </a:moveTo>
                  <a:lnTo>
                    <a:pt x="2061" y="1223"/>
                  </a:lnTo>
                  <a:cubicBezTo>
                    <a:pt x="2052" y="1223"/>
                    <a:pt x="2043" y="1223"/>
                    <a:pt x="2034" y="1223"/>
                  </a:cubicBezTo>
                  <a:lnTo>
                    <a:pt x="2034" y="1223"/>
                  </a:lnTo>
                  <a:cubicBezTo>
                    <a:pt x="1981" y="1223"/>
                    <a:pt x="1936" y="1267"/>
                    <a:pt x="1936" y="1321"/>
                  </a:cubicBezTo>
                  <a:lnTo>
                    <a:pt x="1936" y="1321"/>
                  </a:lnTo>
                  <a:cubicBezTo>
                    <a:pt x="1936" y="1339"/>
                    <a:pt x="1945" y="1357"/>
                    <a:pt x="1954" y="1365"/>
                  </a:cubicBezTo>
                  <a:lnTo>
                    <a:pt x="1954" y="1365"/>
                  </a:lnTo>
                  <a:lnTo>
                    <a:pt x="437" y="2900"/>
                  </a:lnTo>
                  <a:cubicBezTo>
                    <a:pt x="428" y="2900"/>
                    <a:pt x="411" y="2900"/>
                    <a:pt x="402" y="2900"/>
                  </a:cubicBezTo>
                  <a:lnTo>
                    <a:pt x="402" y="2900"/>
                  </a:lnTo>
                  <a:cubicBezTo>
                    <a:pt x="348" y="2900"/>
                    <a:pt x="303" y="2944"/>
                    <a:pt x="303" y="2998"/>
                  </a:cubicBezTo>
                  <a:lnTo>
                    <a:pt x="303" y="2998"/>
                  </a:lnTo>
                  <a:cubicBezTo>
                    <a:pt x="303" y="3034"/>
                    <a:pt x="321" y="3060"/>
                    <a:pt x="357" y="3078"/>
                  </a:cubicBezTo>
                  <a:lnTo>
                    <a:pt x="357" y="3078"/>
                  </a:lnTo>
                  <a:lnTo>
                    <a:pt x="63" y="4827"/>
                  </a:lnTo>
                  <a:cubicBezTo>
                    <a:pt x="27" y="4845"/>
                    <a:pt x="0" y="4880"/>
                    <a:pt x="0" y="4925"/>
                  </a:cubicBezTo>
                  <a:lnTo>
                    <a:pt x="0" y="4925"/>
                  </a:lnTo>
                  <a:cubicBezTo>
                    <a:pt x="0" y="4970"/>
                    <a:pt x="36" y="5014"/>
                    <a:pt x="89" y="5023"/>
                  </a:cubicBezTo>
                  <a:lnTo>
                    <a:pt x="89" y="5023"/>
                  </a:lnTo>
                  <a:lnTo>
                    <a:pt x="660" y="6227"/>
                  </a:lnTo>
                  <a:cubicBezTo>
                    <a:pt x="634" y="6245"/>
                    <a:pt x="625" y="6272"/>
                    <a:pt x="625" y="6308"/>
                  </a:cubicBezTo>
                  <a:lnTo>
                    <a:pt x="625" y="6308"/>
                  </a:lnTo>
                  <a:cubicBezTo>
                    <a:pt x="625" y="6361"/>
                    <a:pt x="669" y="6406"/>
                    <a:pt x="723" y="6406"/>
                  </a:cubicBezTo>
                  <a:lnTo>
                    <a:pt x="723" y="6406"/>
                  </a:lnTo>
                  <a:cubicBezTo>
                    <a:pt x="741" y="6406"/>
                    <a:pt x="758" y="6397"/>
                    <a:pt x="767" y="6388"/>
                  </a:cubicBezTo>
                  <a:lnTo>
                    <a:pt x="767" y="6388"/>
                  </a:lnTo>
                  <a:cubicBezTo>
                    <a:pt x="1338" y="6745"/>
                    <a:pt x="2177" y="7280"/>
                    <a:pt x="2409" y="7467"/>
                  </a:cubicBezTo>
                  <a:lnTo>
                    <a:pt x="2409" y="7467"/>
                  </a:lnTo>
                  <a:cubicBezTo>
                    <a:pt x="2400" y="7476"/>
                    <a:pt x="2400" y="7494"/>
                    <a:pt x="2400" y="7512"/>
                  </a:cubicBezTo>
                  <a:lnTo>
                    <a:pt x="2400" y="7512"/>
                  </a:lnTo>
                  <a:cubicBezTo>
                    <a:pt x="2400" y="7566"/>
                    <a:pt x="2445" y="7610"/>
                    <a:pt x="2498" y="7610"/>
                  </a:cubicBezTo>
                  <a:lnTo>
                    <a:pt x="2498" y="7610"/>
                  </a:lnTo>
                  <a:cubicBezTo>
                    <a:pt x="2525" y="7610"/>
                    <a:pt x="2552" y="7592"/>
                    <a:pt x="2569" y="7574"/>
                  </a:cubicBezTo>
                  <a:lnTo>
                    <a:pt x="2569" y="7574"/>
                  </a:lnTo>
                  <a:lnTo>
                    <a:pt x="3934" y="8065"/>
                  </a:lnTo>
                  <a:cubicBezTo>
                    <a:pt x="3943" y="8119"/>
                    <a:pt x="3979" y="8163"/>
                    <a:pt x="4032" y="8163"/>
                  </a:cubicBezTo>
                  <a:lnTo>
                    <a:pt x="4032" y="8163"/>
                  </a:lnTo>
                  <a:cubicBezTo>
                    <a:pt x="4068" y="8163"/>
                    <a:pt x="4095" y="8145"/>
                    <a:pt x="4113" y="8128"/>
                  </a:cubicBezTo>
                  <a:lnTo>
                    <a:pt x="4113" y="8128"/>
                  </a:lnTo>
                  <a:lnTo>
                    <a:pt x="5915" y="8788"/>
                  </a:lnTo>
                  <a:lnTo>
                    <a:pt x="5915" y="8788"/>
                  </a:lnTo>
                  <a:lnTo>
                    <a:pt x="5915" y="8788"/>
                  </a:lnTo>
                  <a:cubicBezTo>
                    <a:pt x="5915" y="8841"/>
                    <a:pt x="5959" y="8886"/>
                    <a:pt x="6013" y="8886"/>
                  </a:cubicBezTo>
                  <a:lnTo>
                    <a:pt x="6013" y="8886"/>
                  </a:lnTo>
                  <a:cubicBezTo>
                    <a:pt x="6075" y="8886"/>
                    <a:pt x="6120" y="8841"/>
                    <a:pt x="6120" y="8788"/>
                  </a:cubicBezTo>
                  <a:lnTo>
                    <a:pt x="6120" y="8788"/>
                  </a:lnTo>
                  <a:cubicBezTo>
                    <a:pt x="6120" y="8779"/>
                    <a:pt x="6111" y="8770"/>
                    <a:pt x="6111" y="8761"/>
                  </a:cubicBezTo>
                  <a:lnTo>
                    <a:pt x="6111" y="8761"/>
                  </a:lnTo>
                  <a:lnTo>
                    <a:pt x="8636" y="6861"/>
                  </a:lnTo>
                  <a:cubicBezTo>
                    <a:pt x="8645" y="6870"/>
                    <a:pt x="8671" y="6879"/>
                    <a:pt x="8689" y="6879"/>
                  </a:cubicBezTo>
                  <a:lnTo>
                    <a:pt x="8689" y="6879"/>
                  </a:lnTo>
                  <a:cubicBezTo>
                    <a:pt x="8743" y="6879"/>
                    <a:pt x="8787" y="6834"/>
                    <a:pt x="8787" y="6780"/>
                  </a:cubicBezTo>
                  <a:lnTo>
                    <a:pt x="8787" y="6780"/>
                  </a:lnTo>
                  <a:cubicBezTo>
                    <a:pt x="8787" y="6763"/>
                    <a:pt x="8787" y="6754"/>
                    <a:pt x="8778" y="6736"/>
                  </a:cubicBezTo>
                  <a:lnTo>
                    <a:pt x="8778" y="6736"/>
                  </a:lnTo>
                  <a:lnTo>
                    <a:pt x="10438" y="5210"/>
                  </a:lnTo>
                  <a:cubicBezTo>
                    <a:pt x="10447" y="5219"/>
                    <a:pt x="10465" y="5228"/>
                    <a:pt x="10482" y="5228"/>
                  </a:cubicBezTo>
                  <a:lnTo>
                    <a:pt x="10482" y="5228"/>
                  </a:lnTo>
                  <a:cubicBezTo>
                    <a:pt x="10536" y="5228"/>
                    <a:pt x="10580" y="5184"/>
                    <a:pt x="10580" y="5130"/>
                  </a:cubicBezTo>
                  <a:lnTo>
                    <a:pt x="10580" y="5130"/>
                  </a:lnTo>
                  <a:cubicBezTo>
                    <a:pt x="10580" y="5103"/>
                    <a:pt x="10572" y="5077"/>
                    <a:pt x="10554" y="5059"/>
                  </a:cubicBezTo>
                  <a:lnTo>
                    <a:pt x="10554" y="5059"/>
                  </a:lnTo>
                  <a:lnTo>
                    <a:pt x="11330" y="3506"/>
                  </a:lnTo>
                  <a:cubicBezTo>
                    <a:pt x="11330" y="3506"/>
                    <a:pt x="11330" y="3506"/>
                    <a:pt x="11339" y="3506"/>
                  </a:cubicBezTo>
                  <a:lnTo>
                    <a:pt x="11339" y="3506"/>
                  </a:lnTo>
                  <a:cubicBezTo>
                    <a:pt x="11392" y="3506"/>
                    <a:pt x="11437" y="3462"/>
                    <a:pt x="11437" y="3408"/>
                  </a:cubicBezTo>
                  <a:lnTo>
                    <a:pt x="11437" y="3408"/>
                  </a:lnTo>
                  <a:cubicBezTo>
                    <a:pt x="11437" y="3364"/>
                    <a:pt x="11410" y="3328"/>
                    <a:pt x="11374" y="3310"/>
                  </a:cubicBezTo>
                  <a:lnTo>
                    <a:pt x="11374" y="3310"/>
                  </a:lnTo>
                  <a:cubicBezTo>
                    <a:pt x="11321" y="3052"/>
                    <a:pt x="11053" y="2418"/>
                    <a:pt x="10812" y="1856"/>
                  </a:cubicBezTo>
                  <a:lnTo>
                    <a:pt x="10812" y="1856"/>
                  </a:lnTo>
                  <a:cubicBezTo>
                    <a:pt x="10830" y="1838"/>
                    <a:pt x="10839" y="1811"/>
                    <a:pt x="10839" y="1785"/>
                  </a:cubicBezTo>
                  <a:lnTo>
                    <a:pt x="10839" y="1785"/>
                  </a:lnTo>
                  <a:cubicBezTo>
                    <a:pt x="10839" y="1731"/>
                    <a:pt x="10795" y="1687"/>
                    <a:pt x="10741" y="1687"/>
                  </a:cubicBezTo>
                  <a:lnTo>
                    <a:pt x="10741" y="1687"/>
                  </a:lnTo>
                  <a:cubicBezTo>
                    <a:pt x="10723" y="1687"/>
                    <a:pt x="10705" y="1696"/>
                    <a:pt x="10688" y="1704"/>
                  </a:cubicBezTo>
                  <a:lnTo>
                    <a:pt x="10688" y="1704"/>
                  </a:lnTo>
                  <a:lnTo>
                    <a:pt x="8877" y="536"/>
                  </a:lnTo>
                  <a:cubicBezTo>
                    <a:pt x="8877" y="527"/>
                    <a:pt x="8886" y="518"/>
                    <a:pt x="8886" y="509"/>
                  </a:cubicBezTo>
                  <a:lnTo>
                    <a:pt x="8886" y="509"/>
                  </a:lnTo>
                  <a:cubicBezTo>
                    <a:pt x="8886" y="456"/>
                    <a:pt x="8841" y="411"/>
                    <a:pt x="8778" y="411"/>
                  </a:cubicBezTo>
                  <a:lnTo>
                    <a:pt x="8778" y="411"/>
                  </a:lnTo>
                  <a:cubicBezTo>
                    <a:pt x="8752" y="411"/>
                    <a:pt x="8716" y="429"/>
                    <a:pt x="8698" y="456"/>
                  </a:cubicBezTo>
                  <a:lnTo>
                    <a:pt x="8698" y="456"/>
                  </a:lnTo>
                  <a:lnTo>
                    <a:pt x="7440" y="143"/>
                  </a:lnTo>
                  <a:cubicBezTo>
                    <a:pt x="7431" y="99"/>
                    <a:pt x="7387" y="63"/>
                    <a:pt x="7342" y="63"/>
                  </a:cubicBezTo>
                  <a:lnTo>
                    <a:pt x="7342" y="63"/>
                  </a:lnTo>
                  <a:cubicBezTo>
                    <a:pt x="7298" y="63"/>
                    <a:pt x="7262" y="90"/>
                    <a:pt x="7253" y="125"/>
                  </a:cubicBezTo>
                  <a:lnTo>
                    <a:pt x="7253" y="125"/>
                  </a:lnTo>
                  <a:cubicBezTo>
                    <a:pt x="7083" y="117"/>
                    <a:pt x="6736" y="117"/>
                    <a:pt x="5977" y="117"/>
                  </a:cubicBezTo>
                  <a:lnTo>
                    <a:pt x="5977" y="117"/>
                  </a:lnTo>
                  <a:cubicBezTo>
                    <a:pt x="5460" y="125"/>
                    <a:pt x="4942" y="125"/>
                    <a:pt x="4719" y="125"/>
                  </a:cubicBezTo>
                  <a:lnTo>
                    <a:pt x="4719" y="125"/>
                  </a:lnTo>
                  <a:cubicBezTo>
                    <a:pt x="4702" y="99"/>
                    <a:pt x="4666" y="81"/>
                    <a:pt x="4630" y="81"/>
                  </a:cubicBezTo>
                  <a:lnTo>
                    <a:pt x="4630" y="81"/>
                  </a:lnTo>
                  <a:cubicBezTo>
                    <a:pt x="4594" y="81"/>
                    <a:pt x="4568" y="99"/>
                    <a:pt x="4550" y="125"/>
                  </a:cubicBezTo>
                  <a:lnTo>
                    <a:pt x="4550" y="125"/>
                  </a:lnTo>
                  <a:lnTo>
                    <a:pt x="2891" y="1"/>
                  </a:lnTo>
                  <a:cubicBezTo>
                    <a:pt x="2891" y="1"/>
                    <a:pt x="2882" y="1"/>
                    <a:pt x="2882" y="1"/>
                  </a:cubicBezTo>
                  <a:lnTo>
                    <a:pt x="2882" y="1"/>
                  </a:lnTo>
                  <a:cubicBezTo>
                    <a:pt x="2873" y="1"/>
                    <a:pt x="2864" y="9"/>
                    <a:pt x="2855" y="18"/>
                  </a:cubicBezTo>
                  <a:moveTo>
                    <a:pt x="2132" y="1330"/>
                  </a:moveTo>
                  <a:cubicBezTo>
                    <a:pt x="2132" y="1330"/>
                    <a:pt x="2132" y="1330"/>
                    <a:pt x="2132" y="1321"/>
                  </a:cubicBezTo>
                  <a:lnTo>
                    <a:pt x="2132" y="1321"/>
                  </a:lnTo>
                  <a:cubicBezTo>
                    <a:pt x="2132" y="1303"/>
                    <a:pt x="2123" y="1276"/>
                    <a:pt x="2114" y="1258"/>
                  </a:cubicBezTo>
                  <a:lnTo>
                    <a:pt x="2114" y="1258"/>
                  </a:lnTo>
                  <a:lnTo>
                    <a:pt x="2899" y="63"/>
                  </a:lnTo>
                  <a:lnTo>
                    <a:pt x="4532" y="188"/>
                  </a:lnTo>
                  <a:cubicBezTo>
                    <a:pt x="4541" y="232"/>
                    <a:pt x="4586" y="277"/>
                    <a:pt x="4630" y="277"/>
                  </a:cubicBezTo>
                  <a:lnTo>
                    <a:pt x="4630" y="277"/>
                  </a:lnTo>
                  <a:lnTo>
                    <a:pt x="5719" y="2088"/>
                  </a:lnTo>
                  <a:cubicBezTo>
                    <a:pt x="5710" y="2097"/>
                    <a:pt x="5701" y="2106"/>
                    <a:pt x="5701" y="2115"/>
                  </a:cubicBezTo>
                  <a:lnTo>
                    <a:pt x="5701" y="2115"/>
                  </a:lnTo>
                  <a:lnTo>
                    <a:pt x="4755" y="2008"/>
                  </a:lnTo>
                  <a:cubicBezTo>
                    <a:pt x="4746" y="1963"/>
                    <a:pt x="4710" y="1936"/>
                    <a:pt x="4666" y="1936"/>
                  </a:cubicBezTo>
                  <a:lnTo>
                    <a:pt x="4666" y="1936"/>
                  </a:lnTo>
                  <a:cubicBezTo>
                    <a:pt x="4630" y="1936"/>
                    <a:pt x="4594" y="1945"/>
                    <a:pt x="4577" y="1972"/>
                  </a:cubicBezTo>
                  <a:lnTo>
                    <a:pt x="4577" y="1972"/>
                  </a:lnTo>
                  <a:close/>
                  <a:moveTo>
                    <a:pt x="4764" y="188"/>
                  </a:moveTo>
                  <a:cubicBezTo>
                    <a:pt x="5674" y="179"/>
                    <a:pt x="6869" y="179"/>
                    <a:pt x="7244" y="188"/>
                  </a:cubicBezTo>
                  <a:lnTo>
                    <a:pt x="7244" y="188"/>
                  </a:lnTo>
                  <a:cubicBezTo>
                    <a:pt x="7253" y="215"/>
                    <a:pt x="7271" y="232"/>
                    <a:pt x="7298" y="250"/>
                  </a:cubicBezTo>
                  <a:lnTo>
                    <a:pt x="7298" y="250"/>
                  </a:lnTo>
                  <a:cubicBezTo>
                    <a:pt x="7244" y="384"/>
                    <a:pt x="7155" y="634"/>
                    <a:pt x="7039" y="1000"/>
                  </a:cubicBezTo>
                  <a:lnTo>
                    <a:pt x="7039" y="1000"/>
                  </a:lnTo>
                  <a:cubicBezTo>
                    <a:pt x="7012" y="1000"/>
                    <a:pt x="6985" y="1018"/>
                    <a:pt x="6967" y="1035"/>
                  </a:cubicBezTo>
                  <a:lnTo>
                    <a:pt x="6967" y="1035"/>
                  </a:lnTo>
                  <a:close/>
                  <a:moveTo>
                    <a:pt x="7449" y="3132"/>
                  </a:moveTo>
                  <a:lnTo>
                    <a:pt x="7092" y="1187"/>
                  </a:lnTo>
                  <a:cubicBezTo>
                    <a:pt x="7119" y="1169"/>
                    <a:pt x="7146" y="1134"/>
                    <a:pt x="7146" y="1098"/>
                  </a:cubicBezTo>
                  <a:lnTo>
                    <a:pt x="7146" y="1098"/>
                  </a:lnTo>
                  <a:cubicBezTo>
                    <a:pt x="7146" y="1062"/>
                    <a:pt x="7128" y="1035"/>
                    <a:pt x="7101" y="1018"/>
                  </a:cubicBezTo>
                  <a:lnTo>
                    <a:pt x="7101" y="1018"/>
                  </a:lnTo>
                  <a:cubicBezTo>
                    <a:pt x="7191" y="750"/>
                    <a:pt x="7298" y="411"/>
                    <a:pt x="7351" y="259"/>
                  </a:cubicBezTo>
                  <a:lnTo>
                    <a:pt x="7351" y="259"/>
                  </a:lnTo>
                  <a:cubicBezTo>
                    <a:pt x="7387" y="250"/>
                    <a:pt x="7414" y="232"/>
                    <a:pt x="7422" y="206"/>
                  </a:cubicBezTo>
                  <a:lnTo>
                    <a:pt x="7422" y="206"/>
                  </a:lnTo>
                  <a:lnTo>
                    <a:pt x="8680" y="518"/>
                  </a:lnTo>
                  <a:cubicBezTo>
                    <a:pt x="8689" y="563"/>
                    <a:pt x="8725" y="598"/>
                    <a:pt x="8770" y="607"/>
                  </a:cubicBezTo>
                  <a:lnTo>
                    <a:pt x="8770" y="607"/>
                  </a:lnTo>
                  <a:lnTo>
                    <a:pt x="8912" y="1535"/>
                  </a:lnTo>
                  <a:cubicBezTo>
                    <a:pt x="8886" y="1553"/>
                    <a:pt x="8868" y="1580"/>
                    <a:pt x="8868" y="1615"/>
                  </a:cubicBezTo>
                  <a:lnTo>
                    <a:pt x="8868" y="1615"/>
                  </a:lnTo>
                  <a:cubicBezTo>
                    <a:pt x="8868" y="1633"/>
                    <a:pt x="8868" y="1651"/>
                    <a:pt x="8877" y="1660"/>
                  </a:cubicBezTo>
                  <a:lnTo>
                    <a:pt x="8877" y="1660"/>
                  </a:lnTo>
                  <a:lnTo>
                    <a:pt x="7485" y="3141"/>
                  </a:lnTo>
                  <a:cubicBezTo>
                    <a:pt x="7476" y="3132"/>
                    <a:pt x="7467" y="3132"/>
                    <a:pt x="7449" y="3132"/>
                  </a:cubicBezTo>
                  <a:close/>
                  <a:moveTo>
                    <a:pt x="4693" y="259"/>
                  </a:moveTo>
                  <a:cubicBezTo>
                    <a:pt x="4702" y="250"/>
                    <a:pt x="4710" y="241"/>
                    <a:pt x="4710" y="232"/>
                  </a:cubicBezTo>
                  <a:lnTo>
                    <a:pt x="4710" y="232"/>
                  </a:lnTo>
                  <a:lnTo>
                    <a:pt x="6950" y="1098"/>
                  </a:lnTo>
                  <a:cubicBezTo>
                    <a:pt x="6950" y="1098"/>
                    <a:pt x="6950" y="1098"/>
                    <a:pt x="6950" y="1098"/>
                  </a:cubicBezTo>
                  <a:lnTo>
                    <a:pt x="6950" y="1098"/>
                  </a:lnTo>
                  <a:cubicBezTo>
                    <a:pt x="6950" y="1107"/>
                    <a:pt x="6950" y="1125"/>
                    <a:pt x="6950" y="1134"/>
                  </a:cubicBezTo>
                  <a:lnTo>
                    <a:pt x="6950" y="1134"/>
                  </a:lnTo>
                  <a:lnTo>
                    <a:pt x="5835" y="2070"/>
                  </a:lnTo>
                  <a:cubicBezTo>
                    <a:pt x="5826" y="2061"/>
                    <a:pt x="5808" y="2061"/>
                    <a:pt x="5790" y="2061"/>
                  </a:cubicBezTo>
                  <a:lnTo>
                    <a:pt x="5790" y="2061"/>
                  </a:lnTo>
                  <a:cubicBezTo>
                    <a:pt x="5781" y="2061"/>
                    <a:pt x="5772" y="2061"/>
                    <a:pt x="5772" y="2061"/>
                  </a:cubicBezTo>
                  <a:lnTo>
                    <a:pt x="5772" y="2061"/>
                  </a:lnTo>
                  <a:close/>
                  <a:moveTo>
                    <a:pt x="9055" y="1588"/>
                  </a:moveTo>
                  <a:cubicBezTo>
                    <a:pt x="9046" y="1553"/>
                    <a:pt x="9019" y="1526"/>
                    <a:pt x="8975" y="1517"/>
                  </a:cubicBezTo>
                  <a:lnTo>
                    <a:pt x="8975" y="1517"/>
                  </a:lnTo>
                  <a:lnTo>
                    <a:pt x="8832" y="598"/>
                  </a:lnTo>
                  <a:cubicBezTo>
                    <a:pt x="8832" y="589"/>
                    <a:pt x="8841" y="589"/>
                    <a:pt x="8841" y="589"/>
                  </a:cubicBezTo>
                  <a:lnTo>
                    <a:pt x="8841" y="589"/>
                  </a:lnTo>
                  <a:lnTo>
                    <a:pt x="10598" y="1713"/>
                  </a:lnTo>
                  <a:cubicBezTo>
                    <a:pt x="10411" y="1696"/>
                    <a:pt x="9992" y="1660"/>
                    <a:pt x="9055" y="1588"/>
                  </a:cubicBezTo>
                  <a:close/>
                  <a:moveTo>
                    <a:pt x="5888" y="2159"/>
                  </a:moveTo>
                  <a:cubicBezTo>
                    <a:pt x="5888" y="2142"/>
                    <a:pt x="5888" y="2133"/>
                    <a:pt x="5879" y="2115"/>
                  </a:cubicBezTo>
                  <a:lnTo>
                    <a:pt x="5879" y="2115"/>
                  </a:lnTo>
                  <a:lnTo>
                    <a:pt x="6994" y="1178"/>
                  </a:lnTo>
                  <a:cubicBezTo>
                    <a:pt x="7003" y="1187"/>
                    <a:pt x="7021" y="1196"/>
                    <a:pt x="7030" y="1196"/>
                  </a:cubicBezTo>
                  <a:lnTo>
                    <a:pt x="7030" y="1196"/>
                  </a:lnTo>
                  <a:lnTo>
                    <a:pt x="7396" y="3141"/>
                  </a:lnTo>
                  <a:cubicBezTo>
                    <a:pt x="7360" y="3159"/>
                    <a:pt x="7342" y="3194"/>
                    <a:pt x="7342" y="3230"/>
                  </a:cubicBezTo>
                  <a:lnTo>
                    <a:pt x="7342" y="3230"/>
                  </a:lnTo>
                  <a:cubicBezTo>
                    <a:pt x="7342" y="3230"/>
                    <a:pt x="7342" y="3239"/>
                    <a:pt x="7342" y="3239"/>
                  </a:cubicBezTo>
                  <a:lnTo>
                    <a:pt x="7342" y="3239"/>
                  </a:lnTo>
                  <a:lnTo>
                    <a:pt x="4764" y="4488"/>
                  </a:lnTo>
                  <a:cubicBezTo>
                    <a:pt x="4746" y="4479"/>
                    <a:pt x="4728" y="4470"/>
                    <a:pt x="4710" y="4470"/>
                  </a:cubicBezTo>
                  <a:lnTo>
                    <a:pt x="4710" y="4470"/>
                  </a:lnTo>
                  <a:cubicBezTo>
                    <a:pt x="4710" y="4470"/>
                    <a:pt x="4710" y="4470"/>
                    <a:pt x="4710" y="4470"/>
                  </a:cubicBezTo>
                  <a:lnTo>
                    <a:pt x="4710" y="4470"/>
                  </a:lnTo>
                  <a:lnTo>
                    <a:pt x="4728" y="4274"/>
                  </a:lnTo>
                  <a:cubicBezTo>
                    <a:pt x="4773" y="4265"/>
                    <a:pt x="4809" y="4220"/>
                    <a:pt x="4809" y="4176"/>
                  </a:cubicBezTo>
                  <a:lnTo>
                    <a:pt x="4809" y="4176"/>
                  </a:lnTo>
                  <a:cubicBezTo>
                    <a:pt x="4809" y="4149"/>
                    <a:pt x="4791" y="4122"/>
                    <a:pt x="4773" y="4104"/>
                  </a:cubicBezTo>
                  <a:lnTo>
                    <a:pt x="4773" y="4104"/>
                  </a:lnTo>
                  <a:lnTo>
                    <a:pt x="5772" y="2249"/>
                  </a:lnTo>
                  <a:cubicBezTo>
                    <a:pt x="5772" y="2258"/>
                    <a:pt x="5781" y="2258"/>
                    <a:pt x="5790" y="2258"/>
                  </a:cubicBezTo>
                  <a:lnTo>
                    <a:pt x="5790" y="2258"/>
                  </a:lnTo>
                  <a:cubicBezTo>
                    <a:pt x="5843" y="2258"/>
                    <a:pt x="5888" y="2213"/>
                    <a:pt x="5888" y="2159"/>
                  </a:cubicBezTo>
                  <a:close/>
                  <a:moveTo>
                    <a:pt x="2132" y="1392"/>
                  </a:moveTo>
                  <a:lnTo>
                    <a:pt x="4568" y="2035"/>
                  </a:lnTo>
                  <a:cubicBezTo>
                    <a:pt x="4568" y="2052"/>
                    <a:pt x="4568" y="2061"/>
                    <a:pt x="4577" y="2070"/>
                  </a:cubicBezTo>
                  <a:lnTo>
                    <a:pt x="4577" y="2070"/>
                  </a:lnTo>
                  <a:lnTo>
                    <a:pt x="3711" y="2909"/>
                  </a:lnTo>
                  <a:cubicBezTo>
                    <a:pt x="3702" y="2900"/>
                    <a:pt x="3693" y="2900"/>
                    <a:pt x="3676" y="2900"/>
                  </a:cubicBezTo>
                  <a:lnTo>
                    <a:pt x="3676" y="2900"/>
                  </a:lnTo>
                  <a:cubicBezTo>
                    <a:pt x="3667" y="2900"/>
                    <a:pt x="3649" y="2900"/>
                    <a:pt x="3640" y="2900"/>
                  </a:cubicBezTo>
                  <a:lnTo>
                    <a:pt x="3640" y="2900"/>
                  </a:lnTo>
                  <a:close/>
                  <a:moveTo>
                    <a:pt x="500" y="2998"/>
                  </a:moveTo>
                  <a:lnTo>
                    <a:pt x="500" y="2998"/>
                  </a:lnTo>
                  <a:lnTo>
                    <a:pt x="500" y="2998"/>
                  </a:lnTo>
                  <a:cubicBezTo>
                    <a:pt x="500" y="2980"/>
                    <a:pt x="500" y="2962"/>
                    <a:pt x="482" y="2944"/>
                  </a:cubicBezTo>
                  <a:lnTo>
                    <a:pt x="482" y="2944"/>
                  </a:lnTo>
                  <a:lnTo>
                    <a:pt x="1998" y="1410"/>
                  </a:lnTo>
                  <a:cubicBezTo>
                    <a:pt x="2007" y="1419"/>
                    <a:pt x="2025" y="1419"/>
                    <a:pt x="2034" y="1419"/>
                  </a:cubicBezTo>
                  <a:lnTo>
                    <a:pt x="2034" y="1419"/>
                  </a:lnTo>
                  <a:cubicBezTo>
                    <a:pt x="2043" y="1419"/>
                    <a:pt x="2052" y="1419"/>
                    <a:pt x="2061" y="1419"/>
                  </a:cubicBezTo>
                  <a:lnTo>
                    <a:pt x="2061" y="1419"/>
                  </a:lnTo>
                  <a:lnTo>
                    <a:pt x="3595" y="2944"/>
                  </a:lnTo>
                  <a:cubicBezTo>
                    <a:pt x="3586" y="2962"/>
                    <a:pt x="3577" y="2980"/>
                    <a:pt x="3577" y="2998"/>
                  </a:cubicBezTo>
                  <a:lnTo>
                    <a:pt x="3577" y="2998"/>
                  </a:lnTo>
                  <a:cubicBezTo>
                    <a:pt x="3577" y="3025"/>
                    <a:pt x="3586" y="3052"/>
                    <a:pt x="3613" y="3069"/>
                  </a:cubicBezTo>
                  <a:lnTo>
                    <a:pt x="3613" y="3069"/>
                  </a:lnTo>
                  <a:lnTo>
                    <a:pt x="3140" y="4193"/>
                  </a:lnTo>
                  <a:cubicBezTo>
                    <a:pt x="3131" y="4193"/>
                    <a:pt x="3123" y="4193"/>
                    <a:pt x="3114" y="4193"/>
                  </a:cubicBezTo>
                  <a:lnTo>
                    <a:pt x="3114" y="4193"/>
                  </a:lnTo>
                  <a:cubicBezTo>
                    <a:pt x="3105" y="4193"/>
                    <a:pt x="3087" y="4193"/>
                    <a:pt x="3078" y="4193"/>
                  </a:cubicBezTo>
                  <a:lnTo>
                    <a:pt x="3078" y="4193"/>
                  </a:lnTo>
                  <a:close/>
                  <a:moveTo>
                    <a:pt x="9055" y="1651"/>
                  </a:moveTo>
                  <a:cubicBezTo>
                    <a:pt x="9626" y="1696"/>
                    <a:pt x="10384" y="1749"/>
                    <a:pt x="10643" y="1785"/>
                  </a:cubicBezTo>
                  <a:lnTo>
                    <a:pt x="10643" y="1785"/>
                  </a:lnTo>
                  <a:lnTo>
                    <a:pt x="10643" y="1785"/>
                  </a:lnTo>
                  <a:lnTo>
                    <a:pt x="10643" y="1785"/>
                  </a:lnTo>
                  <a:cubicBezTo>
                    <a:pt x="10643" y="1811"/>
                    <a:pt x="10652" y="1838"/>
                    <a:pt x="10670" y="1856"/>
                  </a:cubicBezTo>
                  <a:lnTo>
                    <a:pt x="10670" y="1856"/>
                  </a:lnTo>
                  <a:lnTo>
                    <a:pt x="9751" y="3979"/>
                  </a:lnTo>
                  <a:cubicBezTo>
                    <a:pt x="9742" y="3979"/>
                    <a:pt x="9742" y="3979"/>
                    <a:pt x="9742" y="3979"/>
                  </a:cubicBezTo>
                  <a:lnTo>
                    <a:pt x="9742" y="3979"/>
                  </a:lnTo>
                  <a:cubicBezTo>
                    <a:pt x="9706" y="3979"/>
                    <a:pt x="9679" y="3988"/>
                    <a:pt x="9662" y="4015"/>
                  </a:cubicBezTo>
                  <a:lnTo>
                    <a:pt x="9662" y="4015"/>
                  </a:lnTo>
                  <a:lnTo>
                    <a:pt x="7538" y="3230"/>
                  </a:lnTo>
                  <a:cubicBezTo>
                    <a:pt x="7538" y="3230"/>
                    <a:pt x="7538" y="3230"/>
                    <a:pt x="7538" y="3230"/>
                  </a:cubicBezTo>
                  <a:lnTo>
                    <a:pt x="7538" y="3230"/>
                  </a:lnTo>
                  <a:cubicBezTo>
                    <a:pt x="7538" y="3212"/>
                    <a:pt x="7530" y="3194"/>
                    <a:pt x="7530" y="3185"/>
                  </a:cubicBezTo>
                  <a:lnTo>
                    <a:pt x="7530" y="3185"/>
                  </a:lnTo>
                  <a:lnTo>
                    <a:pt x="8921" y="1704"/>
                  </a:lnTo>
                  <a:cubicBezTo>
                    <a:pt x="8930" y="1713"/>
                    <a:pt x="8948" y="1713"/>
                    <a:pt x="8966" y="1713"/>
                  </a:cubicBezTo>
                  <a:lnTo>
                    <a:pt x="8966" y="1713"/>
                  </a:lnTo>
                  <a:cubicBezTo>
                    <a:pt x="9001" y="1713"/>
                    <a:pt x="9037" y="1687"/>
                    <a:pt x="9055" y="1651"/>
                  </a:cubicBezTo>
                  <a:moveTo>
                    <a:pt x="10759" y="1883"/>
                  </a:moveTo>
                  <a:cubicBezTo>
                    <a:pt x="10759" y="1883"/>
                    <a:pt x="10759" y="1883"/>
                    <a:pt x="10759" y="1883"/>
                  </a:cubicBezTo>
                  <a:lnTo>
                    <a:pt x="10759" y="1883"/>
                  </a:lnTo>
                  <a:cubicBezTo>
                    <a:pt x="10857" y="2133"/>
                    <a:pt x="11098" y="2811"/>
                    <a:pt x="11276" y="3328"/>
                  </a:cubicBezTo>
                  <a:lnTo>
                    <a:pt x="11276" y="3328"/>
                  </a:lnTo>
                  <a:cubicBezTo>
                    <a:pt x="11258" y="3337"/>
                    <a:pt x="11250" y="3364"/>
                    <a:pt x="11241" y="3382"/>
                  </a:cubicBezTo>
                  <a:lnTo>
                    <a:pt x="11241" y="3382"/>
                  </a:lnTo>
                  <a:cubicBezTo>
                    <a:pt x="10928" y="3453"/>
                    <a:pt x="10126" y="3845"/>
                    <a:pt x="9813" y="4006"/>
                  </a:cubicBezTo>
                  <a:lnTo>
                    <a:pt x="9813" y="4006"/>
                  </a:lnTo>
                  <a:cubicBezTo>
                    <a:pt x="9804" y="4006"/>
                    <a:pt x="9804" y="4006"/>
                    <a:pt x="9804" y="4006"/>
                  </a:cubicBezTo>
                  <a:lnTo>
                    <a:pt x="9804" y="4006"/>
                  </a:lnTo>
                  <a:lnTo>
                    <a:pt x="10732" y="1883"/>
                  </a:lnTo>
                  <a:cubicBezTo>
                    <a:pt x="10732" y="1883"/>
                    <a:pt x="10741" y="1883"/>
                    <a:pt x="10741" y="1883"/>
                  </a:cubicBezTo>
                  <a:lnTo>
                    <a:pt x="10741" y="1883"/>
                  </a:lnTo>
                  <a:cubicBezTo>
                    <a:pt x="10750" y="1883"/>
                    <a:pt x="10750" y="1883"/>
                    <a:pt x="10759" y="1883"/>
                  </a:cubicBezTo>
                  <a:close/>
                  <a:moveTo>
                    <a:pt x="4755" y="2070"/>
                  </a:moveTo>
                  <a:lnTo>
                    <a:pt x="5692" y="2177"/>
                  </a:lnTo>
                  <a:cubicBezTo>
                    <a:pt x="5692" y="2195"/>
                    <a:pt x="5701" y="2213"/>
                    <a:pt x="5719" y="2222"/>
                  </a:cubicBezTo>
                  <a:lnTo>
                    <a:pt x="5719" y="2222"/>
                  </a:lnTo>
                  <a:lnTo>
                    <a:pt x="4719" y="4077"/>
                  </a:lnTo>
                  <a:cubicBezTo>
                    <a:pt x="4719" y="4077"/>
                    <a:pt x="4710" y="4077"/>
                    <a:pt x="4710" y="4077"/>
                  </a:cubicBezTo>
                  <a:lnTo>
                    <a:pt x="4710" y="4077"/>
                  </a:lnTo>
                  <a:cubicBezTo>
                    <a:pt x="4693" y="4077"/>
                    <a:pt x="4684" y="4077"/>
                    <a:pt x="4666" y="4086"/>
                  </a:cubicBezTo>
                  <a:lnTo>
                    <a:pt x="4666" y="4086"/>
                  </a:lnTo>
                  <a:lnTo>
                    <a:pt x="3765" y="3043"/>
                  </a:lnTo>
                  <a:cubicBezTo>
                    <a:pt x="3774" y="3025"/>
                    <a:pt x="3774" y="3007"/>
                    <a:pt x="3774" y="2998"/>
                  </a:cubicBezTo>
                  <a:lnTo>
                    <a:pt x="3774" y="2998"/>
                  </a:lnTo>
                  <a:cubicBezTo>
                    <a:pt x="3774" y="2980"/>
                    <a:pt x="3774" y="2962"/>
                    <a:pt x="3765" y="2944"/>
                  </a:cubicBezTo>
                  <a:lnTo>
                    <a:pt x="3765" y="2944"/>
                  </a:lnTo>
                  <a:lnTo>
                    <a:pt x="4621" y="2115"/>
                  </a:lnTo>
                  <a:cubicBezTo>
                    <a:pt x="4630" y="2124"/>
                    <a:pt x="4648" y="2133"/>
                    <a:pt x="4666" y="2133"/>
                  </a:cubicBezTo>
                  <a:lnTo>
                    <a:pt x="4666" y="2133"/>
                  </a:lnTo>
                  <a:cubicBezTo>
                    <a:pt x="4702" y="2133"/>
                    <a:pt x="4737" y="2106"/>
                    <a:pt x="4755" y="2070"/>
                  </a:cubicBezTo>
                  <a:close/>
                  <a:moveTo>
                    <a:pt x="1017" y="4862"/>
                  </a:moveTo>
                  <a:lnTo>
                    <a:pt x="464" y="3069"/>
                  </a:lnTo>
                  <a:cubicBezTo>
                    <a:pt x="473" y="3069"/>
                    <a:pt x="473" y="3060"/>
                    <a:pt x="482" y="3052"/>
                  </a:cubicBezTo>
                  <a:lnTo>
                    <a:pt x="482" y="3052"/>
                  </a:lnTo>
                  <a:lnTo>
                    <a:pt x="3024" y="4238"/>
                  </a:lnTo>
                  <a:cubicBezTo>
                    <a:pt x="3024" y="4247"/>
                    <a:pt x="3015" y="4265"/>
                    <a:pt x="3015" y="4274"/>
                  </a:cubicBezTo>
                  <a:lnTo>
                    <a:pt x="3015" y="4274"/>
                  </a:lnTo>
                  <a:lnTo>
                    <a:pt x="1089" y="4898"/>
                  </a:lnTo>
                  <a:cubicBezTo>
                    <a:pt x="1071" y="4871"/>
                    <a:pt x="1044" y="4862"/>
                    <a:pt x="1017" y="4862"/>
                  </a:cubicBezTo>
                  <a:close/>
                  <a:moveTo>
                    <a:pt x="3720" y="3087"/>
                  </a:moveTo>
                  <a:lnTo>
                    <a:pt x="4621" y="4131"/>
                  </a:lnTo>
                  <a:cubicBezTo>
                    <a:pt x="4612" y="4140"/>
                    <a:pt x="4612" y="4158"/>
                    <a:pt x="4612" y="4176"/>
                  </a:cubicBezTo>
                  <a:lnTo>
                    <a:pt x="4612" y="4176"/>
                  </a:lnTo>
                  <a:cubicBezTo>
                    <a:pt x="4612" y="4211"/>
                    <a:pt x="4630" y="4247"/>
                    <a:pt x="4666" y="4265"/>
                  </a:cubicBezTo>
                  <a:lnTo>
                    <a:pt x="4666" y="4265"/>
                  </a:lnTo>
                  <a:lnTo>
                    <a:pt x="4639" y="4497"/>
                  </a:lnTo>
                  <a:cubicBezTo>
                    <a:pt x="4621" y="4515"/>
                    <a:pt x="4612" y="4541"/>
                    <a:pt x="4612" y="4568"/>
                  </a:cubicBezTo>
                  <a:lnTo>
                    <a:pt x="4612" y="4568"/>
                  </a:lnTo>
                  <a:cubicBezTo>
                    <a:pt x="4612" y="4568"/>
                    <a:pt x="4612" y="4568"/>
                    <a:pt x="4612" y="4568"/>
                  </a:cubicBezTo>
                  <a:lnTo>
                    <a:pt x="4612" y="4568"/>
                  </a:lnTo>
                  <a:lnTo>
                    <a:pt x="2418" y="6156"/>
                  </a:lnTo>
                  <a:lnTo>
                    <a:pt x="3131" y="4390"/>
                  </a:lnTo>
                  <a:cubicBezTo>
                    <a:pt x="3176" y="4381"/>
                    <a:pt x="3212" y="4336"/>
                    <a:pt x="3212" y="4292"/>
                  </a:cubicBezTo>
                  <a:lnTo>
                    <a:pt x="3212" y="4292"/>
                  </a:lnTo>
                  <a:cubicBezTo>
                    <a:pt x="3212" y="4265"/>
                    <a:pt x="3203" y="4247"/>
                    <a:pt x="3194" y="4229"/>
                  </a:cubicBezTo>
                  <a:lnTo>
                    <a:pt x="3194" y="4229"/>
                  </a:lnTo>
                  <a:lnTo>
                    <a:pt x="3667" y="3096"/>
                  </a:lnTo>
                  <a:cubicBezTo>
                    <a:pt x="3667" y="3096"/>
                    <a:pt x="3676" y="3096"/>
                    <a:pt x="3676" y="3096"/>
                  </a:cubicBezTo>
                  <a:lnTo>
                    <a:pt x="3676" y="3096"/>
                  </a:lnTo>
                  <a:cubicBezTo>
                    <a:pt x="3693" y="3096"/>
                    <a:pt x="3711" y="3087"/>
                    <a:pt x="3720" y="3087"/>
                  </a:cubicBezTo>
                  <a:moveTo>
                    <a:pt x="187" y="4889"/>
                  </a:moveTo>
                  <a:cubicBezTo>
                    <a:pt x="179" y="4862"/>
                    <a:pt x="152" y="4836"/>
                    <a:pt x="125" y="4827"/>
                  </a:cubicBezTo>
                  <a:lnTo>
                    <a:pt x="125" y="4827"/>
                  </a:lnTo>
                  <a:lnTo>
                    <a:pt x="411" y="3123"/>
                  </a:lnTo>
                  <a:lnTo>
                    <a:pt x="955" y="4880"/>
                  </a:lnTo>
                  <a:cubicBezTo>
                    <a:pt x="946" y="4889"/>
                    <a:pt x="928" y="4907"/>
                    <a:pt x="919" y="4916"/>
                  </a:cubicBezTo>
                  <a:lnTo>
                    <a:pt x="919" y="4916"/>
                  </a:lnTo>
                  <a:close/>
                  <a:moveTo>
                    <a:pt x="7512" y="3292"/>
                  </a:moveTo>
                  <a:lnTo>
                    <a:pt x="9608" y="4060"/>
                  </a:lnTo>
                  <a:lnTo>
                    <a:pt x="7654" y="4345"/>
                  </a:lnTo>
                  <a:cubicBezTo>
                    <a:pt x="7637" y="4318"/>
                    <a:pt x="7610" y="4300"/>
                    <a:pt x="7574" y="4300"/>
                  </a:cubicBezTo>
                  <a:lnTo>
                    <a:pt x="7574" y="4300"/>
                  </a:lnTo>
                  <a:cubicBezTo>
                    <a:pt x="7530" y="4300"/>
                    <a:pt x="7494" y="4327"/>
                    <a:pt x="7476" y="4363"/>
                  </a:cubicBezTo>
                  <a:lnTo>
                    <a:pt x="7476" y="4363"/>
                  </a:lnTo>
                  <a:lnTo>
                    <a:pt x="4826" y="4532"/>
                  </a:lnTo>
                  <a:lnTo>
                    <a:pt x="7369" y="3292"/>
                  </a:lnTo>
                  <a:cubicBezTo>
                    <a:pt x="7387" y="3310"/>
                    <a:pt x="7414" y="3328"/>
                    <a:pt x="7440" y="3328"/>
                  </a:cubicBezTo>
                  <a:lnTo>
                    <a:pt x="7440" y="3328"/>
                  </a:lnTo>
                  <a:cubicBezTo>
                    <a:pt x="7467" y="3328"/>
                    <a:pt x="7494" y="3310"/>
                    <a:pt x="7512" y="3292"/>
                  </a:cubicBezTo>
                  <a:close/>
                  <a:moveTo>
                    <a:pt x="9822" y="4131"/>
                  </a:moveTo>
                  <a:cubicBezTo>
                    <a:pt x="9831" y="4122"/>
                    <a:pt x="9840" y="4095"/>
                    <a:pt x="9840" y="4077"/>
                  </a:cubicBezTo>
                  <a:lnTo>
                    <a:pt x="9840" y="4077"/>
                  </a:lnTo>
                  <a:cubicBezTo>
                    <a:pt x="9840" y="4069"/>
                    <a:pt x="9840" y="4069"/>
                    <a:pt x="9840" y="4060"/>
                  </a:cubicBezTo>
                  <a:lnTo>
                    <a:pt x="9840" y="4060"/>
                  </a:lnTo>
                  <a:cubicBezTo>
                    <a:pt x="10420" y="3774"/>
                    <a:pt x="11027" y="3498"/>
                    <a:pt x="11250" y="3444"/>
                  </a:cubicBezTo>
                  <a:lnTo>
                    <a:pt x="11250" y="3444"/>
                  </a:lnTo>
                  <a:cubicBezTo>
                    <a:pt x="11250" y="3453"/>
                    <a:pt x="11258" y="3462"/>
                    <a:pt x="11267" y="3471"/>
                  </a:cubicBezTo>
                  <a:lnTo>
                    <a:pt x="11267" y="3471"/>
                  </a:lnTo>
                  <a:lnTo>
                    <a:pt x="10500" y="5032"/>
                  </a:lnTo>
                  <a:cubicBezTo>
                    <a:pt x="10491" y="5032"/>
                    <a:pt x="10491" y="5032"/>
                    <a:pt x="10482" y="5032"/>
                  </a:cubicBezTo>
                  <a:lnTo>
                    <a:pt x="10482" y="5032"/>
                  </a:lnTo>
                  <a:cubicBezTo>
                    <a:pt x="10473" y="5032"/>
                    <a:pt x="10465" y="5032"/>
                    <a:pt x="10456" y="5032"/>
                  </a:cubicBezTo>
                  <a:lnTo>
                    <a:pt x="10456" y="5032"/>
                  </a:lnTo>
                  <a:close/>
                  <a:moveTo>
                    <a:pt x="7672" y="4408"/>
                  </a:moveTo>
                  <a:lnTo>
                    <a:pt x="9260" y="4176"/>
                  </a:lnTo>
                  <a:lnTo>
                    <a:pt x="9564" y="4131"/>
                  </a:lnTo>
                  <a:lnTo>
                    <a:pt x="6843" y="5567"/>
                  </a:lnTo>
                  <a:lnTo>
                    <a:pt x="7530" y="4488"/>
                  </a:lnTo>
                  <a:cubicBezTo>
                    <a:pt x="7547" y="4488"/>
                    <a:pt x="7556" y="4497"/>
                    <a:pt x="7574" y="4497"/>
                  </a:cubicBezTo>
                  <a:lnTo>
                    <a:pt x="7574" y="4497"/>
                  </a:lnTo>
                  <a:cubicBezTo>
                    <a:pt x="7619" y="4497"/>
                    <a:pt x="7663" y="4452"/>
                    <a:pt x="7672" y="4408"/>
                  </a:cubicBezTo>
                  <a:moveTo>
                    <a:pt x="6860" y="5674"/>
                  </a:moveTo>
                  <a:cubicBezTo>
                    <a:pt x="6860" y="5674"/>
                    <a:pt x="6860" y="5665"/>
                    <a:pt x="6860" y="5656"/>
                  </a:cubicBezTo>
                  <a:lnTo>
                    <a:pt x="6860" y="5656"/>
                  </a:lnTo>
                  <a:cubicBezTo>
                    <a:pt x="6860" y="5648"/>
                    <a:pt x="6860" y="5639"/>
                    <a:pt x="6860" y="5630"/>
                  </a:cubicBezTo>
                  <a:lnTo>
                    <a:pt x="6860" y="5630"/>
                  </a:lnTo>
                  <a:lnTo>
                    <a:pt x="9671" y="4149"/>
                  </a:lnTo>
                  <a:cubicBezTo>
                    <a:pt x="9671" y="4149"/>
                    <a:pt x="9679" y="4149"/>
                    <a:pt x="9679" y="4149"/>
                  </a:cubicBezTo>
                  <a:lnTo>
                    <a:pt x="9679" y="4149"/>
                  </a:lnTo>
                  <a:lnTo>
                    <a:pt x="8689" y="6682"/>
                  </a:lnTo>
                  <a:cubicBezTo>
                    <a:pt x="8689" y="6682"/>
                    <a:pt x="8689" y="6682"/>
                    <a:pt x="8689" y="6682"/>
                  </a:cubicBezTo>
                  <a:lnTo>
                    <a:pt x="8689" y="6682"/>
                  </a:lnTo>
                  <a:cubicBezTo>
                    <a:pt x="8662" y="6682"/>
                    <a:pt x="8645" y="6691"/>
                    <a:pt x="8627" y="6700"/>
                  </a:cubicBezTo>
                  <a:lnTo>
                    <a:pt x="8627" y="6700"/>
                  </a:lnTo>
                  <a:close/>
                  <a:moveTo>
                    <a:pt x="9769" y="4167"/>
                  </a:moveTo>
                  <a:lnTo>
                    <a:pt x="10402" y="5068"/>
                  </a:lnTo>
                  <a:cubicBezTo>
                    <a:pt x="10393" y="5086"/>
                    <a:pt x="10384" y="5103"/>
                    <a:pt x="10384" y="5130"/>
                  </a:cubicBezTo>
                  <a:lnTo>
                    <a:pt x="10384" y="5130"/>
                  </a:lnTo>
                  <a:cubicBezTo>
                    <a:pt x="10384" y="5139"/>
                    <a:pt x="10384" y="5157"/>
                    <a:pt x="10393" y="5166"/>
                  </a:cubicBezTo>
                  <a:lnTo>
                    <a:pt x="10393" y="5166"/>
                  </a:lnTo>
                  <a:lnTo>
                    <a:pt x="8770" y="6665"/>
                  </a:lnTo>
                  <a:lnTo>
                    <a:pt x="9733" y="4176"/>
                  </a:lnTo>
                  <a:cubicBezTo>
                    <a:pt x="9733" y="4176"/>
                    <a:pt x="9742" y="4176"/>
                    <a:pt x="9742" y="4176"/>
                  </a:cubicBezTo>
                  <a:lnTo>
                    <a:pt x="9742" y="4176"/>
                  </a:lnTo>
                  <a:cubicBezTo>
                    <a:pt x="9751" y="4176"/>
                    <a:pt x="9760" y="4176"/>
                    <a:pt x="9769" y="4167"/>
                  </a:cubicBezTo>
                  <a:moveTo>
                    <a:pt x="812" y="6343"/>
                  </a:moveTo>
                  <a:cubicBezTo>
                    <a:pt x="821" y="6334"/>
                    <a:pt x="821" y="6317"/>
                    <a:pt x="821" y="6308"/>
                  </a:cubicBezTo>
                  <a:lnTo>
                    <a:pt x="821" y="6308"/>
                  </a:lnTo>
                  <a:cubicBezTo>
                    <a:pt x="821" y="6272"/>
                    <a:pt x="812" y="6254"/>
                    <a:pt x="794" y="6236"/>
                  </a:cubicBezTo>
                  <a:lnTo>
                    <a:pt x="794" y="6236"/>
                  </a:lnTo>
                  <a:lnTo>
                    <a:pt x="1026" y="5059"/>
                  </a:lnTo>
                  <a:cubicBezTo>
                    <a:pt x="1071" y="5050"/>
                    <a:pt x="1115" y="5014"/>
                    <a:pt x="1115" y="4961"/>
                  </a:cubicBezTo>
                  <a:lnTo>
                    <a:pt x="1115" y="4961"/>
                  </a:lnTo>
                  <a:cubicBezTo>
                    <a:pt x="1115" y="4961"/>
                    <a:pt x="1115" y="4961"/>
                    <a:pt x="1115" y="4952"/>
                  </a:cubicBezTo>
                  <a:lnTo>
                    <a:pt x="1115" y="4952"/>
                  </a:lnTo>
                  <a:lnTo>
                    <a:pt x="3024" y="4336"/>
                  </a:lnTo>
                  <a:cubicBezTo>
                    <a:pt x="3033" y="4354"/>
                    <a:pt x="3051" y="4363"/>
                    <a:pt x="3069" y="4372"/>
                  </a:cubicBezTo>
                  <a:lnTo>
                    <a:pt x="3069" y="4372"/>
                  </a:lnTo>
                  <a:lnTo>
                    <a:pt x="2355" y="6138"/>
                  </a:lnTo>
                  <a:cubicBezTo>
                    <a:pt x="2346" y="6138"/>
                    <a:pt x="2346" y="6138"/>
                    <a:pt x="2346" y="6138"/>
                  </a:cubicBezTo>
                  <a:lnTo>
                    <a:pt x="2346" y="6138"/>
                  </a:lnTo>
                  <a:cubicBezTo>
                    <a:pt x="2293" y="6138"/>
                    <a:pt x="2248" y="6183"/>
                    <a:pt x="2248" y="6236"/>
                  </a:cubicBezTo>
                  <a:lnTo>
                    <a:pt x="2248" y="6236"/>
                  </a:lnTo>
                  <a:cubicBezTo>
                    <a:pt x="2248" y="6281"/>
                    <a:pt x="2275" y="6326"/>
                    <a:pt x="2320" y="6334"/>
                  </a:cubicBezTo>
                  <a:lnTo>
                    <a:pt x="2320" y="6334"/>
                  </a:lnTo>
                  <a:lnTo>
                    <a:pt x="2453" y="7423"/>
                  </a:lnTo>
                  <a:cubicBezTo>
                    <a:pt x="2453" y="7423"/>
                    <a:pt x="2453" y="7423"/>
                    <a:pt x="2453" y="7423"/>
                  </a:cubicBezTo>
                  <a:lnTo>
                    <a:pt x="2453" y="7423"/>
                  </a:lnTo>
                  <a:cubicBezTo>
                    <a:pt x="2195" y="7209"/>
                    <a:pt x="1374" y="6691"/>
                    <a:pt x="812" y="6343"/>
                  </a:cubicBezTo>
                  <a:moveTo>
                    <a:pt x="4800" y="4604"/>
                  </a:moveTo>
                  <a:cubicBezTo>
                    <a:pt x="4800" y="4604"/>
                    <a:pt x="4800" y="4595"/>
                    <a:pt x="4800" y="4595"/>
                  </a:cubicBezTo>
                  <a:lnTo>
                    <a:pt x="4800" y="4595"/>
                  </a:lnTo>
                  <a:lnTo>
                    <a:pt x="7476" y="4425"/>
                  </a:lnTo>
                  <a:cubicBezTo>
                    <a:pt x="7476" y="4434"/>
                    <a:pt x="7485" y="4443"/>
                    <a:pt x="7485" y="4443"/>
                  </a:cubicBezTo>
                  <a:lnTo>
                    <a:pt x="7485" y="4443"/>
                  </a:lnTo>
                  <a:lnTo>
                    <a:pt x="6771" y="5558"/>
                  </a:lnTo>
                  <a:cubicBezTo>
                    <a:pt x="6771" y="5558"/>
                    <a:pt x="6762" y="5558"/>
                    <a:pt x="6762" y="5558"/>
                  </a:cubicBezTo>
                  <a:lnTo>
                    <a:pt x="6762" y="5558"/>
                  </a:lnTo>
                  <a:cubicBezTo>
                    <a:pt x="6736" y="5558"/>
                    <a:pt x="6709" y="5567"/>
                    <a:pt x="6691" y="5585"/>
                  </a:cubicBezTo>
                  <a:lnTo>
                    <a:pt x="6691" y="5585"/>
                  </a:lnTo>
                  <a:close/>
                  <a:moveTo>
                    <a:pt x="2445" y="6236"/>
                  </a:moveTo>
                  <a:cubicBezTo>
                    <a:pt x="2445" y="6236"/>
                    <a:pt x="2445" y="6236"/>
                    <a:pt x="2445" y="6236"/>
                  </a:cubicBezTo>
                  <a:lnTo>
                    <a:pt x="2445" y="6236"/>
                  </a:lnTo>
                  <a:cubicBezTo>
                    <a:pt x="2445" y="6227"/>
                    <a:pt x="2445" y="6227"/>
                    <a:pt x="2445" y="6218"/>
                  </a:cubicBezTo>
                  <a:lnTo>
                    <a:pt x="2445" y="6218"/>
                  </a:lnTo>
                  <a:lnTo>
                    <a:pt x="4630" y="4631"/>
                  </a:lnTo>
                  <a:cubicBezTo>
                    <a:pt x="4648" y="4648"/>
                    <a:pt x="4666" y="4657"/>
                    <a:pt x="4693" y="4666"/>
                  </a:cubicBezTo>
                  <a:lnTo>
                    <a:pt x="4693" y="4666"/>
                  </a:lnTo>
                  <a:lnTo>
                    <a:pt x="6343" y="7048"/>
                  </a:lnTo>
                  <a:cubicBezTo>
                    <a:pt x="6343" y="7048"/>
                    <a:pt x="6343" y="7057"/>
                    <a:pt x="6334" y="7057"/>
                  </a:cubicBezTo>
                  <a:lnTo>
                    <a:pt x="6334" y="7057"/>
                  </a:lnTo>
                  <a:close/>
                  <a:moveTo>
                    <a:pt x="4764" y="4657"/>
                  </a:moveTo>
                  <a:lnTo>
                    <a:pt x="6664" y="5639"/>
                  </a:lnTo>
                  <a:cubicBezTo>
                    <a:pt x="6664" y="5648"/>
                    <a:pt x="6664" y="5656"/>
                    <a:pt x="6664" y="5656"/>
                  </a:cubicBezTo>
                  <a:lnTo>
                    <a:pt x="6664" y="5656"/>
                  </a:lnTo>
                  <a:cubicBezTo>
                    <a:pt x="6664" y="5692"/>
                    <a:pt x="6682" y="5719"/>
                    <a:pt x="6700" y="5737"/>
                  </a:cubicBezTo>
                  <a:lnTo>
                    <a:pt x="6700" y="5737"/>
                  </a:lnTo>
                  <a:lnTo>
                    <a:pt x="6397" y="7012"/>
                  </a:lnTo>
                  <a:cubicBezTo>
                    <a:pt x="6397" y="7012"/>
                    <a:pt x="6397" y="7012"/>
                    <a:pt x="6397" y="7012"/>
                  </a:cubicBezTo>
                  <a:lnTo>
                    <a:pt x="6397" y="7012"/>
                  </a:lnTo>
                  <a:close/>
                  <a:moveTo>
                    <a:pt x="152" y="5005"/>
                  </a:moveTo>
                  <a:cubicBezTo>
                    <a:pt x="170" y="4987"/>
                    <a:pt x="179" y="4970"/>
                    <a:pt x="187" y="4952"/>
                  </a:cubicBezTo>
                  <a:lnTo>
                    <a:pt x="187" y="4952"/>
                  </a:lnTo>
                  <a:lnTo>
                    <a:pt x="919" y="4978"/>
                  </a:lnTo>
                  <a:cubicBezTo>
                    <a:pt x="919" y="5005"/>
                    <a:pt x="937" y="5032"/>
                    <a:pt x="964" y="5041"/>
                  </a:cubicBezTo>
                  <a:lnTo>
                    <a:pt x="964" y="5041"/>
                  </a:lnTo>
                  <a:lnTo>
                    <a:pt x="732" y="6210"/>
                  </a:lnTo>
                  <a:cubicBezTo>
                    <a:pt x="732" y="6210"/>
                    <a:pt x="723" y="6201"/>
                    <a:pt x="723" y="6201"/>
                  </a:cubicBezTo>
                  <a:lnTo>
                    <a:pt x="723" y="6201"/>
                  </a:lnTo>
                  <a:cubicBezTo>
                    <a:pt x="723" y="6201"/>
                    <a:pt x="714" y="6201"/>
                    <a:pt x="714" y="6210"/>
                  </a:cubicBezTo>
                  <a:lnTo>
                    <a:pt x="714" y="6210"/>
                  </a:lnTo>
                  <a:close/>
                  <a:moveTo>
                    <a:pt x="6825" y="5728"/>
                  </a:moveTo>
                  <a:lnTo>
                    <a:pt x="8591" y="6763"/>
                  </a:lnTo>
                  <a:cubicBezTo>
                    <a:pt x="8591" y="6763"/>
                    <a:pt x="8591" y="6772"/>
                    <a:pt x="8591" y="6780"/>
                  </a:cubicBezTo>
                  <a:lnTo>
                    <a:pt x="8591" y="6780"/>
                  </a:lnTo>
                  <a:cubicBezTo>
                    <a:pt x="8591" y="6789"/>
                    <a:pt x="8591" y="6798"/>
                    <a:pt x="8591" y="6807"/>
                  </a:cubicBezTo>
                  <a:lnTo>
                    <a:pt x="8591" y="6807"/>
                  </a:lnTo>
                  <a:lnTo>
                    <a:pt x="6075" y="8707"/>
                  </a:lnTo>
                  <a:cubicBezTo>
                    <a:pt x="6075" y="8707"/>
                    <a:pt x="6066" y="8707"/>
                    <a:pt x="6066" y="8707"/>
                  </a:cubicBezTo>
                  <a:lnTo>
                    <a:pt x="6066" y="8707"/>
                  </a:lnTo>
                  <a:lnTo>
                    <a:pt x="6423" y="7209"/>
                  </a:lnTo>
                  <a:cubicBezTo>
                    <a:pt x="6423" y="7209"/>
                    <a:pt x="6423" y="7209"/>
                    <a:pt x="6423" y="7209"/>
                  </a:cubicBezTo>
                  <a:lnTo>
                    <a:pt x="6423" y="7209"/>
                  </a:lnTo>
                  <a:cubicBezTo>
                    <a:pt x="6477" y="7209"/>
                    <a:pt x="6521" y="7164"/>
                    <a:pt x="6521" y="7111"/>
                  </a:cubicBezTo>
                  <a:lnTo>
                    <a:pt x="6521" y="7111"/>
                  </a:lnTo>
                  <a:cubicBezTo>
                    <a:pt x="6521" y="7075"/>
                    <a:pt x="6504" y="7039"/>
                    <a:pt x="6477" y="7021"/>
                  </a:cubicBezTo>
                  <a:lnTo>
                    <a:pt x="6477" y="7021"/>
                  </a:lnTo>
                  <a:lnTo>
                    <a:pt x="6762" y="5755"/>
                  </a:lnTo>
                  <a:cubicBezTo>
                    <a:pt x="6762" y="5755"/>
                    <a:pt x="6762" y="5755"/>
                    <a:pt x="6762" y="5755"/>
                  </a:cubicBezTo>
                  <a:lnTo>
                    <a:pt x="6762" y="5755"/>
                  </a:lnTo>
                  <a:cubicBezTo>
                    <a:pt x="6789" y="5755"/>
                    <a:pt x="6807" y="5746"/>
                    <a:pt x="6825" y="5728"/>
                  </a:cubicBezTo>
                  <a:moveTo>
                    <a:pt x="2596" y="7512"/>
                  </a:moveTo>
                  <a:cubicBezTo>
                    <a:pt x="2596" y="7512"/>
                    <a:pt x="2596" y="7512"/>
                    <a:pt x="2596" y="7512"/>
                  </a:cubicBezTo>
                  <a:lnTo>
                    <a:pt x="2596" y="7512"/>
                  </a:lnTo>
                  <a:cubicBezTo>
                    <a:pt x="2596" y="7458"/>
                    <a:pt x="2560" y="7423"/>
                    <a:pt x="2516" y="7414"/>
                  </a:cubicBezTo>
                  <a:lnTo>
                    <a:pt x="2516" y="7414"/>
                  </a:lnTo>
                  <a:lnTo>
                    <a:pt x="2382" y="6326"/>
                  </a:lnTo>
                  <a:cubicBezTo>
                    <a:pt x="2400" y="6317"/>
                    <a:pt x="2409" y="6308"/>
                    <a:pt x="2418" y="6299"/>
                  </a:cubicBezTo>
                  <a:lnTo>
                    <a:pt x="2418" y="6299"/>
                  </a:lnTo>
                  <a:lnTo>
                    <a:pt x="6316" y="7119"/>
                  </a:lnTo>
                  <a:lnTo>
                    <a:pt x="4113" y="8003"/>
                  </a:lnTo>
                  <a:cubicBezTo>
                    <a:pt x="4095" y="7976"/>
                    <a:pt x="4068" y="7967"/>
                    <a:pt x="4032" y="7967"/>
                  </a:cubicBezTo>
                  <a:lnTo>
                    <a:pt x="4032" y="7967"/>
                  </a:lnTo>
                  <a:cubicBezTo>
                    <a:pt x="4006" y="7967"/>
                    <a:pt x="3979" y="7976"/>
                    <a:pt x="3961" y="8003"/>
                  </a:cubicBezTo>
                  <a:lnTo>
                    <a:pt x="3961" y="8003"/>
                  </a:lnTo>
                  <a:close/>
                  <a:moveTo>
                    <a:pt x="4131" y="8074"/>
                  </a:moveTo>
                  <a:cubicBezTo>
                    <a:pt x="4131" y="8065"/>
                    <a:pt x="4131" y="8065"/>
                    <a:pt x="4131" y="8065"/>
                  </a:cubicBezTo>
                  <a:lnTo>
                    <a:pt x="4131" y="8065"/>
                  </a:lnTo>
                  <a:cubicBezTo>
                    <a:pt x="4131" y="8065"/>
                    <a:pt x="4131" y="8056"/>
                    <a:pt x="4131" y="8056"/>
                  </a:cubicBezTo>
                  <a:lnTo>
                    <a:pt x="4131" y="8056"/>
                  </a:lnTo>
                  <a:lnTo>
                    <a:pt x="6343" y="7173"/>
                  </a:lnTo>
                  <a:cubicBezTo>
                    <a:pt x="6352" y="7173"/>
                    <a:pt x="6352" y="7182"/>
                    <a:pt x="6361" y="7182"/>
                  </a:cubicBezTo>
                  <a:lnTo>
                    <a:pt x="6361" y="7182"/>
                  </a:lnTo>
                  <a:lnTo>
                    <a:pt x="6004" y="8690"/>
                  </a:lnTo>
                  <a:cubicBezTo>
                    <a:pt x="5977" y="8699"/>
                    <a:pt x="5959" y="8707"/>
                    <a:pt x="5942" y="8725"/>
                  </a:cubicBezTo>
                  <a:lnTo>
                    <a:pt x="5942" y="8725"/>
                  </a:lnTo>
                  <a:close/>
                </a:path>
              </a:pathLst>
            </a:custGeom>
            <a:gradFill>
              <a:gsLst>
                <a:gs pos="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TextBox 13">
            <a:extLst>
              <a:ext uri="{FF2B5EF4-FFF2-40B4-BE49-F238E27FC236}">
                <a16:creationId xmlns:a16="http://schemas.microsoft.com/office/drawing/2014/main" id="{A8824F37-B559-4A7E-8511-E22A3D672E2F}"/>
              </a:ext>
            </a:extLst>
          </p:cNvPr>
          <p:cNvSpPr txBox="1"/>
          <p:nvPr/>
        </p:nvSpPr>
        <p:spPr>
          <a:xfrm>
            <a:off x="1248937" y="475785"/>
            <a:ext cx="5162993" cy="3046988"/>
          </a:xfrm>
          <a:prstGeom prst="rect">
            <a:avLst/>
          </a:prstGeom>
          <a:noFill/>
        </p:spPr>
        <p:txBody>
          <a:bodyPr wrap="square" rtlCol="0">
            <a:spAutoFit/>
          </a:bodyPr>
          <a:lstStyle/>
          <a:p>
            <a:r>
              <a:rPr lang="en-IN" sz="9600" dirty="0">
                <a:solidFill>
                  <a:schemeClr val="tx1"/>
                </a:solidFill>
                <a:latin typeface="Times New Roman" panose="02020603050405020304" pitchFamily="18" charset="0"/>
                <a:cs typeface="Times New Roman" panose="02020603050405020304" pitchFamily="18" charset="0"/>
              </a:rPr>
              <a:t>THANKYOU!</a:t>
            </a:r>
          </a:p>
        </p:txBody>
      </p:sp>
    </p:spTree>
    <p:extLst>
      <p:ext uri="{BB962C8B-B14F-4D97-AF65-F5344CB8AC3E}">
        <p14:creationId xmlns:p14="http://schemas.microsoft.com/office/powerpoint/2010/main" val="1887039318"/>
      </p:ext>
    </p:extLst>
  </p:cSld>
  <p:clrMapOvr>
    <a:masterClrMapping/>
  </p:clrMapOvr>
</p:sld>
</file>

<file path=ppt/theme/theme1.xml><?xml version="1.0" encoding="utf-8"?>
<a:theme xmlns:a="http://schemas.openxmlformats.org/drawingml/2006/main" name="AI App Pitch Deck by Slidesgo">
  <a:themeElements>
    <a:clrScheme name="Simple Light">
      <a:dk1>
        <a:srgbClr val="FFFFFF"/>
      </a:dk1>
      <a:lt1>
        <a:srgbClr val="0B0218"/>
      </a:lt1>
      <a:dk2>
        <a:srgbClr val="CEABFF"/>
      </a:dk2>
      <a:lt2>
        <a:srgbClr val="8134EC"/>
      </a:lt2>
      <a:accent1>
        <a:srgbClr val="240155"/>
      </a:accent1>
      <a:accent2>
        <a:srgbClr val="9101BE"/>
      </a:accent2>
      <a:accent3>
        <a:srgbClr val="4654F0"/>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15329</TotalTime>
  <Words>1374</Words>
  <Application>Microsoft Office PowerPoint</Application>
  <PresentationFormat>On-screen Show (16:9)</PresentationFormat>
  <Paragraphs>119</Paragraphs>
  <Slides>32</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Wingdings</vt:lpstr>
      <vt:lpstr>Trispace</vt:lpstr>
      <vt:lpstr>Maven Pro</vt:lpstr>
      <vt:lpstr>Times New Roman</vt:lpstr>
      <vt:lpstr>Arial</vt:lpstr>
      <vt:lpstr>AI App Pitch Deck by Slidesgo</vt:lpstr>
      <vt:lpstr>              MACHINE LEARNING IN MONEY LAUNDERING DETECTION  USING CRYPTOCURRENCY DATA</vt:lpstr>
      <vt:lpstr>                                           CONTENTS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DEEPFAKE TECHNOLOGY AND CONTENT CREATION</dc:title>
  <dc:creator>sai keerthana</dc:creator>
  <cp:lastModifiedBy>DELL</cp:lastModifiedBy>
  <cp:revision>190</cp:revision>
  <dcterms:modified xsi:type="dcterms:W3CDTF">2026-04-03T04:56:52Z</dcterms:modified>
</cp:coreProperties>
</file>